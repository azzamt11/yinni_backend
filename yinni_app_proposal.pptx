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256" r:id="rId2"/>
    <p:sldId id="257" r:id="rId3"/>
    <p:sldId id="259" r:id="rId4"/>
    <p:sldId id="271" r:id="rId5"/>
    <p:sldId id="273" r:id="rId6"/>
    <p:sldId id="275" r:id="rId7"/>
    <p:sldId id="276" r:id="rId8"/>
    <p:sldId id="277" r:id="rId9"/>
    <p:sldId id="262" r:id="rId10"/>
    <p:sldId id="278" r:id="rId11"/>
    <p:sldId id="280" r:id="rId12"/>
    <p:sldId id="282" r:id="rId13"/>
    <p:sldId id="283" r:id="rId14"/>
    <p:sldId id="279" r:id="rId15"/>
    <p:sldId id="263" r:id="rId16"/>
    <p:sldId id="264" r:id="rId17"/>
    <p:sldId id="265" r:id="rId18"/>
    <p:sldId id="266" r:id="rId19"/>
    <p:sldId id="267" r:id="rId20"/>
    <p:sldId id="268" r:id="rId21"/>
    <p:sldId id="269" r:id="rId22"/>
    <p:sldId id="270" r:id="rId23"/>
  </p:sldIdLst>
  <p:sldSz cx="18288000" cy="10287000"/>
  <p:notesSz cx="6858000" cy="9144000"/>
  <p:embeddedFontLst>
    <p:embeddedFont>
      <p:font typeface="Coco Gothic" panose="020B0604020202020204" charset="0"/>
      <p:regular r:id="rId25"/>
    </p:embeddedFont>
    <p:embeddedFont>
      <p:font typeface="Coco Gothic Bold" panose="020B0604020202020204" charset="0"/>
      <p:regular r:id="rId26"/>
    </p:embeddedFont>
    <p:embeddedFont>
      <p:font typeface="Coco Gothic Heavy" panose="020B0604020202020204" charset="0"/>
      <p:regular r:id="rId27"/>
    </p:embeddedFont>
    <p:embeddedFont>
      <p:font typeface="Poppins" panose="00000500000000000000" pitchFamily="2" charset="0"/>
      <p:regular r:id="rId28"/>
      <p:bold r:id="rId29"/>
      <p:italic r:id="rId30"/>
      <p:boldItalic r:id="rId31"/>
    </p:embeddedFont>
    <p:embeddedFont>
      <p:font typeface="Poppins Bold" panose="00000800000000000000"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D9F1"/>
    <a:srgbClr val="F0F5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FAE9E-CD9C-4686-B5D6-DA3BFABFAC6A}" v="25" dt="2026-01-20T16:12:13.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2" d="100"/>
          <a:sy n="42" d="100"/>
        </p:scale>
        <p:origin x="64" y="1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lah Azzam" userId="f059aa071fd63225" providerId="LiveId" clId="{53F7CF5F-0879-47DE-BC68-EFCB0B141EFC}"/>
    <pc:docChg chg="undo redo custSel addSld delSld modSld">
      <pc:chgData name="Abdullah Azzam" userId="f059aa071fd63225" providerId="LiveId" clId="{53F7CF5F-0879-47DE-BC68-EFCB0B141EFC}" dt="2026-01-20T16:16:35.025" v="4718" actId="20577"/>
      <pc:docMkLst>
        <pc:docMk/>
      </pc:docMkLst>
      <pc:sldChg chg="modSp mod">
        <pc:chgData name="Abdullah Azzam" userId="f059aa071fd63225" providerId="LiveId" clId="{53F7CF5F-0879-47DE-BC68-EFCB0B141EFC}" dt="2026-01-20T15:38:46.612" v="2102" actId="20577"/>
        <pc:sldMkLst>
          <pc:docMk/>
          <pc:sldMk cId="0" sldId="256"/>
        </pc:sldMkLst>
        <pc:spChg chg="mod">
          <ac:chgData name="Abdullah Azzam" userId="f059aa071fd63225" providerId="LiveId" clId="{53F7CF5F-0879-47DE-BC68-EFCB0B141EFC}" dt="2026-01-20T15:38:46.612" v="2102" actId="20577"/>
          <ac:spMkLst>
            <pc:docMk/>
            <pc:sldMk cId="0" sldId="256"/>
            <ac:spMk id="37" creationId="{C93ECF08-FFD2-AF67-6F17-AA4CD1DB661D}"/>
          </ac:spMkLst>
        </pc:spChg>
      </pc:sldChg>
      <pc:sldChg chg="modSp mod">
        <pc:chgData name="Abdullah Azzam" userId="f059aa071fd63225" providerId="LiveId" clId="{53F7CF5F-0879-47DE-BC68-EFCB0B141EFC}" dt="2026-01-20T14:50:52.472" v="1488" actId="14100"/>
        <pc:sldMkLst>
          <pc:docMk/>
          <pc:sldMk cId="0" sldId="259"/>
        </pc:sldMkLst>
        <pc:picChg chg="mod">
          <ac:chgData name="Abdullah Azzam" userId="f059aa071fd63225" providerId="LiveId" clId="{53F7CF5F-0879-47DE-BC68-EFCB0B141EFC}" dt="2026-01-20T14:50:52.472" v="1488" actId="14100"/>
          <ac:picMkLst>
            <pc:docMk/>
            <pc:sldMk cId="0" sldId="259"/>
            <ac:picMk id="38" creationId="{B039FACB-EF20-4867-7492-E53F7D6F0E24}"/>
          </ac:picMkLst>
        </pc:picChg>
      </pc:sldChg>
      <pc:sldChg chg="del">
        <pc:chgData name="Abdullah Azzam" userId="f059aa071fd63225" providerId="LiveId" clId="{53F7CF5F-0879-47DE-BC68-EFCB0B141EFC}" dt="2026-01-20T15:47:30.881" v="2880" actId="47"/>
        <pc:sldMkLst>
          <pc:docMk/>
          <pc:sldMk cId="0" sldId="260"/>
        </pc:sldMkLst>
      </pc:sldChg>
      <pc:sldChg chg="delSp modSp del mod setBg">
        <pc:chgData name="Abdullah Azzam" userId="f059aa071fd63225" providerId="LiveId" clId="{53F7CF5F-0879-47DE-BC68-EFCB0B141EFC}" dt="2026-01-20T15:50:47.164" v="2990" actId="47"/>
        <pc:sldMkLst>
          <pc:docMk/>
          <pc:sldMk cId="0" sldId="261"/>
        </pc:sldMkLst>
        <pc:spChg chg="mod">
          <ac:chgData name="Abdullah Azzam" userId="f059aa071fd63225" providerId="LiveId" clId="{53F7CF5F-0879-47DE-BC68-EFCB0B141EFC}" dt="2026-01-20T15:50:40.916" v="2988" actId="207"/>
          <ac:spMkLst>
            <pc:docMk/>
            <pc:sldMk cId="0" sldId="261"/>
            <ac:spMk id="13" creationId="{00000000-0000-0000-0000-000000000000}"/>
          </ac:spMkLst>
        </pc:spChg>
        <pc:spChg chg="mod">
          <ac:chgData name="Abdullah Azzam" userId="f059aa071fd63225" providerId="LiveId" clId="{53F7CF5F-0879-47DE-BC68-EFCB0B141EFC}" dt="2026-01-20T15:50:27.409" v="2984" actId="20577"/>
          <ac:spMkLst>
            <pc:docMk/>
            <pc:sldMk cId="0" sldId="261"/>
            <ac:spMk id="15" creationId="{00000000-0000-0000-0000-000000000000}"/>
          </ac:spMkLst>
        </pc:spChg>
        <pc:spChg chg="del">
          <ac:chgData name="Abdullah Azzam" userId="f059aa071fd63225" providerId="LiveId" clId="{53F7CF5F-0879-47DE-BC68-EFCB0B141EFC}" dt="2026-01-20T15:50:42.251" v="2989" actId="478"/>
          <ac:spMkLst>
            <pc:docMk/>
            <pc:sldMk cId="0" sldId="261"/>
            <ac:spMk id="37" creationId="{00000000-0000-0000-0000-000000000000}"/>
          </ac:spMkLst>
        </pc:spChg>
        <pc:spChg chg="del mod">
          <ac:chgData name="Abdullah Azzam" userId="f059aa071fd63225" providerId="LiveId" clId="{53F7CF5F-0879-47DE-BC68-EFCB0B141EFC}" dt="2026-01-20T15:48:02.295" v="2898" actId="478"/>
          <ac:spMkLst>
            <pc:docMk/>
            <pc:sldMk cId="0" sldId="261"/>
            <ac:spMk id="38" creationId="{00000000-0000-0000-0000-000000000000}"/>
          </ac:spMkLst>
        </pc:spChg>
        <pc:spChg chg="del">
          <ac:chgData name="Abdullah Azzam" userId="f059aa071fd63225" providerId="LiveId" clId="{53F7CF5F-0879-47DE-BC68-EFCB0B141EFC}" dt="2026-01-20T15:48:03.442" v="2899" actId="478"/>
          <ac:spMkLst>
            <pc:docMk/>
            <pc:sldMk cId="0" sldId="261"/>
            <ac:spMk id="39" creationId="{00000000-0000-0000-0000-000000000000}"/>
          </ac:spMkLst>
        </pc:spChg>
        <pc:spChg chg="mod">
          <ac:chgData name="Abdullah Azzam" userId="f059aa071fd63225" providerId="LiveId" clId="{53F7CF5F-0879-47DE-BC68-EFCB0B141EFC}" dt="2026-01-20T15:50:22.352" v="2983" actId="14100"/>
          <ac:spMkLst>
            <pc:docMk/>
            <pc:sldMk cId="0" sldId="261"/>
            <ac:spMk id="40" creationId="{00000000-0000-0000-0000-000000000000}"/>
          </ac:spMkLst>
        </pc:spChg>
      </pc:sldChg>
      <pc:sldChg chg="addSp delSp modSp mod">
        <pc:chgData name="Abdullah Azzam" userId="f059aa071fd63225" providerId="LiveId" clId="{53F7CF5F-0879-47DE-BC68-EFCB0B141EFC}" dt="2026-01-20T16:16:35.025" v="4718" actId="20577"/>
        <pc:sldMkLst>
          <pc:docMk/>
          <pc:sldMk cId="0" sldId="262"/>
        </pc:sldMkLst>
        <pc:spChg chg="del">
          <ac:chgData name="Abdullah Azzam" userId="f059aa071fd63225" providerId="LiveId" clId="{53F7CF5F-0879-47DE-BC68-EFCB0B141EFC}" dt="2026-01-20T16:11:53.694" v="4620" actId="478"/>
          <ac:spMkLst>
            <pc:docMk/>
            <pc:sldMk cId="0" sldId="262"/>
            <ac:spMk id="2" creationId="{00000000-0000-0000-0000-000000000000}"/>
          </ac:spMkLst>
        </pc:spChg>
        <pc:spChg chg="del mod">
          <ac:chgData name="Abdullah Azzam" userId="f059aa071fd63225" providerId="LiveId" clId="{53F7CF5F-0879-47DE-BC68-EFCB0B141EFC}" dt="2026-01-20T16:11:49.996" v="4617" actId="478"/>
          <ac:spMkLst>
            <pc:docMk/>
            <pc:sldMk cId="0" sldId="262"/>
            <ac:spMk id="3" creationId="{00000000-0000-0000-0000-000000000000}"/>
          </ac:spMkLst>
        </pc:spChg>
        <pc:spChg chg="del mod">
          <ac:chgData name="Abdullah Azzam" userId="f059aa071fd63225" providerId="LiveId" clId="{53F7CF5F-0879-47DE-BC68-EFCB0B141EFC}" dt="2026-01-20T16:11:52.583" v="4619" actId="478"/>
          <ac:spMkLst>
            <pc:docMk/>
            <pc:sldMk cId="0" sldId="262"/>
            <ac:spMk id="4" creationId="{00000000-0000-0000-0000-000000000000}"/>
          </ac:spMkLst>
        </pc:spChg>
        <pc:spChg chg="mod">
          <ac:chgData name="Abdullah Azzam" userId="f059aa071fd63225" providerId="LiveId" clId="{53F7CF5F-0879-47DE-BC68-EFCB0B141EFC}" dt="2026-01-20T15:53:25.074" v="3157" actId="207"/>
          <ac:spMkLst>
            <pc:docMk/>
            <pc:sldMk cId="0" sldId="262"/>
            <ac:spMk id="6" creationId="{00000000-0000-0000-0000-000000000000}"/>
          </ac:spMkLst>
        </pc:spChg>
        <pc:spChg chg="mod">
          <ac:chgData name="Abdullah Azzam" userId="f059aa071fd63225" providerId="LiveId" clId="{53F7CF5F-0879-47DE-BC68-EFCB0B141EFC}" dt="2026-01-20T15:53:21.129" v="3156" actId="207"/>
          <ac:spMkLst>
            <pc:docMk/>
            <pc:sldMk cId="0" sldId="262"/>
            <ac:spMk id="7" creationId="{00000000-0000-0000-0000-000000000000}"/>
          </ac:spMkLst>
        </pc:spChg>
        <pc:spChg chg="mod">
          <ac:chgData name="Abdullah Azzam" userId="f059aa071fd63225" providerId="LiveId" clId="{53F7CF5F-0879-47DE-BC68-EFCB0B141EFC}" dt="2026-01-20T15:53:32.036" v="3158" actId="207"/>
          <ac:spMkLst>
            <pc:docMk/>
            <pc:sldMk cId="0" sldId="262"/>
            <ac:spMk id="9" creationId="{00000000-0000-0000-0000-000000000000}"/>
          </ac:spMkLst>
        </pc:spChg>
        <pc:spChg chg="mod">
          <ac:chgData name="Abdullah Azzam" userId="f059aa071fd63225" providerId="LiveId" clId="{53F7CF5F-0879-47DE-BC68-EFCB0B141EFC}" dt="2026-01-20T15:53:02.365" v="3152" actId="20577"/>
          <ac:spMkLst>
            <pc:docMk/>
            <pc:sldMk cId="0" sldId="262"/>
            <ac:spMk id="13" creationId="{00000000-0000-0000-0000-000000000000}"/>
          </ac:spMkLst>
        </pc:spChg>
        <pc:spChg chg="mod">
          <ac:chgData name="Abdullah Azzam" userId="f059aa071fd63225" providerId="LiveId" clId="{53F7CF5F-0879-47DE-BC68-EFCB0B141EFC}" dt="2026-01-20T15:51:38.559" v="3056" actId="207"/>
          <ac:spMkLst>
            <pc:docMk/>
            <pc:sldMk cId="0" sldId="262"/>
            <ac:spMk id="16" creationId="{00000000-0000-0000-0000-000000000000}"/>
          </ac:spMkLst>
        </pc:spChg>
        <pc:spChg chg="mod">
          <ac:chgData name="Abdullah Azzam" userId="f059aa071fd63225" providerId="LiveId" clId="{53F7CF5F-0879-47DE-BC68-EFCB0B141EFC}" dt="2026-01-20T16:16:32.696" v="4715" actId="20577"/>
          <ac:spMkLst>
            <pc:docMk/>
            <pc:sldMk cId="0" sldId="262"/>
            <ac:spMk id="18" creationId="{00000000-0000-0000-0000-000000000000}"/>
          </ac:spMkLst>
        </pc:spChg>
        <pc:spChg chg="mod">
          <ac:chgData name="Abdullah Azzam" userId="f059aa071fd63225" providerId="LiveId" clId="{53F7CF5F-0879-47DE-BC68-EFCB0B141EFC}" dt="2026-01-20T15:51:44.364" v="3057" actId="207"/>
          <ac:spMkLst>
            <pc:docMk/>
            <pc:sldMk cId="0" sldId="262"/>
            <ac:spMk id="24" creationId="{00000000-0000-0000-0000-000000000000}"/>
          </ac:spMkLst>
        </pc:spChg>
        <pc:spChg chg="mod">
          <ac:chgData name="Abdullah Azzam" userId="f059aa071fd63225" providerId="LiveId" clId="{53F7CF5F-0879-47DE-BC68-EFCB0B141EFC}" dt="2026-01-20T16:16:35.025" v="4718" actId="20577"/>
          <ac:spMkLst>
            <pc:docMk/>
            <pc:sldMk cId="0" sldId="262"/>
            <ac:spMk id="26" creationId="{00000000-0000-0000-0000-000000000000}"/>
          </ac:spMkLst>
        </pc:spChg>
        <pc:spChg chg="mod">
          <ac:chgData name="Abdullah Azzam" userId="f059aa071fd63225" providerId="LiveId" clId="{53F7CF5F-0879-47DE-BC68-EFCB0B141EFC}" dt="2026-01-20T15:52:04.624" v="3077" actId="207"/>
          <ac:spMkLst>
            <pc:docMk/>
            <pc:sldMk cId="0" sldId="262"/>
            <ac:spMk id="28" creationId="{00000000-0000-0000-0000-000000000000}"/>
          </ac:spMkLst>
        </pc:spChg>
        <pc:spChg chg="mod">
          <ac:chgData name="Abdullah Azzam" userId="f059aa071fd63225" providerId="LiveId" clId="{53F7CF5F-0879-47DE-BC68-EFCB0B141EFC}" dt="2026-01-20T16:02:19.189" v="4068" actId="20577"/>
          <ac:spMkLst>
            <pc:docMk/>
            <pc:sldMk cId="0" sldId="262"/>
            <ac:spMk id="30" creationId="{00000000-0000-0000-0000-000000000000}"/>
          </ac:spMkLst>
        </pc:spChg>
        <pc:spChg chg="del">
          <ac:chgData name="Abdullah Azzam" userId="f059aa071fd63225" providerId="LiveId" clId="{53F7CF5F-0879-47DE-BC68-EFCB0B141EFC}" dt="2026-01-20T16:11:41.743" v="4613" actId="478"/>
          <ac:spMkLst>
            <pc:docMk/>
            <pc:sldMk cId="0" sldId="262"/>
            <ac:spMk id="31" creationId="{00000000-0000-0000-0000-000000000000}"/>
          </ac:spMkLst>
        </pc:spChg>
        <pc:spChg chg="del">
          <ac:chgData name="Abdullah Azzam" userId="f059aa071fd63225" providerId="LiveId" clId="{53F7CF5F-0879-47DE-BC68-EFCB0B141EFC}" dt="2026-01-20T16:14:45.597" v="4666" actId="478"/>
          <ac:spMkLst>
            <pc:docMk/>
            <pc:sldMk cId="0" sldId="262"/>
            <ac:spMk id="32" creationId="{00000000-0000-0000-0000-000000000000}"/>
          </ac:spMkLst>
        </pc:spChg>
        <pc:spChg chg="del">
          <ac:chgData name="Abdullah Azzam" userId="f059aa071fd63225" providerId="LiveId" clId="{53F7CF5F-0879-47DE-BC68-EFCB0B141EFC}" dt="2026-01-20T16:11:44.061" v="4614" actId="478"/>
          <ac:spMkLst>
            <pc:docMk/>
            <pc:sldMk cId="0" sldId="262"/>
            <ac:spMk id="33" creationId="{00000000-0000-0000-0000-000000000000}"/>
          </ac:spMkLst>
        </pc:spChg>
        <pc:spChg chg="mod">
          <ac:chgData name="Abdullah Azzam" userId="f059aa071fd63225" providerId="LiveId" clId="{53F7CF5F-0879-47DE-BC68-EFCB0B141EFC}" dt="2026-01-20T16:15:58.919" v="4705" actId="1037"/>
          <ac:spMkLst>
            <pc:docMk/>
            <pc:sldMk cId="0" sldId="262"/>
            <ac:spMk id="34" creationId="{00000000-0000-0000-0000-000000000000}"/>
          </ac:spMkLst>
        </pc:spChg>
        <pc:spChg chg="add del mod">
          <ac:chgData name="Abdullah Azzam" userId="f059aa071fd63225" providerId="LiveId" clId="{53F7CF5F-0879-47DE-BC68-EFCB0B141EFC}" dt="2026-01-20T16:15:12.707" v="4690" actId="1035"/>
          <ac:spMkLst>
            <pc:docMk/>
            <pc:sldMk cId="0" sldId="262"/>
            <ac:spMk id="35" creationId="{00000000-0000-0000-0000-000000000000}"/>
          </ac:spMkLst>
        </pc:spChg>
        <pc:spChg chg="mod">
          <ac:chgData name="Abdullah Azzam" userId="f059aa071fd63225" providerId="LiveId" clId="{53F7CF5F-0879-47DE-BC68-EFCB0B141EFC}" dt="2026-01-20T16:15:18.617" v="4698" actId="1035"/>
          <ac:spMkLst>
            <pc:docMk/>
            <pc:sldMk cId="0" sldId="262"/>
            <ac:spMk id="36" creationId="{00000000-0000-0000-0000-000000000000}"/>
          </ac:spMkLst>
        </pc:spChg>
        <pc:spChg chg="mod">
          <ac:chgData name="Abdullah Azzam" userId="f059aa071fd63225" providerId="LiveId" clId="{53F7CF5F-0879-47DE-BC68-EFCB0B141EFC}" dt="2026-01-20T16:15:21.567" v="4700" actId="1076"/>
          <ac:spMkLst>
            <pc:docMk/>
            <pc:sldMk cId="0" sldId="262"/>
            <ac:spMk id="37" creationId="{00000000-0000-0000-0000-000000000000}"/>
          </ac:spMkLst>
        </pc:spChg>
        <pc:spChg chg="add mod">
          <ac:chgData name="Abdullah Azzam" userId="f059aa071fd63225" providerId="LiveId" clId="{53F7CF5F-0879-47DE-BC68-EFCB0B141EFC}" dt="2026-01-20T16:11:54.157" v="4621"/>
          <ac:spMkLst>
            <pc:docMk/>
            <pc:sldMk cId="0" sldId="262"/>
            <ac:spMk id="38" creationId="{A5DD6A59-2A8E-CEF1-B19D-F7F0BF38DE5F}"/>
          </ac:spMkLst>
        </pc:spChg>
        <pc:spChg chg="add mod">
          <ac:chgData name="Abdullah Azzam" userId="f059aa071fd63225" providerId="LiveId" clId="{53F7CF5F-0879-47DE-BC68-EFCB0B141EFC}" dt="2026-01-20T16:11:54.157" v="4621"/>
          <ac:spMkLst>
            <pc:docMk/>
            <pc:sldMk cId="0" sldId="262"/>
            <ac:spMk id="39" creationId="{0D9372EE-13DD-F572-859E-53D35B39E8F2}"/>
          </ac:spMkLst>
        </pc:spChg>
        <pc:grpChg chg="mod">
          <ac:chgData name="Abdullah Azzam" userId="f059aa071fd63225" providerId="LiveId" clId="{53F7CF5F-0879-47DE-BC68-EFCB0B141EFC}" dt="2026-01-20T15:53:21.129" v="3156" actId="207"/>
          <ac:grpSpMkLst>
            <pc:docMk/>
            <pc:sldMk cId="0" sldId="262"/>
            <ac:grpSpMk id="5" creationId="{00000000-0000-0000-0000-000000000000}"/>
          </ac:grpSpMkLst>
        </pc:grpChg>
        <pc:grpChg chg="mod">
          <ac:chgData name="Abdullah Azzam" userId="f059aa071fd63225" providerId="LiveId" clId="{53F7CF5F-0879-47DE-BC68-EFCB0B141EFC}" dt="2026-01-20T16:15:02.680" v="4676" actId="1035"/>
          <ac:grpSpMkLst>
            <pc:docMk/>
            <pc:sldMk cId="0" sldId="262"/>
            <ac:grpSpMk id="15" creationId="{00000000-0000-0000-0000-000000000000}"/>
          </ac:grpSpMkLst>
        </pc:grpChg>
        <pc:grpChg chg="mod">
          <ac:chgData name="Abdullah Azzam" userId="f059aa071fd63225" providerId="LiveId" clId="{53F7CF5F-0879-47DE-BC68-EFCB0B141EFC}" dt="2026-01-20T16:15:05.469" v="4681" actId="1035"/>
          <ac:grpSpMkLst>
            <pc:docMk/>
            <pc:sldMk cId="0" sldId="262"/>
            <ac:grpSpMk id="23" creationId="{00000000-0000-0000-0000-000000000000}"/>
          </ac:grpSpMkLst>
        </pc:grpChg>
        <pc:grpChg chg="mod">
          <ac:chgData name="Abdullah Azzam" userId="f059aa071fd63225" providerId="LiveId" clId="{53F7CF5F-0879-47DE-BC68-EFCB0B141EFC}" dt="2026-01-20T16:15:08.261" v="4686" actId="1035"/>
          <ac:grpSpMkLst>
            <pc:docMk/>
            <pc:sldMk cId="0" sldId="262"/>
            <ac:grpSpMk id="27" creationId="{00000000-0000-0000-0000-000000000000}"/>
          </ac:grpSpMkLst>
        </pc:grpChg>
        <pc:picChg chg="add mod">
          <ac:chgData name="Abdullah Azzam" userId="f059aa071fd63225" providerId="LiveId" clId="{53F7CF5F-0879-47DE-BC68-EFCB0B141EFC}" dt="2026-01-20T16:11:54.157" v="4621"/>
          <ac:picMkLst>
            <pc:docMk/>
            <pc:sldMk cId="0" sldId="262"/>
            <ac:picMk id="40" creationId="{CA0BADA0-2092-99F7-283F-3009909980B9}"/>
          </ac:picMkLst>
        </pc:picChg>
      </pc:sldChg>
      <pc:sldChg chg="modSp mod">
        <pc:chgData name="Abdullah Azzam" userId="f059aa071fd63225" providerId="LiveId" clId="{53F7CF5F-0879-47DE-BC68-EFCB0B141EFC}" dt="2026-01-20T14:48:54.600" v="1485" actId="14100"/>
        <pc:sldMkLst>
          <pc:docMk/>
          <pc:sldMk cId="486739524" sldId="271"/>
        </pc:sldMkLst>
        <pc:picChg chg="mod">
          <ac:chgData name="Abdullah Azzam" userId="f059aa071fd63225" providerId="LiveId" clId="{53F7CF5F-0879-47DE-BC68-EFCB0B141EFC}" dt="2026-01-20T14:48:54.600" v="1485" actId="14100"/>
          <ac:picMkLst>
            <pc:docMk/>
            <pc:sldMk cId="486739524" sldId="271"/>
            <ac:picMk id="3" creationId="{180D9449-9686-4593-B014-B03933C49A97}"/>
          </ac:picMkLst>
        </pc:picChg>
      </pc:sldChg>
      <pc:sldChg chg="addSp delSp modSp add del mod">
        <pc:chgData name="Abdullah Azzam" userId="f059aa071fd63225" providerId="LiveId" clId="{53F7CF5F-0879-47DE-BC68-EFCB0B141EFC}" dt="2026-01-20T14:52:53.241" v="1521" actId="47"/>
        <pc:sldMkLst>
          <pc:docMk/>
          <pc:sldMk cId="2747087497" sldId="272"/>
        </pc:sldMkLst>
        <pc:spChg chg="mod">
          <ac:chgData name="Abdullah Azzam" userId="f059aa071fd63225" providerId="LiveId" clId="{53F7CF5F-0879-47DE-BC68-EFCB0B141EFC}" dt="2026-01-20T14:17:00.891" v="3" actId="20577"/>
          <ac:spMkLst>
            <pc:docMk/>
            <pc:sldMk cId="2747087497" sldId="272"/>
            <ac:spMk id="23" creationId="{4AE69BF0-5DF5-BBDD-6832-96CA3B5195C8}"/>
          </ac:spMkLst>
        </pc:spChg>
        <pc:spChg chg="del mod">
          <ac:chgData name="Abdullah Azzam" userId="f059aa071fd63225" providerId="LiveId" clId="{53F7CF5F-0879-47DE-BC68-EFCB0B141EFC}" dt="2026-01-20T14:18:03.363" v="11"/>
          <ac:spMkLst>
            <pc:docMk/>
            <pc:sldMk cId="2747087497" sldId="272"/>
            <ac:spMk id="36" creationId="{BE2C09D6-421C-E472-11F1-5B2E844337CC}"/>
          </ac:spMkLst>
        </pc:spChg>
        <pc:picChg chg="del">
          <ac:chgData name="Abdullah Azzam" userId="f059aa071fd63225" providerId="LiveId" clId="{53F7CF5F-0879-47DE-BC68-EFCB0B141EFC}" dt="2026-01-20T14:18:03.357" v="9" actId="478"/>
          <ac:picMkLst>
            <pc:docMk/>
            <pc:sldMk cId="2747087497" sldId="272"/>
            <ac:picMk id="3" creationId="{3810E710-2EF6-FF3C-00B1-0B03100EB19A}"/>
          </ac:picMkLst>
        </pc:picChg>
        <pc:picChg chg="add mod">
          <ac:chgData name="Abdullah Azzam" userId="f059aa071fd63225" providerId="LiveId" clId="{53F7CF5F-0879-47DE-BC68-EFCB0B141EFC}" dt="2026-01-20T14:20:46.693" v="19" actId="14100"/>
          <ac:picMkLst>
            <pc:docMk/>
            <pc:sldMk cId="2747087497" sldId="272"/>
            <ac:picMk id="4" creationId="{8AE4FB0C-F16B-307C-8119-626FD8E633D9}"/>
          </ac:picMkLst>
        </pc:picChg>
      </pc:sldChg>
      <pc:sldChg chg="addSp delSp modSp add mod">
        <pc:chgData name="Abdullah Azzam" userId="f059aa071fd63225" providerId="LiveId" clId="{53F7CF5F-0879-47DE-BC68-EFCB0B141EFC}" dt="2026-01-20T14:51:32.310" v="1496" actId="20577"/>
        <pc:sldMkLst>
          <pc:docMk/>
          <pc:sldMk cId="1120631758" sldId="273"/>
        </pc:sldMkLst>
        <pc:spChg chg="mod">
          <ac:chgData name="Abdullah Azzam" userId="f059aa071fd63225" providerId="LiveId" clId="{53F7CF5F-0879-47DE-BC68-EFCB0B141EFC}" dt="2026-01-20T14:34:27.989" v="833" actId="20577"/>
          <ac:spMkLst>
            <pc:docMk/>
            <pc:sldMk cId="1120631758" sldId="273"/>
            <ac:spMk id="19" creationId="{811E1B2E-AA02-2E56-FB5B-9F34494EFA09}"/>
          </ac:spMkLst>
        </pc:spChg>
        <pc:spChg chg="mod">
          <ac:chgData name="Abdullah Azzam" userId="f059aa071fd63225" providerId="LiveId" clId="{53F7CF5F-0879-47DE-BC68-EFCB0B141EFC}" dt="2026-01-20T14:43:01.582" v="1245" actId="20577"/>
          <ac:spMkLst>
            <pc:docMk/>
            <pc:sldMk cId="1120631758" sldId="273"/>
            <ac:spMk id="23" creationId="{0869C3C8-5851-5DA8-C63A-989FBBDE1B9C}"/>
          </ac:spMkLst>
        </pc:spChg>
        <pc:spChg chg="mod">
          <ac:chgData name="Abdullah Azzam" userId="f059aa071fd63225" providerId="LiveId" clId="{53F7CF5F-0879-47DE-BC68-EFCB0B141EFC}" dt="2026-01-20T14:51:32.310" v="1496" actId="20577"/>
          <ac:spMkLst>
            <pc:docMk/>
            <pc:sldMk cId="1120631758" sldId="273"/>
            <ac:spMk id="36" creationId="{EB8D5A96-A757-D02D-4B24-3585933B5670}"/>
          </ac:spMkLst>
        </pc:spChg>
        <pc:picChg chg="add mod">
          <ac:chgData name="Abdullah Azzam" userId="f059aa071fd63225" providerId="LiveId" clId="{53F7CF5F-0879-47DE-BC68-EFCB0B141EFC}" dt="2026-01-20T14:48:38.980" v="1484" actId="14100"/>
          <ac:picMkLst>
            <pc:docMk/>
            <pc:sldMk cId="1120631758" sldId="273"/>
            <ac:picMk id="2" creationId="{1B686E54-C6AF-24D5-C7C0-505D6B05785E}"/>
          </ac:picMkLst>
        </pc:picChg>
        <pc:picChg chg="del">
          <ac:chgData name="Abdullah Azzam" userId="f059aa071fd63225" providerId="LiveId" clId="{53F7CF5F-0879-47DE-BC68-EFCB0B141EFC}" dt="2026-01-20T14:21:39.321" v="21" actId="478"/>
          <ac:picMkLst>
            <pc:docMk/>
            <pc:sldMk cId="1120631758" sldId="273"/>
            <ac:picMk id="3" creationId="{A885301C-B2C1-D10F-7968-9266AE8037B8}"/>
          </ac:picMkLst>
        </pc:picChg>
        <pc:picChg chg="add del mod">
          <ac:chgData name="Abdullah Azzam" userId="f059aa071fd63225" providerId="LiveId" clId="{53F7CF5F-0879-47DE-BC68-EFCB0B141EFC}" dt="2026-01-20T14:22:10.880" v="27" actId="478"/>
          <ac:picMkLst>
            <pc:docMk/>
            <pc:sldMk cId="1120631758" sldId="273"/>
            <ac:picMk id="4" creationId="{ACF34261-3324-C294-65F7-0B6E6FDE534E}"/>
          </ac:picMkLst>
        </pc:picChg>
        <pc:picChg chg="add mod">
          <ac:chgData name="Abdullah Azzam" userId="f059aa071fd63225" providerId="LiveId" clId="{53F7CF5F-0879-47DE-BC68-EFCB0B141EFC}" dt="2026-01-20T14:34:33.605" v="834"/>
          <ac:picMkLst>
            <pc:docMk/>
            <pc:sldMk cId="1120631758" sldId="273"/>
            <ac:picMk id="11" creationId="{C0C86434-2DF5-CD02-142F-8A95B9774EAB}"/>
          </ac:picMkLst>
        </pc:picChg>
      </pc:sldChg>
      <pc:sldChg chg="delSp modSp add del mod">
        <pc:chgData name="Abdullah Azzam" userId="f059aa071fd63225" providerId="LiveId" clId="{53F7CF5F-0879-47DE-BC68-EFCB0B141EFC}" dt="2026-01-20T14:52:51.243" v="1520" actId="47"/>
        <pc:sldMkLst>
          <pc:docMk/>
          <pc:sldMk cId="2241005921" sldId="274"/>
        </pc:sldMkLst>
        <pc:spChg chg="mod">
          <ac:chgData name="Abdullah Azzam" userId="f059aa071fd63225" providerId="LiveId" clId="{53F7CF5F-0879-47DE-BC68-EFCB0B141EFC}" dt="2026-01-20T14:36:26.077" v="864" actId="20577"/>
          <ac:spMkLst>
            <pc:docMk/>
            <pc:sldMk cId="2241005921" sldId="274"/>
            <ac:spMk id="23" creationId="{66C7C220-4E20-6810-2A1B-BE5023A2AA2A}"/>
          </ac:spMkLst>
        </pc:spChg>
        <pc:spChg chg="del mod">
          <ac:chgData name="Abdullah Azzam" userId="f059aa071fd63225" providerId="LiveId" clId="{53F7CF5F-0879-47DE-BC68-EFCB0B141EFC}" dt="2026-01-20T14:36:09.331" v="860"/>
          <ac:spMkLst>
            <pc:docMk/>
            <pc:sldMk cId="2241005921" sldId="274"/>
            <ac:spMk id="36" creationId="{56DA06C3-99EB-BEC0-E2F2-7ABF7DA6820F}"/>
          </ac:spMkLst>
        </pc:spChg>
      </pc:sldChg>
      <pc:sldChg chg="addSp delSp modSp add mod">
        <pc:chgData name="Abdullah Azzam" userId="f059aa071fd63225" providerId="LiveId" clId="{53F7CF5F-0879-47DE-BC68-EFCB0B141EFC}" dt="2026-01-20T15:37:32.400" v="2101" actId="20577"/>
        <pc:sldMkLst>
          <pc:docMk/>
          <pc:sldMk cId="3409709700" sldId="275"/>
        </pc:sldMkLst>
        <pc:spChg chg="mod">
          <ac:chgData name="Abdullah Azzam" userId="f059aa071fd63225" providerId="LiveId" clId="{53F7CF5F-0879-47DE-BC68-EFCB0B141EFC}" dt="2026-01-20T15:36:21.203" v="2084" actId="20577"/>
          <ac:spMkLst>
            <pc:docMk/>
            <pc:sldMk cId="3409709700" sldId="275"/>
            <ac:spMk id="19" creationId="{9FA155C9-93F9-22D1-0BD4-AA5B4B287DA1}"/>
          </ac:spMkLst>
        </pc:spChg>
        <pc:spChg chg="mod">
          <ac:chgData name="Abdullah Azzam" userId="f059aa071fd63225" providerId="LiveId" clId="{53F7CF5F-0879-47DE-BC68-EFCB0B141EFC}" dt="2026-01-20T15:37:32.400" v="2101" actId="20577"/>
          <ac:spMkLst>
            <pc:docMk/>
            <pc:sldMk cId="3409709700" sldId="275"/>
            <ac:spMk id="36" creationId="{21A376E4-F005-06F9-52ED-574BCDEB44E1}"/>
          </ac:spMkLst>
        </pc:spChg>
        <pc:picChg chg="add del">
          <ac:chgData name="Abdullah Azzam" userId="f059aa071fd63225" providerId="LiveId" clId="{53F7CF5F-0879-47DE-BC68-EFCB0B141EFC}" dt="2026-01-20T14:45:37.472" v="1465" actId="478"/>
          <ac:picMkLst>
            <pc:docMk/>
            <pc:sldMk cId="3409709700" sldId="275"/>
            <ac:picMk id="2" creationId="{78018906-BAB4-4281-90D1-DE6FC8025056}"/>
          </ac:picMkLst>
        </pc:picChg>
        <pc:picChg chg="add del">
          <ac:chgData name="Abdullah Azzam" userId="f059aa071fd63225" providerId="LiveId" clId="{53F7CF5F-0879-47DE-BC68-EFCB0B141EFC}" dt="2026-01-20T14:45:13.165" v="1457" actId="22"/>
          <ac:picMkLst>
            <pc:docMk/>
            <pc:sldMk cId="3409709700" sldId="275"/>
            <ac:picMk id="4" creationId="{27844D5D-30AA-2435-CCB4-CCF51AE770F1}"/>
          </ac:picMkLst>
        </pc:picChg>
        <pc:picChg chg="add mod">
          <ac:chgData name="Abdullah Azzam" userId="f059aa071fd63225" providerId="LiveId" clId="{53F7CF5F-0879-47DE-BC68-EFCB0B141EFC}" dt="2026-01-20T14:45:47.429" v="1467" actId="208"/>
          <ac:picMkLst>
            <pc:docMk/>
            <pc:sldMk cId="3409709700" sldId="275"/>
            <ac:picMk id="12" creationId="{34416CB4-4E4A-41FD-B46B-16A0E395EDA3}"/>
          </ac:picMkLst>
        </pc:picChg>
      </pc:sldChg>
      <pc:sldChg chg="addSp delSp modSp add mod">
        <pc:chgData name="Abdullah Azzam" userId="f059aa071fd63225" providerId="LiveId" clId="{53F7CF5F-0879-47DE-BC68-EFCB0B141EFC}" dt="2026-01-20T15:36:25.159" v="2086" actId="20577"/>
        <pc:sldMkLst>
          <pc:docMk/>
          <pc:sldMk cId="1972913528" sldId="276"/>
        </pc:sldMkLst>
        <pc:spChg chg="mod">
          <ac:chgData name="Abdullah Azzam" userId="f059aa071fd63225" providerId="LiveId" clId="{53F7CF5F-0879-47DE-BC68-EFCB0B141EFC}" dt="2026-01-20T15:36:25.159" v="2086" actId="20577"/>
          <ac:spMkLst>
            <pc:docMk/>
            <pc:sldMk cId="1972913528" sldId="276"/>
            <ac:spMk id="19" creationId="{9E2450B3-593F-94D6-A629-EBA6CF7EDE0D}"/>
          </ac:spMkLst>
        </pc:spChg>
        <pc:spChg chg="mod">
          <ac:chgData name="Abdullah Azzam" userId="f059aa071fd63225" providerId="LiveId" clId="{53F7CF5F-0879-47DE-BC68-EFCB0B141EFC}" dt="2026-01-20T14:53:01.693" v="1524" actId="20577"/>
          <ac:spMkLst>
            <pc:docMk/>
            <pc:sldMk cId="1972913528" sldId="276"/>
            <ac:spMk id="23" creationId="{60CDC15E-AC65-C427-6DBD-D33B18B8DCFE}"/>
          </ac:spMkLst>
        </pc:spChg>
        <pc:spChg chg="mod">
          <ac:chgData name="Abdullah Azzam" userId="f059aa071fd63225" providerId="LiveId" clId="{53F7CF5F-0879-47DE-BC68-EFCB0B141EFC}" dt="2026-01-20T15:35:34.869" v="2081" actId="20577"/>
          <ac:spMkLst>
            <pc:docMk/>
            <pc:sldMk cId="1972913528" sldId="276"/>
            <ac:spMk id="36" creationId="{4CA195A1-D47D-9ACF-D126-761069380CDA}"/>
          </ac:spMkLst>
        </pc:spChg>
        <pc:picChg chg="add mod">
          <ac:chgData name="Abdullah Azzam" userId="f059aa071fd63225" providerId="LiveId" clId="{53F7CF5F-0879-47DE-BC68-EFCB0B141EFC}" dt="2026-01-20T15:32:09.829" v="1736" actId="14100"/>
          <ac:picMkLst>
            <pc:docMk/>
            <pc:sldMk cId="1972913528" sldId="276"/>
            <ac:picMk id="3" creationId="{EB0275E1-6C9B-23EA-6866-CF15C05DC199}"/>
          </ac:picMkLst>
        </pc:picChg>
        <pc:picChg chg="del">
          <ac:chgData name="Abdullah Azzam" userId="f059aa071fd63225" providerId="LiveId" clId="{53F7CF5F-0879-47DE-BC68-EFCB0B141EFC}" dt="2026-01-20T15:30:06.269" v="1724" actId="478"/>
          <ac:picMkLst>
            <pc:docMk/>
            <pc:sldMk cId="1972913528" sldId="276"/>
            <ac:picMk id="12" creationId="{42B1DE22-062D-7F0D-49C2-754AF110DC65}"/>
          </ac:picMkLst>
        </pc:picChg>
      </pc:sldChg>
      <pc:sldChg chg="addSp delSp modSp add mod">
        <pc:chgData name="Abdullah Azzam" userId="f059aa071fd63225" providerId="LiveId" clId="{53F7CF5F-0879-47DE-BC68-EFCB0B141EFC}" dt="2026-01-20T15:48:49.337" v="2906" actId="20577"/>
        <pc:sldMkLst>
          <pc:docMk/>
          <pc:sldMk cId="175217574" sldId="277"/>
        </pc:sldMkLst>
        <pc:spChg chg="mod">
          <ac:chgData name="Abdullah Azzam" userId="f059aa071fd63225" providerId="LiveId" clId="{53F7CF5F-0879-47DE-BC68-EFCB0B141EFC}" dt="2026-01-20T15:36:29.654" v="2088" actId="20577"/>
          <ac:spMkLst>
            <pc:docMk/>
            <pc:sldMk cId="175217574" sldId="277"/>
            <ac:spMk id="19" creationId="{1D408EBD-1468-9BF5-A233-E27A00E4C16E}"/>
          </ac:spMkLst>
        </pc:spChg>
        <pc:spChg chg="mod">
          <ac:chgData name="Abdullah Azzam" userId="f059aa071fd63225" providerId="LiveId" clId="{53F7CF5F-0879-47DE-BC68-EFCB0B141EFC}" dt="2026-01-20T15:36:42.569" v="2092" actId="20577"/>
          <ac:spMkLst>
            <pc:docMk/>
            <pc:sldMk cId="175217574" sldId="277"/>
            <ac:spMk id="23" creationId="{E04D974A-1CF8-807A-78E3-2AAA64FDD4C9}"/>
          </ac:spMkLst>
        </pc:spChg>
        <pc:spChg chg="mod">
          <ac:chgData name="Abdullah Azzam" userId="f059aa071fd63225" providerId="LiveId" clId="{53F7CF5F-0879-47DE-BC68-EFCB0B141EFC}" dt="2026-01-20T15:48:49.337" v="2906" actId="20577"/>
          <ac:spMkLst>
            <pc:docMk/>
            <pc:sldMk cId="175217574" sldId="277"/>
            <ac:spMk id="36" creationId="{324E0EC0-6A26-79FF-E041-608287F70755}"/>
          </ac:spMkLst>
        </pc:spChg>
        <pc:picChg chg="del">
          <ac:chgData name="Abdullah Azzam" userId="f059aa071fd63225" providerId="LiveId" clId="{53F7CF5F-0879-47DE-BC68-EFCB0B141EFC}" dt="2026-01-20T15:40:56.601" v="2112" actId="478"/>
          <ac:picMkLst>
            <pc:docMk/>
            <pc:sldMk cId="175217574" sldId="277"/>
            <ac:picMk id="3" creationId="{B046D82C-7D46-AC79-54E4-A34C99C8712C}"/>
          </ac:picMkLst>
        </pc:picChg>
        <pc:picChg chg="add mod">
          <ac:chgData name="Abdullah Azzam" userId="f059aa071fd63225" providerId="LiveId" clId="{53F7CF5F-0879-47DE-BC68-EFCB0B141EFC}" dt="2026-01-20T15:41:07.775" v="2115" actId="208"/>
          <ac:picMkLst>
            <pc:docMk/>
            <pc:sldMk cId="175217574" sldId="277"/>
            <ac:picMk id="4" creationId="{D1F9ED9B-F7BC-1FA9-9877-14503DA5900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2D4F5-A1EA-4AEF-97E6-A14332C9314F}" type="datetimeFigureOut">
              <a:rPr lang="en-ID" smtClean="0"/>
              <a:t>21/01/2026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84A8B6-657F-4DC6-A48D-2DB100BBF8D9}" type="slidenum">
              <a:rPr lang="en-ID" smtClean="0"/>
              <a:t>‹#›</a:t>
            </a:fld>
            <a:endParaRPr lang="en-ID"/>
          </a:p>
        </p:txBody>
      </p:sp>
    </p:spTree>
    <p:extLst>
      <p:ext uri="{BB962C8B-B14F-4D97-AF65-F5344CB8AC3E}">
        <p14:creationId xmlns:p14="http://schemas.microsoft.com/office/powerpoint/2010/main" val="144527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76.13.17.200:3000/"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platform.openai.com/docs/models/text-embedding-3-small" TargetMode="External"/><Relationship Id="rId7" Type="http://schemas.openxmlformats.org/officeDocument/2006/relationships/image" Target="../media/image3.png"/><Relationship Id="rId2" Type="http://schemas.openxmlformats.org/officeDocument/2006/relationships/hyperlink" Target="https://go-kratos.dev/" TargetMode="External"/><Relationship Id="rId1" Type="http://schemas.openxmlformats.org/officeDocument/2006/relationships/slideLayout" Target="../slideLayouts/slideLayout7.xml"/><Relationship Id="rId6" Type="http://schemas.openxmlformats.org/officeDocument/2006/relationships/hyperlink" Target="https://chakra-ui.com/" TargetMode="External"/><Relationship Id="rId5" Type="http://schemas.openxmlformats.org/officeDocument/2006/relationships/hyperlink" Target="https://horizon-ui.com/" TargetMode="External"/><Relationship Id="rId4" Type="http://schemas.openxmlformats.org/officeDocument/2006/relationships/hyperlink" Target="https://docs.pytorch.org/docs/stable/generated/torch.nn.EmbeddingBag.html"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5.svg"/><Relationship Id="rId7" Type="http://schemas.openxmlformats.org/officeDocument/2006/relationships/image" Target="../media/image21.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1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5.svg"/><Relationship Id="rId7" Type="http://schemas.openxmlformats.org/officeDocument/2006/relationships/image" Target="../media/image27.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15.svg"/><Relationship Id="rId7" Type="http://schemas.openxmlformats.org/officeDocument/2006/relationships/image" Target="../media/image34.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7.svg"/><Relationship Id="rId7" Type="http://schemas.openxmlformats.org/officeDocument/2006/relationships/image" Target="../media/image41.sv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sv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3.svg"/><Relationship Id="rId7" Type="http://schemas.openxmlformats.org/officeDocument/2006/relationships/image" Target="../media/image45.sv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37.svg"/><Relationship Id="rId4" Type="http://schemas.openxmlformats.org/officeDocument/2006/relationships/image" Target="../media/image36.png"/><Relationship Id="rId9" Type="http://schemas.openxmlformats.org/officeDocument/2006/relationships/image" Target="../media/image47.svg"/></Relationships>
</file>

<file path=ppt/slides/_rels/slide21.xml.rels><?xml version="1.0" encoding="UTF-8" standalone="yes"?>
<Relationships xmlns="http://schemas.openxmlformats.org/package/2006/relationships"><Relationship Id="rId8" Type="http://schemas.openxmlformats.org/officeDocument/2006/relationships/image" Target="../media/image52.jpeg"/><Relationship Id="rId13" Type="http://schemas.openxmlformats.org/officeDocument/2006/relationships/image" Target="../media/image57.png"/><Relationship Id="rId3" Type="http://schemas.openxmlformats.org/officeDocument/2006/relationships/image" Target="../media/image15.svg"/><Relationship Id="rId7" Type="http://schemas.openxmlformats.org/officeDocument/2006/relationships/image" Target="../media/image51.jpeg"/><Relationship Id="rId12" Type="http://schemas.openxmlformats.org/officeDocument/2006/relationships/image" Target="../media/image56.sv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0.jpeg"/><Relationship Id="rId11" Type="http://schemas.openxmlformats.org/officeDocument/2006/relationships/image" Target="../media/image55.png"/><Relationship Id="rId5" Type="http://schemas.openxmlformats.org/officeDocument/2006/relationships/image" Target="../media/image49.svg"/><Relationship Id="rId10" Type="http://schemas.openxmlformats.org/officeDocument/2006/relationships/image" Target="../media/image54.jpeg"/><Relationship Id="rId4" Type="http://schemas.openxmlformats.org/officeDocument/2006/relationships/image" Target="../media/image48.png"/><Relationship Id="rId9" Type="http://schemas.openxmlformats.org/officeDocument/2006/relationships/image" Target="../media/image53.jpeg"/><Relationship Id="rId14" Type="http://schemas.openxmlformats.org/officeDocument/2006/relationships/image" Target="../media/image58.sv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60.svg"/><Relationship Id="rId7" Type="http://schemas.openxmlformats.org/officeDocument/2006/relationships/image" Target="../media/image64.sv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11" Type="http://schemas.openxmlformats.org/officeDocument/2006/relationships/image" Target="../media/image66.svg"/><Relationship Id="rId5" Type="http://schemas.openxmlformats.org/officeDocument/2006/relationships/image" Target="../media/image62.svg"/><Relationship Id="rId10" Type="http://schemas.openxmlformats.org/officeDocument/2006/relationships/image" Target="../media/image65.png"/><Relationship Id="rId4" Type="http://schemas.openxmlformats.org/officeDocument/2006/relationships/image" Target="../media/image61.png"/><Relationship Id="rId9" Type="http://schemas.openxmlformats.org/officeDocument/2006/relationships/image" Target="../media/image3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772763" y="4669872"/>
            <a:ext cx="12206151" cy="2120819"/>
          </a:xfrm>
          <a:custGeom>
            <a:avLst/>
            <a:gdLst/>
            <a:ahLst/>
            <a:cxnLst/>
            <a:rect l="l" t="t" r="r" b="b"/>
            <a:pathLst>
              <a:path w="12206151" h="2120819">
                <a:moveTo>
                  <a:pt x="0" y="0"/>
                </a:moveTo>
                <a:lnTo>
                  <a:pt x="12206151" y="0"/>
                </a:lnTo>
                <a:lnTo>
                  <a:pt x="12206151" y="2120819"/>
                </a:lnTo>
                <a:lnTo>
                  <a:pt x="0" y="2120819"/>
                </a:lnTo>
                <a:lnTo>
                  <a:pt x="0" y="0"/>
                </a:lnTo>
                <a:close/>
              </a:path>
            </a:pathLst>
          </a:custGeom>
          <a:blipFill>
            <a:blip r:embed="rId2"/>
            <a:stretch>
              <a:fillRect/>
            </a:stretch>
          </a:blipFill>
        </p:spPr>
        <p:txBody>
          <a:bodyPr/>
          <a:lstStyle/>
          <a:p>
            <a:endParaRPr lang="en-ID"/>
          </a:p>
        </p:txBody>
      </p:sp>
      <p:grpSp>
        <p:nvGrpSpPr>
          <p:cNvPr id="5" name="Group 5"/>
          <p:cNvGrpSpPr/>
          <p:nvPr/>
        </p:nvGrpSpPr>
        <p:grpSpPr>
          <a:xfrm>
            <a:off x="-772763" y="1028700"/>
            <a:ext cx="12206151" cy="5169700"/>
            <a:chOff x="0" y="0"/>
            <a:chExt cx="3214789" cy="1361567"/>
          </a:xfrm>
        </p:grpSpPr>
        <p:sp>
          <p:nvSpPr>
            <p:cNvPr id="6" name="Freeform 6"/>
            <p:cNvSpPr/>
            <p:nvPr/>
          </p:nvSpPr>
          <p:spPr>
            <a:xfrm>
              <a:off x="0" y="0"/>
              <a:ext cx="3214789" cy="1361567"/>
            </a:xfrm>
            <a:custGeom>
              <a:avLst/>
              <a:gdLst/>
              <a:ahLst/>
              <a:cxnLst/>
              <a:rect l="l" t="t" r="r" b="b"/>
              <a:pathLst>
                <a:path w="3214789" h="1361567">
                  <a:moveTo>
                    <a:pt x="0" y="0"/>
                  </a:moveTo>
                  <a:lnTo>
                    <a:pt x="3214789" y="0"/>
                  </a:lnTo>
                  <a:lnTo>
                    <a:pt x="3214789" y="1361567"/>
                  </a:lnTo>
                  <a:lnTo>
                    <a:pt x="0" y="1361567"/>
                  </a:lnTo>
                  <a:close/>
                </a:path>
              </a:pathLst>
            </a:custGeom>
            <a:solidFill>
              <a:schemeClr val="tx2">
                <a:lumMod val="40000"/>
                <a:lumOff val="60000"/>
              </a:schemeClr>
            </a:solidFill>
          </p:spPr>
          <p:txBody>
            <a:bodyPr/>
            <a:lstStyle/>
            <a:p>
              <a:endParaRPr lang="en-ID" dirty="0"/>
            </a:p>
          </p:txBody>
        </p:sp>
        <p:sp>
          <p:nvSpPr>
            <p:cNvPr id="7" name="TextBox 7"/>
            <p:cNvSpPr txBox="1"/>
            <p:nvPr/>
          </p:nvSpPr>
          <p:spPr>
            <a:xfrm>
              <a:off x="0" y="-57150"/>
              <a:ext cx="3214789" cy="1418717"/>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5052484" y="9015937"/>
            <a:ext cx="3556366" cy="617919"/>
          </a:xfrm>
          <a:custGeom>
            <a:avLst/>
            <a:gdLst/>
            <a:ahLst/>
            <a:cxnLst/>
            <a:rect l="l" t="t" r="r" b="b"/>
            <a:pathLst>
              <a:path w="3556366" h="617919">
                <a:moveTo>
                  <a:pt x="0" y="0"/>
                </a:moveTo>
                <a:lnTo>
                  <a:pt x="3556366" y="0"/>
                </a:lnTo>
                <a:lnTo>
                  <a:pt x="3556366" y="617918"/>
                </a:lnTo>
                <a:lnTo>
                  <a:pt x="0" y="617918"/>
                </a:lnTo>
                <a:lnTo>
                  <a:pt x="0" y="0"/>
                </a:lnTo>
                <a:close/>
              </a:path>
            </a:pathLst>
          </a:custGeom>
          <a:blipFill>
            <a:blip r:embed="rId2"/>
            <a:stretch>
              <a:fillRect/>
            </a:stretch>
          </a:blipFill>
        </p:spPr>
        <p:txBody>
          <a:bodyPr/>
          <a:lstStyle/>
          <a:p>
            <a:endParaRPr lang="en-ID"/>
          </a:p>
        </p:txBody>
      </p:sp>
      <p:grpSp>
        <p:nvGrpSpPr>
          <p:cNvPr id="9" name="Group 9"/>
          <p:cNvGrpSpPr/>
          <p:nvPr/>
        </p:nvGrpSpPr>
        <p:grpSpPr>
          <a:xfrm>
            <a:off x="15052484" y="7624994"/>
            <a:ext cx="4413632" cy="1795868"/>
            <a:chOff x="0" y="0"/>
            <a:chExt cx="293901" cy="119586"/>
          </a:xfrm>
        </p:grpSpPr>
        <p:sp>
          <p:nvSpPr>
            <p:cNvPr id="10" name="Freeform 10"/>
            <p:cNvSpPr/>
            <p:nvPr/>
          </p:nvSpPr>
          <p:spPr>
            <a:xfrm>
              <a:off x="0" y="0"/>
              <a:ext cx="293901" cy="119586"/>
            </a:xfrm>
            <a:custGeom>
              <a:avLst/>
              <a:gdLst/>
              <a:ahLst/>
              <a:cxnLst/>
              <a:rect l="l" t="t" r="r" b="b"/>
              <a:pathLst>
                <a:path w="293901" h="119586">
                  <a:moveTo>
                    <a:pt x="0" y="0"/>
                  </a:moveTo>
                  <a:lnTo>
                    <a:pt x="293901" y="0"/>
                  </a:lnTo>
                  <a:lnTo>
                    <a:pt x="293901" y="119586"/>
                  </a:lnTo>
                  <a:lnTo>
                    <a:pt x="0" y="119586"/>
                  </a:lnTo>
                  <a:close/>
                </a:path>
              </a:pathLst>
            </a:custGeom>
            <a:solidFill>
              <a:schemeClr val="tx2">
                <a:lumMod val="20000"/>
                <a:lumOff val="80000"/>
              </a:schemeClr>
            </a:solidFill>
            <a:ln>
              <a:solidFill>
                <a:schemeClr val="tx2">
                  <a:lumMod val="40000"/>
                  <a:lumOff val="60000"/>
                </a:schemeClr>
              </a:solidFill>
            </a:ln>
          </p:spPr>
          <p:txBody>
            <a:bodyPr/>
            <a:lstStyle/>
            <a:p>
              <a:endParaRPr lang="en-ID" dirty="0"/>
            </a:p>
          </p:txBody>
        </p:sp>
        <p:sp>
          <p:nvSpPr>
            <p:cNvPr id="11" name="TextBox 11"/>
            <p:cNvSpPr txBox="1"/>
            <p:nvPr/>
          </p:nvSpPr>
          <p:spPr>
            <a:xfrm>
              <a:off x="0" y="-57150"/>
              <a:ext cx="293901" cy="176736"/>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772763" y="9925307"/>
            <a:ext cx="19685815" cy="999195"/>
            <a:chOff x="0" y="0"/>
            <a:chExt cx="5184741" cy="263162"/>
          </a:xfrm>
        </p:grpSpPr>
        <p:sp>
          <p:nvSpPr>
            <p:cNvPr id="14" name="Freeform 14"/>
            <p:cNvSpPr/>
            <p:nvPr/>
          </p:nvSpPr>
          <p:spPr>
            <a:xfrm>
              <a:off x="0" y="0"/>
              <a:ext cx="5184742" cy="263162"/>
            </a:xfrm>
            <a:custGeom>
              <a:avLst/>
              <a:gdLst/>
              <a:ahLst/>
              <a:cxnLst/>
              <a:rect l="l" t="t" r="r" b="b"/>
              <a:pathLst>
                <a:path w="5184742" h="263162">
                  <a:moveTo>
                    <a:pt x="0" y="0"/>
                  </a:moveTo>
                  <a:lnTo>
                    <a:pt x="5184742" y="0"/>
                  </a:lnTo>
                  <a:lnTo>
                    <a:pt x="5184742" y="263162"/>
                  </a:lnTo>
                  <a:lnTo>
                    <a:pt x="0" y="263162"/>
                  </a:lnTo>
                  <a:close/>
                </a:path>
              </a:pathLst>
            </a:custGeom>
            <a:solidFill>
              <a:schemeClr val="tx2">
                <a:lumMod val="40000"/>
                <a:lumOff val="60000"/>
              </a:schemeClr>
            </a:solidFill>
          </p:spPr>
          <p:txBody>
            <a:bodyPr/>
            <a:lstStyle/>
            <a:p>
              <a:endParaRPr lang="en-ID" dirty="0"/>
            </a:p>
          </p:txBody>
        </p:sp>
        <p:sp>
          <p:nvSpPr>
            <p:cNvPr id="15" name="TextBox 15"/>
            <p:cNvSpPr txBox="1"/>
            <p:nvPr/>
          </p:nvSpPr>
          <p:spPr>
            <a:xfrm>
              <a:off x="0" y="-57150"/>
              <a:ext cx="5184741" cy="320312"/>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1028700" y="6990944"/>
            <a:ext cx="140223" cy="1686052"/>
            <a:chOff x="0" y="0"/>
            <a:chExt cx="36931" cy="444063"/>
          </a:xfrm>
        </p:grpSpPr>
        <p:sp>
          <p:nvSpPr>
            <p:cNvPr id="17" name="Freeform 17"/>
            <p:cNvSpPr/>
            <p:nvPr/>
          </p:nvSpPr>
          <p:spPr>
            <a:xfrm>
              <a:off x="0" y="0"/>
              <a:ext cx="36931" cy="444063"/>
            </a:xfrm>
            <a:custGeom>
              <a:avLst/>
              <a:gdLst/>
              <a:ahLst/>
              <a:cxnLst/>
              <a:rect l="l" t="t" r="r" b="b"/>
              <a:pathLst>
                <a:path w="36931" h="444063">
                  <a:moveTo>
                    <a:pt x="0" y="0"/>
                  </a:moveTo>
                  <a:lnTo>
                    <a:pt x="36931" y="0"/>
                  </a:lnTo>
                  <a:lnTo>
                    <a:pt x="36931" y="444063"/>
                  </a:lnTo>
                  <a:lnTo>
                    <a:pt x="0" y="444063"/>
                  </a:lnTo>
                  <a:close/>
                </a:path>
              </a:pathLst>
            </a:custGeom>
            <a:solidFill>
              <a:schemeClr val="tx2">
                <a:lumMod val="40000"/>
                <a:lumOff val="60000"/>
              </a:schemeClr>
            </a:solidFill>
          </p:spPr>
          <p:txBody>
            <a:bodyPr/>
            <a:lstStyle/>
            <a:p>
              <a:endParaRPr lang="en-ID"/>
            </a:p>
          </p:txBody>
        </p:sp>
        <p:sp>
          <p:nvSpPr>
            <p:cNvPr id="18" name="TextBox 18"/>
            <p:cNvSpPr txBox="1"/>
            <p:nvPr/>
          </p:nvSpPr>
          <p:spPr>
            <a:xfrm>
              <a:off x="0" y="-57150"/>
              <a:ext cx="36931" cy="501213"/>
            </a:xfrm>
            <a:prstGeom prst="rect">
              <a:avLst/>
            </a:prstGeom>
          </p:spPr>
          <p:txBody>
            <a:bodyPr lIns="50800" tIns="50800" rIns="50800" bIns="50800" rtlCol="0" anchor="ctr"/>
            <a:lstStyle/>
            <a:p>
              <a:pPr algn="ctr">
                <a:lnSpc>
                  <a:spcPts val="2659"/>
                </a:lnSpc>
                <a:spcBef>
                  <a:spcPct val="0"/>
                </a:spcBef>
              </a:pPr>
              <a:endParaRPr/>
            </a:p>
          </p:txBody>
        </p:sp>
      </p:grpSp>
      <p:grpSp>
        <p:nvGrpSpPr>
          <p:cNvPr id="19" name="Group 19"/>
          <p:cNvGrpSpPr/>
          <p:nvPr/>
        </p:nvGrpSpPr>
        <p:grpSpPr>
          <a:xfrm>
            <a:off x="1028700" y="8248242"/>
            <a:ext cx="140223" cy="428754"/>
            <a:chOff x="0" y="0"/>
            <a:chExt cx="36931" cy="112923"/>
          </a:xfrm>
        </p:grpSpPr>
        <p:sp>
          <p:nvSpPr>
            <p:cNvPr id="20" name="Freeform 20"/>
            <p:cNvSpPr/>
            <p:nvPr/>
          </p:nvSpPr>
          <p:spPr>
            <a:xfrm>
              <a:off x="0" y="0"/>
              <a:ext cx="36931" cy="112923"/>
            </a:xfrm>
            <a:custGeom>
              <a:avLst/>
              <a:gdLst/>
              <a:ahLst/>
              <a:cxnLst/>
              <a:rect l="l" t="t" r="r" b="b"/>
              <a:pathLst>
                <a:path w="36931" h="112923">
                  <a:moveTo>
                    <a:pt x="0" y="0"/>
                  </a:moveTo>
                  <a:lnTo>
                    <a:pt x="36931" y="0"/>
                  </a:lnTo>
                  <a:lnTo>
                    <a:pt x="36931" y="112923"/>
                  </a:lnTo>
                  <a:lnTo>
                    <a:pt x="0" y="112923"/>
                  </a:lnTo>
                  <a:close/>
                </a:path>
              </a:pathLst>
            </a:custGeom>
            <a:solidFill>
              <a:schemeClr val="tx2">
                <a:lumMod val="75000"/>
              </a:schemeClr>
            </a:solidFill>
          </p:spPr>
          <p:txBody>
            <a:bodyPr/>
            <a:lstStyle/>
            <a:p>
              <a:endParaRPr lang="en-ID" dirty="0"/>
            </a:p>
          </p:txBody>
        </p:sp>
        <p:sp>
          <p:nvSpPr>
            <p:cNvPr id="21" name="TextBox 21"/>
            <p:cNvSpPr txBox="1"/>
            <p:nvPr/>
          </p:nvSpPr>
          <p:spPr>
            <a:xfrm>
              <a:off x="0" y="-57150"/>
              <a:ext cx="36931" cy="170073"/>
            </a:xfrm>
            <a:prstGeom prst="rect">
              <a:avLst/>
            </a:prstGeom>
          </p:spPr>
          <p:txBody>
            <a:bodyPr lIns="50800" tIns="50800" rIns="50800" bIns="50800" rtlCol="0" anchor="ctr"/>
            <a:lstStyle/>
            <a:p>
              <a:pPr algn="ctr">
                <a:lnSpc>
                  <a:spcPts val="2659"/>
                </a:lnSpc>
                <a:spcBef>
                  <a:spcPct val="0"/>
                </a:spcBef>
              </a:pPr>
              <a:endParaRPr/>
            </a:p>
          </p:txBody>
        </p:sp>
      </p:grpSp>
      <p:grpSp>
        <p:nvGrpSpPr>
          <p:cNvPr id="22" name="Group 22"/>
          <p:cNvGrpSpPr/>
          <p:nvPr/>
        </p:nvGrpSpPr>
        <p:grpSpPr>
          <a:xfrm>
            <a:off x="457200" y="457200"/>
            <a:ext cx="1143000" cy="1143000"/>
            <a:chOff x="0" y="0"/>
            <a:chExt cx="76112" cy="76112"/>
          </a:xfrm>
          <a:solidFill>
            <a:schemeClr val="tx2">
              <a:lumMod val="60000"/>
              <a:lumOff val="40000"/>
            </a:schemeClr>
          </a:solidFill>
        </p:grpSpPr>
        <p:sp>
          <p:nvSpPr>
            <p:cNvPr id="23" name="Freeform 23"/>
            <p:cNvSpPr/>
            <p:nvPr/>
          </p:nvSpPr>
          <p:spPr>
            <a:xfrm>
              <a:off x="0" y="0"/>
              <a:ext cx="76112" cy="76112"/>
            </a:xfrm>
            <a:custGeom>
              <a:avLst/>
              <a:gdLst/>
              <a:ahLst/>
              <a:cxnLst/>
              <a:rect l="l" t="t" r="r" b="b"/>
              <a:pathLst>
                <a:path w="76112" h="76112">
                  <a:moveTo>
                    <a:pt x="0" y="0"/>
                  </a:moveTo>
                  <a:lnTo>
                    <a:pt x="76112" y="0"/>
                  </a:lnTo>
                  <a:lnTo>
                    <a:pt x="76112" y="76112"/>
                  </a:lnTo>
                  <a:lnTo>
                    <a:pt x="0" y="76112"/>
                  </a:lnTo>
                  <a:close/>
                </a:path>
              </a:pathLst>
            </a:custGeom>
            <a:grpFill/>
          </p:spPr>
          <p:txBody>
            <a:bodyPr/>
            <a:lstStyle/>
            <a:p>
              <a:endParaRPr lang="en-ID"/>
            </a:p>
          </p:txBody>
        </p:sp>
        <p:sp>
          <p:nvSpPr>
            <p:cNvPr id="24" name="TextBox 24"/>
            <p:cNvSpPr txBox="1"/>
            <p:nvPr/>
          </p:nvSpPr>
          <p:spPr>
            <a:xfrm>
              <a:off x="0" y="-57150"/>
              <a:ext cx="76112" cy="133262"/>
            </a:xfrm>
            <a:prstGeom prst="rect">
              <a:avLst/>
            </a:prstGeom>
            <a:grpFill/>
          </p:spPr>
          <p:txBody>
            <a:bodyPr lIns="50800" tIns="50800" rIns="50800" bIns="50800" rtlCol="0" anchor="ctr"/>
            <a:lstStyle/>
            <a:p>
              <a:pPr algn="ctr">
                <a:lnSpc>
                  <a:spcPts val="2659"/>
                </a:lnSpc>
                <a:spcBef>
                  <a:spcPct val="0"/>
                </a:spcBef>
              </a:pPr>
              <a:endParaRPr/>
            </a:p>
          </p:txBody>
        </p:sp>
      </p:grpSp>
      <p:sp>
        <p:nvSpPr>
          <p:cNvPr id="28" name="TextBox 28"/>
          <p:cNvSpPr txBox="1"/>
          <p:nvPr/>
        </p:nvSpPr>
        <p:spPr>
          <a:xfrm>
            <a:off x="15703749" y="8753534"/>
            <a:ext cx="1746051" cy="276166"/>
          </a:xfrm>
          <a:prstGeom prst="rect">
            <a:avLst/>
          </a:prstGeom>
        </p:spPr>
        <p:txBody>
          <a:bodyPr lIns="0" tIns="0" rIns="0" bIns="0" rtlCol="0" anchor="t">
            <a:spAutoFit/>
          </a:bodyPr>
          <a:lstStyle/>
          <a:p>
            <a:pPr algn="ctr">
              <a:lnSpc>
                <a:spcPts val="1842"/>
              </a:lnSpc>
            </a:pPr>
            <a:r>
              <a:rPr lang="en-US" sz="2800" spc="221" dirty="0">
                <a:solidFill>
                  <a:srgbClr val="343434"/>
                </a:solidFill>
                <a:latin typeface="Coco Gothic Bold"/>
                <a:ea typeface="Coco Gothic Bold"/>
                <a:cs typeface="Coco Gothic Bold"/>
                <a:sym typeface="Coco Gothic Bold"/>
              </a:rPr>
              <a:t>Yinni</a:t>
            </a:r>
          </a:p>
        </p:txBody>
      </p:sp>
      <p:sp>
        <p:nvSpPr>
          <p:cNvPr id="29" name="TextBox 29"/>
          <p:cNvSpPr txBox="1"/>
          <p:nvPr/>
        </p:nvSpPr>
        <p:spPr>
          <a:xfrm>
            <a:off x="1258393" y="2491838"/>
            <a:ext cx="9697865" cy="1373838"/>
          </a:xfrm>
          <a:prstGeom prst="rect">
            <a:avLst/>
          </a:prstGeom>
        </p:spPr>
        <p:txBody>
          <a:bodyPr lIns="0" tIns="0" rIns="0" bIns="0" rtlCol="0" anchor="t">
            <a:spAutoFit/>
          </a:bodyPr>
          <a:lstStyle/>
          <a:p>
            <a:pPr algn="l">
              <a:lnSpc>
                <a:spcPts val="10545"/>
              </a:lnSpc>
            </a:pPr>
            <a:r>
              <a:rPr lang="en-US" sz="9500" b="1" spc="1482" dirty="0">
                <a:solidFill>
                  <a:srgbClr val="FFFFFF"/>
                </a:solidFill>
                <a:latin typeface="Coco Gothic Heavy"/>
                <a:ea typeface="Coco Gothic Heavy"/>
                <a:cs typeface="Coco Gothic Heavy"/>
                <a:sym typeface="Coco Gothic Heavy"/>
              </a:rPr>
              <a:t>Yinni</a:t>
            </a:r>
            <a:endParaRPr lang="en-US" sz="5400" b="1" spc="1482" dirty="0">
              <a:solidFill>
                <a:srgbClr val="FFFFFF"/>
              </a:solidFill>
              <a:latin typeface="Coco Gothic Heavy"/>
              <a:ea typeface="Coco Gothic Heavy"/>
              <a:cs typeface="Coco Gothic Heavy"/>
              <a:sym typeface="Coco Gothic Heavy"/>
            </a:endParaRPr>
          </a:p>
        </p:txBody>
      </p:sp>
      <p:sp>
        <p:nvSpPr>
          <p:cNvPr id="30" name="TextBox 30"/>
          <p:cNvSpPr txBox="1"/>
          <p:nvPr/>
        </p:nvSpPr>
        <p:spPr>
          <a:xfrm>
            <a:off x="1258392" y="1745261"/>
            <a:ext cx="11848007" cy="603691"/>
          </a:xfrm>
          <a:prstGeom prst="rect">
            <a:avLst/>
          </a:prstGeom>
        </p:spPr>
        <p:txBody>
          <a:bodyPr wrap="square" lIns="0" tIns="0" rIns="0" bIns="0" rtlCol="0" anchor="t">
            <a:spAutoFit/>
          </a:bodyPr>
          <a:lstStyle/>
          <a:p>
            <a:pPr algn="l">
              <a:lnSpc>
                <a:spcPts val="4642"/>
              </a:lnSpc>
            </a:pPr>
            <a:r>
              <a:rPr lang="en-US" sz="4642" dirty="0">
                <a:solidFill>
                  <a:srgbClr val="FFFFFF"/>
                </a:solidFill>
                <a:latin typeface="Coco Gothic"/>
                <a:ea typeface="Coco Gothic"/>
                <a:cs typeface="Coco Gothic"/>
                <a:sym typeface="Coco Gothic"/>
              </a:rPr>
              <a:t>Application Proposal </a:t>
            </a:r>
          </a:p>
        </p:txBody>
      </p:sp>
      <p:sp>
        <p:nvSpPr>
          <p:cNvPr id="31" name="TextBox 31"/>
          <p:cNvSpPr txBox="1"/>
          <p:nvPr/>
        </p:nvSpPr>
        <p:spPr>
          <a:xfrm>
            <a:off x="1258393" y="6988326"/>
            <a:ext cx="3799679" cy="383695"/>
          </a:xfrm>
          <a:prstGeom prst="rect">
            <a:avLst/>
          </a:prstGeom>
        </p:spPr>
        <p:txBody>
          <a:bodyPr lIns="0" tIns="0" rIns="0" bIns="0" rtlCol="0" anchor="t">
            <a:spAutoFit/>
          </a:bodyPr>
          <a:lstStyle/>
          <a:p>
            <a:pPr algn="l">
              <a:lnSpc>
                <a:spcPts val="2919"/>
              </a:lnSpc>
            </a:pPr>
            <a:r>
              <a:rPr lang="en-US" sz="2919" b="1" dirty="0">
                <a:solidFill>
                  <a:srgbClr val="343434"/>
                </a:solidFill>
                <a:latin typeface="Poppins Bold"/>
                <a:ea typeface="Poppins Bold"/>
                <a:cs typeface="Poppins Bold"/>
                <a:sym typeface="Poppins Bold"/>
              </a:rPr>
              <a:t>Abdullah Azzam</a:t>
            </a:r>
          </a:p>
        </p:txBody>
      </p:sp>
      <p:sp>
        <p:nvSpPr>
          <p:cNvPr id="35" name="TextBox 35"/>
          <p:cNvSpPr txBox="1"/>
          <p:nvPr/>
        </p:nvSpPr>
        <p:spPr>
          <a:xfrm>
            <a:off x="1283620" y="7429500"/>
            <a:ext cx="1383380" cy="383695"/>
          </a:xfrm>
          <a:prstGeom prst="rect">
            <a:avLst/>
          </a:prstGeom>
        </p:spPr>
        <p:txBody>
          <a:bodyPr lIns="0" tIns="0" rIns="0" bIns="0" rtlCol="0" anchor="t">
            <a:spAutoFit/>
          </a:bodyPr>
          <a:lstStyle/>
          <a:p>
            <a:pPr algn="l">
              <a:lnSpc>
                <a:spcPts val="2919"/>
              </a:lnSpc>
            </a:pPr>
            <a:r>
              <a:rPr lang="en-US" sz="2919" b="1" dirty="0">
                <a:solidFill>
                  <a:srgbClr val="343434"/>
                </a:solidFill>
                <a:latin typeface="Poppins Bold"/>
                <a:ea typeface="Poppins Bold"/>
                <a:cs typeface="Poppins Bold"/>
                <a:sym typeface="Poppins Bold"/>
              </a:rPr>
              <a:t>2026</a:t>
            </a:r>
          </a:p>
        </p:txBody>
      </p:sp>
      <p:sp>
        <p:nvSpPr>
          <p:cNvPr id="36" name="TextBox 29">
            <a:extLst>
              <a:ext uri="{FF2B5EF4-FFF2-40B4-BE49-F238E27FC236}">
                <a16:creationId xmlns:a16="http://schemas.microsoft.com/office/drawing/2014/main" id="{5D147116-3D13-A246-A5B0-52C620ED5005}"/>
              </a:ext>
            </a:extLst>
          </p:cNvPr>
          <p:cNvSpPr txBox="1"/>
          <p:nvPr/>
        </p:nvSpPr>
        <p:spPr>
          <a:xfrm>
            <a:off x="1411739" y="3326879"/>
            <a:ext cx="11694660" cy="1147815"/>
          </a:xfrm>
          <a:prstGeom prst="rect">
            <a:avLst/>
          </a:prstGeom>
        </p:spPr>
        <p:txBody>
          <a:bodyPr wrap="square" lIns="0" tIns="0" rIns="0" bIns="0" rtlCol="0" anchor="t">
            <a:spAutoFit/>
          </a:bodyPr>
          <a:lstStyle/>
          <a:p>
            <a:pPr algn="l">
              <a:lnSpc>
                <a:spcPts val="10545"/>
              </a:lnSpc>
            </a:pPr>
            <a:r>
              <a:rPr lang="en-US" sz="3600" b="1" spc="1482" dirty="0">
                <a:solidFill>
                  <a:srgbClr val="FFFFFF"/>
                </a:solidFill>
                <a:latin typeface="Coco Gothic Heavy"/>
                <a:ea typeface="Coco Gothic Heavy"/>
                <a:cs typeface="Coco Gothic Heavy"/>
                <a:sym typeface="Coco Gothic Heavy"/>
              </a:rPr>
              <a:t>AI-Assisted Shopping</a:t>
            </a:r>
          </a:p>
        </p:txBody>
      </p:sp>
      <p:sp>
        <p:nvSpPr>
          <p:cNvPr id="37" name="TextBox 29">
            <a:extLst>
              <a:ext uri="{FF2B5EF4-FFF2-40B4-BE49-F238E27FC236}">
                <a16:creationId xmlns:a16="http://schemas.microsoft.com/office/drawing/2014/main" id="{C93ECF08-FFD2-AF67-6F17-AA4CD1DB661D}"/>
              </a:ext>
            </a:extLst>
          </p:cNvPr>
          <p:cNvSpPr txBox="1"/>
          <p:nvPr/>
        </p:nvSpPr>
        <p:spPr>
          <a:xfrm>
            <a:off x="1335540" y="4224285"/>
            <a:ext cx="11694660" cy="1147815"/>
          </a:xfrm>
          <a:prstGeom prst="rect">
            <a:avLst/>
          </a:prstGeom>
        </p:spPr>
        <p:txBody>
          <a:bodyPr wrap="square" lIns="0" tIns="0" rIns="0" bIns="0" rtlCol="0" anchor="t">
            <a:spAutoFit/>
          </a:bodyPr>
          <a:lstStyle/>
          <a:p>
            <a:pPr algn="l">
              <a:lnSpc>
                <a:spcPts val="10545"/>
              </a:lnSpc>
            </a:pPr>
            <a:endParaRPr lang="en-US" sz="3600" b="1" spc="1482" dirty="0">
              <a:solidFill>
                <a:srgbClr val="FFFFFF"/>
              </a:solidFill>
              <a:latin typeface="Coco Gothic Heavy"/>
              <a:ea typeface="Coco Gothic Heavy"/>
              <a:cs typeface="Coco Gothic Heavy"/>
              <a:sym typeface="Coco Gothic Heavy"/>
            </a:endParaRPr>
          </a:p>
        </p:txBody>
      </p:sp>
      <p:pic>
        <p:nvPicPr>
          <p:cNvPr id="42" name="Picture 41">
            <a:extLst>
              <a:ext uri="{FF2B5EF4-FFF2-40B4-BE49-F238E27FC236}">
                <a16:creationId xmlns:a16="http://schemas.microsoft.com/office/drawing/2014/main" id="{6EBB4C46-E8F6-0957-3190-FC9C413E00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79219" y="7581900"/>
            <a:ext cx="1165781" cy="1165781"/>
          </a:xfrm>
          <a:prstGeom prst="rect">
            <a:avLst/>
          </a:prstGeom>
        </p:spPr>
      </p:pic>
      <p:sp>
        <p:nvSpPr>
          <p:cNvPr id="43" name="TextBox 28">
            <a:extLst>
              <a:ext uri="{FF2B5EF4-FFF2-40B4-BE49-F238E27FC236}">
                <a16:creationId xmlns:a16="http://schemas.microsoft.com/office/drawing/2014/main" id="{9CBA6FEC-550D-5722-D76F-3057CB4D0BB8}"/>
              </a:ext>
            </a:extLst>
          </p:cNvPr>
          <p:cNvSpPr txBox="1"/>
          <p:nvPr/>
        </p:nvSpPr>
        <p:spPr>
          <a:xfrm>
            <a:off x="15440033" y="8957423"/>
            <a:ext cx="2390767" cy="224677"/>
          </a:xfrm>
          <a:prstGeom prst="rect">
            <a:avLst/>
          </a:prstGeom>
        </p:spPr>
        <p:txBody>
          <a:bodyPr wrap="square" lIns="0" tIns="0" rIns="0" bIns="0" rtlCol="0" anchor="t">
            <a:spAutoFit/>
          </a:bodyPr>
          <a:lstStyle/>
          <a:p>
            <a:pPr algn="ctr">
              <a:lnSpc>
                <a:spcPts val="1842"/>
              </a:lnSpc>
            </a:pPr>
            <a:r>
              <a:rPr lang="en-US" sz="1400" spc="221" dirty="0">
                <a:solidFill>
                  <a:srgbClr val="343434"/>
                </a:solidFill>
                <a:latin typeface="Coco Gothic Bold"/>
                <a:ea typeface="Coco Gothic Bold"/>
                <a:cs typeface="Coco Gothic Bold"/>
                <a:sym typeface="Coco Gothic Bold"/>
              </a:rPr>
              <a:t>AI-Assisted Shopping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4" name="TextBox 4"/>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grpSp>
        <p:nvGrpSpPr>
          <p:cNvPr id="5" name="Group 5"/>
          <p:cNvGrpSpPr/>
          <p:nvPr/>
        </p:nvGrpSpPr>
        <p:grpSpPr>
          <a:xfrm>
            <a:off x="-772763" y="9925307"/>
            <a:ext cx="19685815" cy="895359"/>
            <a:chOff x="0" y="0"/>
            <a:chExt cx="5184741" cy="235815"/>
          </a:xfrm>
        </p:grpSpPr>
        <p:sp>
          <p:nvSpPr>
            <p:cNvPr id="6" name="Freeform 6"/>
            <p:cNvSpPr/>
            <p:nvPr/>
          </p:nvSpPr>
          <p:spPr>
            <a:xfrm>
              <a:off x="0" y="0"/>
              <a:ext cx="5184742" cy="235815"/>
            </a:xfrm>
            <a:custGeom>
              <a:avLst/>
              <a:gdLst/>
              <a:ahLst/>
              <a:cxnLst/>
              <a:rect l="l" t="t" r="r" b="b"/>
              <a:pathLst>
                <a:path w="5184742" h="235815">
                  <a:moveTo>
                    <a:pt x="0" y="0"/>
                  </a:moveTo>
                  <a:lnTo>
                    <a:pt x="5184742" y="0"/>
                  </a:lnTo>
                  <a:lnTo>
                    <a:pt x="5184742" y="235815"/>
                  </a:lnTo>
                  <a:lnTo>
                    <a:pt x="0" y="235815"/>
                  </a:lnTo>
                  <a:close/>
                </a:path>
              </a:pathLst>
            </a:custGeom>
            <a:solidFill>
              <a:schemeClr val="tx2">
                <a:lumMod val="40000"/>
                <a:lumOff val="60000"/>
              </a:schemeClr>
            </a:solidFill>
          </p:spPr>
          <p:txBody>
            <a:bodyPr/>
            <a:lstStyle/>
            <a:p>
              <a:endParaRPr lang="en-ID" dirty="0"/>
            </a:p>
          </p:txBody>
        </p:sp>
        <p:sp>
          <p:nvSpPr>
            <p:cNvPr id="7" name="TextBox 7"/>
            <p:cNvSpPr txBox="1"/>
            <p:nvPr/>
          </p:nvSpPr>
          <p:spPr>
            <a:xfrm>
              <a:off x="0" y="-57150"/>
              <a:ext cx="5184741" cy="29296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98908" y="-503821"/>
            <a:ext cx="19685815" cy="865513"/>
            <a:chOff x="0" y="0"/>
            <a:chExt cx="5184741" cy="227954"/>
          </a:xfrm>
        </p:grpSpPr>
        <p:sp>
          <p:nvSpPr>
            <p:cNvPr id="9" name="Freeform 9"/>
            <p:cNvSpPr/>
            <p:nvPr/>
          </p:nvSpPr>
          <p:spPr>
            <a:xfrm>
              <a:off x="0" y="0"/>
              <a:ext cx="5184742" cy="227954"/>
            </a:xfrm>
            <a:custGeom>
              <a:avLst/>
              <a:gdLst/>
              <a:ahLst/>
              <a:cxnLst/>
              <a:rect l="l" t="t" r="r" b="b"/>
              <a:pathLst>
                <a:path w="5184742" h="227954">
                  <a:moveTo>
                    <a:pt x="0" y="0"/>
                  </a:moveTo>
                  <a:lnTo>
                    <a:pt x="5184742" y="0"/>
                  </a:lnTo>
                  <a:lnTo>
                    <a:pt x="5184742" y="227954"/>
                  </a:lnTo>
                  <a:lnTo>
                    <a:pt x="0" y="227954"/>
                  </a:lnTo>
                  <a:close/>
                </a:path>
              </a:pathLst>
            </a:custGeom>
            <a:solidFill>
              <a:schemeClr val="tx2">
                <a:lumMod val="20000"/>
                <a:lumOff val="80000"/>
              </a:schemeClr>
            </a:solidFill>
          </p:spPr>
          <p:txBody>
            <a:bodyPr/>
            <a:lstStyle/>
            <a:p>
              <a:endParaRPr lang="en-ID" dirty="0"/>
            </a:p>
          </p:txBody>
        </p:sp>
        <p:sp>
          <p:nvSpPr>
            <p:cNvPr id="10" name="TextBox 10"/>
            <p:cNvSpPr txBox="1"/>
            <p:nvPr/>
          </p:nvSpPr>
          <p:spPr>
            <a:xfrm>
              <a:off x="0" y="-57150"/>
              <a:ext cx="5184741" cy="285104"/>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7974528" y="1731963"/>
            <a:ext cx="8681582" cy="2495555"/>
          </a:xfrm>
          <a:prstGeom prst="rect">
            <a:avLst/>
          </a:prstGeom>
        </p:spPr>
        <p:txBody>
          <a:bodyPr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We have seen that E-Commerce Service retain its position as an irreplaceable service in modern industry. Even in the middle of rapid development of AI. Shopping need is universal and eternal need for people. The idea to compete with is definitely a bad idea. But, what if we can build a better service on top of it. Indeed, we can build a service that is constructed not to compete with E-Commerce, but to augment it with the power of AI. Here is Yinni coming for you. </a:t>
            </a:r>
          </a:p>
        </p:txBody>
      </p:sp>
      <p:sp>
        <p:nvSpPr>
          <p:cNvPr id="19" name="TextBox 19"/>
          <p:cNvSpPr txBox="1"/>
          <p:nvPr/>
        </p:nvSpPr>
        <p:spPr>
          <a:xfrm>
            <a:off x="1488903" y="4280535"/>
            <a:ext cx="5628062" cy="874278"/>
          </a:xfrm>
          <a:prstGeom prst="rect">
            <a:avLst/>
          </a:prstGeom>
        </p:spPr>
        <p:txBody>
          <a:bodyPr lIns="0" tIns="0" rIns="0" bIns="0" rtlCol="0" anchor="t">
            <a:spAutoFit/>
          </a:bodyPr>
          <a:lstStyle/>
          <a:p>
            <a:pPr algn="l">
              <a:lnSpc>
                <a:spcPts val="6660"/>
              </a:lnSpc>
            </a:pPr>
            <a:r>
              <a:rPr lang="en-US" sz="6000" b="1" dirty="0">
                <a:solidFill>
                  <a:srgbClr val="343434"/>
                </a:solidFill>
                <a:latin typeface="Coco Gothic Heavy"/>
                <a:ea typeface="Coco Gothic Heavy"/>
                <a:cs typeface="Coco Gothic Heavy"/>
                <a:sym typeface="Coco Gothic Heavy"/>
              </a:rPr>
              <a:t>Motivation</a:t>
            </a:r>
          </a:p>
        </p:txBody>
      </p:sp>
      <p:sp>
        <p:nvSpPr>
          <p:cNvPr id="20" name="TextBox 20"/>
          <p:cNvSpPr txBox="1"/>
          <p:nvPr/>
        </p:nvSpPr>
        <p:spPr>
          <a:xfrm>
            <a:off x="7974528" y="5214938"/>
            <a:ext cx="8681582" cy="2495555"/>
          </a:xfrm>
          <a:prstGeom prst="rect">
            <a:avLst/>
          </a:prstGeom>
        </p:spPr>
        <p:txBody>
          <a:bodyPr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Yinni is an AI-Assisted Shopping service built for people who want to use prompting for all shopping activity, including browsing, choosing, and purchasing. No more confusion of using the E-Commerce application interface with a lot of unfamiliar customization. Just say what do you want to do, and we will do it for you. Yinni is a robust and logical solution for E-Commerce activity problem perfectly leveraging the power of AI.</a:t>
            </a:r>
          </a:p>
        </p:txBody>
      </p:sp>
      <p:pic>
        <p:nvPicPr>
          <p:cNvPr id="21" name="Picture 20">
            <a:extLst>
              <a:ext uri="{FF2B5EF4-FFF2-40B4-BE49-F238E27FC236}">
                <a16:creationId xmlns:a16="http://schemas.microsoft.com/office/drawing/2014/main" id="{2D894920-C0FF-196D-A067-36B3679441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grpSp>
        <p:nvGrpSpPr>
          <p:cNvPr id="2" name="Group 17">
            <a:extLst>
              <a:ext uri="{FF2B5EF4-FFF2-40B4-BE49-F238E27FC236}">
                <a16:creationId xmlns:a16="http://schemas.microsoft.com/office/drawing/2014/main" id="{83447C2F-9299-6832-136A-E38B6BFF4F43}"/>
              </a:ext>
            </a:extLst>
          </p:cNvPr>
          <p:cNvGrpSpPr/>
          <p:nvPr/>
        </p:nvGrpSpPr>
        <p:grpSpPr>
          <a:xfrm>
            <a:off x="13335000" y="9253126"/>
            <a:ext cx="3918346" cy="670011"/>
            <a:chOff x="0" y="-66675"/>
            <a:chExt cx="4327267" cy="893347"/>
          </a:xfrm>
        </p:grpSpPr>
        <p:sp>
          <p:nvSpPr>
            <p:cNvPr id="15" name="TextBox 18">
              <a:extLst>
                <a:ext uri="{FF2B5EF4-FFF2-40B4-BE49-F238E27FC236}">
                  <a16:creationId xmlns:a16="http://schemas.microsoft.com/office/drawing/2014/main" id="{505B9193-2F67-4DA7-4E75-171B1DAD6C83}"/>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6" name="TextBox 19">
              <a:extLst>
                <a:ext uri="{FF2B5EF4-FFF2-40B4-BE49-F238E27FC236}">
                  <a16:creationId xmlns:a16="http://schemas.microsoft.com/office/drawing/2014/main" id="{753CB50E-6F70-A95C-9EE1-0A39A6906050}"/>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02</a:t>
              </a:r>
            </a:p>
          </p:txBody>
        </p:sp>
        <p:sp>
          <p:nvSpPr>
            <p:cNvPr id="17" name="AutoShape 20">
              <a:extLst>
                <a:ext uri="{FF2B5EF4-FFF2-40B4-BE49-F238E27FC236}">
                  <a16:creationId xmlns:a16="http://schemas.microsoft.com/office/drawing/2014/main" id="{2D0E67BB-F61A-B1F8-430A-FC53CFCB9A1A}"/>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72763" y="9925307"/>
            <a:ext cx="19685815" cy="800916"/>
            <a:chOff x="0" y="0"/>
            <a:chExt cx="5184741" cy="210941"/>
          </a:xfrm>
        </p:grpSpPr>
        <p:sp>
          <p:nvSpPr>
            <p:cNvPr id="6" name="Freeform 6"/>
            <p:cNvSpPr/>
            <p:nvPr/>
          </p:nvSpPr>
          <p:spPr>
            <a:xfrm>
              <a:off x="0" y="0"/>
              <a:ext cx="5184742" cy="210941"/>
            </a:xfrm>
            <a:custGeom>
              <a:avLst/>
              <a:gdLst/>
              <a:ahLst/>
              <a:cxnLst/>
              <a:rect l="l" t="t" r="r" b="b"/>
              <a:pathLst>
                <a:path w="5184742" h="210941">
                  <a:moveTo>
                    <a:pt x="0" y="0"/>
                  </a:moveTo>
                  <a:lnTo>
                    <a:pt x="5184742" y="0"/>
                  </a:lnTo>
                  <a:lnTo>
                    <a:pt x="5184742" y="210941"/>
                  </a:lnTo>
                  <a:lnTo>
                    <a:pt x="0" y="210941"/>
                  </a:lnTo>
                  <a:close/>
                </a:path>
              </a:pathLst>
            </a:custGeom>
            <a:solidFill>
              <a:schemeClr val="tx2">
                <a:lumMod val="40000"/>
                <a:lumOff val="60000"/>
              </a:schemeClr>
            </a:solidFill>
          </p:spPr>
          <p:txBody>
            <a:bodyPr/>
            <a:lstStyle/>
            <a:p>
              <a:endParaRPr lang="en-ID" dirty="0"/>
            </a:p>
          </p:txBody>
        </p:sp>
        <p:sp>
          <p:nvSpPr>
            <p:cNvPr id="7" name="TextBox 7"/>
            <p:cNvSpPr txBox="1"/>
            <p:nvPr/>
          </p:nvSpPr>
          <p:spPr>
            <a:xfrm>
              <a:off x="0" y="-57150"/>
              <a:ext cx="5184741" cy="268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98908" y="-590253"/>
            <a:ext cx="19685815" cy="951946"/>
            <a:chOff x="0" y="0"/>
            <a:chExt cx="5184741" cy="250718"/>
          </a:xfrm>
        </p:grpSpPr>
        <p:sp>
          <p:nvSpPr>
            <p:cNvPr id="9" name="Freeform 9"/>
            <p:cNvSpPr/>
            <p:nvPr/>
          </p:nvSpPr>
          <p:spPr>
            <a:xfrm>
              <a:off x="0" y="0"/>
              <a:ext cx="5184742" cy="250718"/>
            </a:xfrm>
            <a:custGeom>
              <a:avLst/>
              <a:gdLst/>
              <a:ahLst/>
              <a:cxnLst/>
              <a:rect l="l" t="t" r="r" b="b"/>
              <a:pathLst>
                <a:path w="5184742" h="250718">
                  <a:moveTo>
                    <a:pt x="0" y="0"/>
                  </a:moveTo>
                  <a:lnTo>
                    <a:pt x="5184742" y="0"/>
                  </a:lnTo>
                  <a:lnTo>
                    <a:pt x="5184742" y="250718"/>
                  </a:lnTo>
                  <a:lnTo>
                    <a:pt x="0" y="250718"/>
                  </a:lnTo>
                  <a:close/>
                </a:path>
              </a:pathLst>
            </a:custGeom>
            <a:solidFill>
              <a:schemeClr val="tx2">
                <a:lumMod val="20000"/>
                <a:lumOff val="80000"/>
              </a:schemeClr>
            </a:solidFill>
          </p:spPr>
          <p:txBody>
            <a:bodyPr/>
            <a:lstStyle/>
            <a:p>
              <a:endParaRPr lang="en-ID" dirty="0"/>
            </a:p>
          </p:txBody>
        </p:sp>
        <p:sp>
          <p:nvSpPr>
            <p:cNvPr id="10" name="TextBox 10"/>
            <p:cNvSpPr txBox="1"/>
            <p:nvPr/>
          </p:nvSpPr>
          <p:spPr>
            <a:xfrm>
              <a:off x="0" y="-57150"/>
              <a:ext cx="5184741" cy="30786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13335000" y="9253126"/>
            <a:ext cx="3918346" cy="670011"/>
            <a:chOff x="0" y="-66675"/>
            <a:chExt cx="4327267" cy="893347"/>
          </a:xfrm>
        </p:grpSpPr>
        <p:sp>
          <p:nvSpPr>
            <p:cNvPr id="18" name="TextBox 18"/>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9" name="TextBox 19"/>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03</a:t>
              </a:r>
            </a:p>
          </p:txBody>
        </p:sp>
        <p:sp>
          <p:nvSpPr>
            <p:cNvPr id="20" name="AutoShape 20"/>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
        <p:nvSpPr>
          <p:cNvPr id="23" name="TextBox 23"/>
          <p:cNvSpPr txBox="1"/>
          <p:nvPr/>
        </p:nvSpPr>
        <p:spPr>
          <a:xfrm>
            <a:off x="2552466" y="1579245"/>
            <a:ext cx="13078155" cy="851259"/>
          </a:xfrm>
          <a:prstGeom prst="rect">
            <a:avLst/>
          </a:prstGeom>
        </p:spPr>
        <p:txBody>
          <a:bodyPr lIns="0" tIns="0" rIns="0" bIns="0" rtlCol="0" anchor="t">
            <a:spAutoFit/>
          </a:bodyPr>
          <a:lstStyle/>
          <a:p>
            <a:pPr algn="ctr">
              <a:lnSpc>
                <a:spcPts val="6660"/>
              </a:lnSpc>
            </a:pPr>
            <a:r>
              <a:rPr lang="en-US" sz="5400" b="1" dirty="0">
                <a:solidFill>
                  <a:srgbClr val="343434"/>
                </a:solidFill>
                <a:latin typeface="Coco Gothic Heavy"/>
                <a:ea typeface="Coco Gothic Heavy"/>
                <a:cs typeface="Coco Gothic Heavy"/>
                <a:sym typeface="Coco Gothic Heavy"/>
              </a:rPr>
              <a:t>QUICK DEMONSTRATION (Part 1)</a:t>
            </a:r>
          </a:p>
        </p:txBody>
      </p:sp>
      <p:sp>
        <p:nvSpPr>
          <p:cNvPr id="33" name="TextBox 3">
            <a:extLst>
              <a:ext uri="{FF2B5EF4-FFF2-40B4-BE49-F238E27FC236}">
                <a16:creationId xmlns:a16="http://schemas.microsoft.com/office/drawing/2014/main" id="{9B2C1305-A1B5-616E-869C-25E0095C8F81}"/>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4" name="TextBox 4">
            <a:extLst>
              <a:ext uri="{FF2B5EF4-FFF2-40B4-BE49-F238E27FC236}">
                <a16:creationId xmlns:a16="http://schemas.microsoft.com/office/drawing/2014/main" id="{1D2DC906-627E-BFB3-0474-D0D1581CC571}"/>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35" name="Picture 34">
            <a:extLst>
              <a:ext uri="{FF2B5EF4-FFF2-40B4-BE49-F238E27FC236}">
                <a16:creationId xmlns:a16="http://schemas.microsoft.com/office/drawing/2014/main" id="{CF8BCAE7-BD85-E3D0-290F-DB117BE824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sp>
        <p:nvSpPr>
          <p:cNvPr id="36" name="TextBox 18">
            <a:extLst>
              <a:ext uri="{FF2B5EF4-FFF2-40B4-BE49-F238E27FC236}">
                <a16:creationId xmlns:a16="http://schemas.microsoft.com/office/drawing/2014/main" id="{D8C740D4-972C-7E05-7505-641A5FE22DDB}"/>
              </a:ext>
            </a:extLst>
          </p:cNvPr>
          <p:cNvSpPr txBox="1"/>
          <p:nvPr/>
        </p:nvSpPr>
        <p:spPr>
          <a:xfrm>
            <a:off x="1219200" y="3086100"/>
            <a:ext cx="5105400" cy="3931846"/>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Here is a quick demonstration showing   phase-1 development prototype of Yinni Application.</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Open </a:t>
            </a:r>
            <a:r>
              <a:rPr lang="en-US" sz="2000" dirty="0">
                <a:solidFill>
                  <a:srgbClr val="343434"/>
                </a:solidFill>
                <a:latin typeface="Poppins"/>
                <a:ea typeface="Poppins"/>
                <a:cs typeface="Poppins"/>
                <a:sym typeface="Poppins"/>
                <a:hlinkClick r:id="rId3"/>
              </a:rPr>
              <a:t>http://76.13.17.200:3000</a:t>
            </a:r>
            <a:r>
              <a:rPr lang="en-US" sz="2000" dirty="0">
                <a:solidFill>
                  <a:srgbClr val="343434"/>
                </a:solidFill>
                <a:latin typeface="Poppins"/>
                <a:ea typeface="Poppins"/>
                <a:cs typeface="Poppins"/>
                <a:sym typeface="Poppins"/>
              </a:rPr>
              <a:t>, you will be redirected to Login page of Yinni Application.</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If you don’t have account yet, you can click [Create an Account] below the [Sign In] button.</a:t>
            </a:r>
          </a:p>
        </p:txBody>
      </p:sp>
      <p:pic>
        <p:nvPicPr>
          <p:cNvPr id="38" name="Picture 37">
            <a:extLst>
              <a:ext uri="{FF2B5EF4-FFF2-40B4-BE49-F238E27FC236}">
                <a16:creationId xmlns:a16="http://schemas.microsoft.com/office/drawing/2014/main" id="{B039FACB-EF20-4867-7492-E53F7D6F0E24}"/>
              </a:ext>
            </a:extLst>
          </p:cNvPr>
          <p:cNvPicPr>
            <a:picLocks noChangeAspect="1"/>
          </p:cNvPicPr>
          <p:nvPr/>
        </p:nvPicPr>
        <p:blipFill>
          <a:blip r:embed="rId4"/>
          <a:stretch>
            <a:fillRect/>
          </a:stretch>
        </p:blipFill>
        <p:spPr>
          <a:xfrm>
            <a:off x="6781802" y="3086100"/>
            <a:ext cx="10744195" cy="5791200"/>
          </a:xfrm>
          <a:prstGeom prst="rect">
            <a:avLst/>
          </a:prstGeom>
          <a:ln>
            <a:solidFill>
              <a:schemeClr val="tx1"/>
            </a:solid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A2C5E-28A6-A6EF-75E9-D2598A15FB42}"/>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C7DEBA52-CA9F-6F2E-2B17-568B765E0B29}"/>
              </a:ext>
            </a:extLst>
          </p:cNvPr>
          <p:cNvGrpSpPr/>
          <p:nvPr/>
        </p:nvGrpSpPr>
        <p:grpSpPr>
          <a:xfrm>
            <a:off x="-772763" y="9925307"/>
            <a:ext cx="19685815" cy="800916"/>
            <a:chOff x="0" y="0"/>
            <a:chExt cx="5184741" cy="210941"/>
          </a:xfrm>
        </p:grpSpPr>
        <p:sp>
          <p:nvSpPr>
            <p:cNvPr id="6" name="Freeform 6">
              <a:extLst>
                <a:ext uri="{FF2B5EF4-FFF2-40B4-BE49-F238E27FC236}">
                  <a16:creationId xmlns:a16="http://schemas.microsoft.com/office/drawing/2014/main" id="{54173130-E0B5-6848-A69D-EA8CDF76CE95}"/>
                </a:ext>
              </a:extLst>
            </p:cNvPr>
            <p:cNvSpPr/>
            <p:nvPr/>
          </p:nvSpPr>
          <p:spPr>
            <a:xfrm>
              <a:off x="0" y="0"/>
              <a:ext cx="5184742" cy="210941"/>
            </a:xfrm>
            <a:custGeom>
              <a:avLst/>
              <a:gdLst/>
              <a:ahLst/>
              <a:cxnLst/>
              <a:rect l="l" t="t" r="r" b="b"/>
              <a:pathLst>
                <a:path w="5184742" h="210941">
                  <a:moveTo>
                    <a:pt x="0" y="0"/>
                  </a:moveTo>
                  <a:lnTo>
                    <a:pt x="5184742" y="0"/>
                  </a:lnTo>
                  <a:lnTo>
                    <a:pt x="5184742" y="210941"/>
                  </a:lnTo>
                  <a:lnTo>
                    <a:pt x="0" y="210941"/>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C74CD664-C2EE-C73A-7254-F52EE26AA227}"/>
                </a:ext>
              </a:extLst>
            </p:cNvPr>
            <p:cNvSpPr txBox="1"/>
            <p:nvPr/>
          </p:nvSpPr>
          <p:spPr>
            <a:xfrm>
              <a:off x="0" y="-57150"/>
              <a:ext cx="5184741" cy="268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B85DADEF-EF62-8A78-10A8-D12FD0B22B52}"/>
              </a:ext>
            </a:extLst>
          </p:cNvPr>
          <p:cNvGrpSpPr/>
          <p:nvPr/>
        </p:nvGrpSpPr>
        <p:grpSpPr>
          <a:xfrm>
            <a:off x="-698908" y="-590253"/>
            <a:ext cx="19685815" cy="951946"/>
            <a:chOff x="0" y="0"/>
            <a:chExt cx="5184741" cy="250718"/>
          </a:xfrm>
        </p:grpSpPr>
        <p:sp>
          <p:nvSpPr>
            <p:cNvPr id="9" name="Freeform 9">
              <a:extLst>
                <a:ext uri="{FF2B5EF4-FFF2-40B4-BE49-F238E27FC236}">
                  <a16:creationId xmlns:a16="http://schemas.microsoft.com/office/drawing/2014/main" id="{0FF06E6D-707B-97A8-5574-E300BE222E66}"/>
                </a:ext>
              </a:extLst>
            </p:cNvPr>
            <p:cNvSpPr/>
            <p:nvPr/>
          </p:nvSpPr>
          <p:spPr>
            <a:xfrm>
              <a:off x="0" y="0"/>
              <a:ext cx="5184742" cy="250718"/>
            </a:xfrm>
            <a:custGeom>
              <a:avLst/>
              <a:gdLst/>
              <a:ahLst/>
              <a:cxnLst/>
              <a:rect l="l" t="t" r="r" b="b"/>
              <a:pathLst>
                <a:path w="5184742" h="250718">
                  <a:moveTo>
                    <a:pt x="0" y="0"/>
                  </a:moveTo>
                  <a:lnTo>
                    <a:pt x="5184742" y="0"/>
                  </a:lnTo>
                  <a:lnTo>
                    <a:pt x="5184742" y="250718"/>
                  </a:lnTo>
                  <a:lnTo>
                    <a:pt x="0" y="250718"/>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5A705720-262F-8227-7579-18FC4EA404D0}"/>
                </a:ext>
              </a:extLst>
            </p:cNvPr>
            <p:cNvSpPr txBox="1"/>
            <p:nvPr/>
          </p:nvSpPr>
          <p:spPr>
            <a:xfrm>
              <a:off x="0" y="-57150"/>
              <a:ext cx="5184741" cy="30786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a:extLst>
              <a:ext uri="{FF2B5EF4-FFF2-40B4-BE49-F238E27FC236}">
                <a16:creationId xmlns:a16="http://schemas.microsoft.com/office/drawing/2014/main" id="{D15DED1A-BD24-981D-83D8-6EE987777DC9}"/>
              </a:ext>
            </a:extLst>
          </p:cNvPr>
          <p:cNvGrpSpPr/>
          <p:nvPr/>
        </p:nvGrpSpPr>
        <p:grpSpPr>
          <a:xfrm>
            <a:off x="13335000" y="9253126"/>
            <a:ext cx="3918346" cy="670011"/>
            <a:chOff x="0" y="-66675"/>
            <a:chExt cx="4327267" cy="893347"/>
          </a:xfrm>
        </p:grpSpPr>
        <p:sp>
          <p:nvSpPr>
            <p:cNvPr id="18" name="TextBox 18">
              <a:extLst>
                <a:ext uri="{FF2B5EF4-FFF2-40B4-BE49-F238E27FC236}">
                  <a16:creationId xmlns:a16="http://schemas.microsoft.com/office/drawing/2014/main" id="{36D973A5-7A55-2D1A-A8CD-B5E81AF7C16F}"/>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9" name="TextBox 19">
              <a:extLst>
                <a:ext uri="{FF2B5EF4-FFF2-40B4-BE49-F238E27FC236}">
                  <a16:creationId xmlns:a16="http://schemas.microsoft.com/office/drawing/2014/main" id="{9DC64843-786C-6E30-6411-3BE04456A13A}"/>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04</a:t>
              </a:r>
            </a:p>
          </p:txBody>
        </p:sp>
        <p:sp>
          <p:nvSpPr>
            <p:cNvPr id="20" name="AutoShape 20">
              <a:extLst>
                <a:ext uri="{FF2B5EF4-FFF2-40B4-BE49-F238E27FC236}">
                  <a16:creationId xmlns:a16="http://schemas.microsoft.com/office/drawing/2014/main" id="{5BDE2544-8E18-8557-AC47-9F9998053D95}"/>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
        <p:nvSpPr>
          <p:cNvPr id="23" name="TextBox 23">
            <a:extLst>
              <a:ext uri="{FF2B5EF4-FFF2-40B4-BE49-F238E27FC236}">
                <a16:creationId xmlns:a16="http://schemas.microsoft.com/office/drawing/2014/main" id="{1F388D38-A8CD-61AB-5B30-201F07909D1D}"/>
              </a:ext>
            </a:extLst>
          </p:cNvPr>
          <p:cNvSpPr txBox="1"/>
          <p:nvPr/>
        </p:nvSpPr>
        <p:spPr>
          <a:xfrm>
            <a:off x="2552466" y="1579245"/>
            <a:ext cx="13078155" cy="851259"/>
          </a:xfrm>
          <a:prstGeom prst="rect">
            <a:avLst/>
          </a:prstGeom>
        </p:spPr>
        <p:txBody>
          <a:bodyPr lIns="0" tIns="0" rIns="0" bIns="0" rtlCol="0" anchor="t">
            <a:spAutoFit/>
          </a:bodyPr>
          <a:lstStyle/>
          <a:p>
            <a:pPr algn="ctr">
              <a:lnSpc>
                <a:spcPts val="6660"/>
              </a:lnSpc>
            </a:pPr>
            <a:r>
              <a:rPr lang="en-US" sz="5400" b="1" dirty="0">
                <a:solidFill>
                  <a:srgbClr val="343434"/>
                </a:solidFill>
                <a:latin typeface="Coco Gothic Heavy"/>
                <a:ea typeface="Coco Gothic Heavy"/>
                <a:cs typeface="Coco Gothic Heavy"/>
                <a:sym typeface="Coco Gothic Heavy"/>
              </a:rPr>
              <a:t>QUICK DEMONSTRATION (Part 2)</a:t>
            </a:r>
          </a:p>
        </p:txBody>
      </p:sp>
      <p:sp>
        <p:nvSpPr>
          <p:cNvPr id="33" name="TextBox 3">
            <a:extLst>
              <a:ext uri="{FF2B5EF4-FFF2-40B4-BE49-F238E27FC236}">
                <a16:creationId xmlns:a16="http://schemas.microsoft.com/office/drawing/2014/main" id="{094C54A0-3443-803B-28B4-97478F2985B1}"/>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4" name="TextBox 4">
            <a:extLst>
              <a:ext uri="{FF2B5EF4-FFF2-40B4-BE49-F238E27FC236}">
                <a16:creationId xmlns:a16="http://schemas.microsoft.com/office/drawing/2014/main" id="{21BB00A8-DD7F-90D2-9538-0E243ED8F3F4}"/>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35" name="Picture 34">
            <a:extLst>
              <a:ext uri="{FF2B5EF4-FFF2-40B4-BE49-F238E27FC236}">
                <a16:creationId xmlns:a16="http://schemas.microsoft.com/office/drawing/2014/main" id="{8585075E-049A-F627-3C6B-F72DC3D89D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sp>
        <p:nvSpPr>
          <p:cNvPr id="36" name="TextBox 18">
            <a:extLst>
              <a:ext uri="{FF2B5EF4-FFF2-40B4-BE49-F238E27FC236}">
                <a16:creationId xmlns:a16="http://schemas.microsoft.com/office/drawing/2014/main" id="{67BA1377-3120-9FF8-2E51-C3E66495CEF6}"/>
              </a:ext>
            </a:extLst>
          </p:cNvPr>
          <p:cNvSpPr txBox="1"/>
          <p:nvPr/>
        </p:nvSpPr>
        <p:spPr>
          <a:xfrm>
            <a:off x="1219200" y="3086100"/>
            <a:ext cx="5105400" cy="5009064"/>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After you click [Create an Account], you will be redirected to register page, as shown in this image.</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You can input your name, email, and password, along with password confirmation, and then click [Sign Up], then you will be registered as user in the Yinni application.</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After you are successfully registered, back to Login Page by clicking back button in Browser, and input you email and password.</a:t>
            </a:r>
          </a:p>
        </p:txBody>
      </p:sp>
      <p:pic>
        <p:nvPicPr>
          <p:cNvPr id="3" name="Picture 2">
            <a:extLst>
              <a:ext uri="{FF2B5EF4-FFF2-40B4-BE49-F238E27FC236}">
                <a16:creationId xmlns:a16="http://schemas.microsoft.com/office/drawing/2014/main" id="{180D9449-9686-4593-B014-B03933C49A97}"/>
              </a:ext>
            </a:extLst>
          </p:cNvPr>
          <p:cNvPicPr>
            <a:picLocks noChangeAspect="1"/>
          </p:cNvPicPr>
          <p:nvPr/>
        </p:nvPicPr>
        <p:blipFill>
          <a:blip r:embed="rId3"/>
          <a:stretch>
            <a:fillRect/>
          </a:stretch>
        </p:blipFill>
        <p:spPr>
          <a:xfrm>
            <a:off x="6781800" y="3086101"/>
            <a:ext cx="10744200" cy="5791200"/>
          </a:xfrm>
          <a:prstGeom prst="rect">
            <a:avLst/>
          </a:prstGeom>
          <a:ln>
            <a:solidFill>
              <a:schemeClr val="tx1"/>
            </a:solidFill>
          </a:ln>
        </p:spPr>
      </p:pic>
    </p:spTree>
    <p:extLst>
      <p:ext uri="{BB962C8B-B14F-4D97-AF65-F5344CB8AC3E}">
        <p14:creationId xmlns:p14="http://schemas.microsoft.com/office/powerpoint/2010/main" val="486739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3C6E7-7C6A-899F-ADF6-7609AE463D03}"/>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644221D2-A762-4AA1-4875-81B1AFDCB45D}"/>
              </a:ext>
            </a:extLst>
          </p:cNvPr>
          <p:cNvGrpSpPr/>
          <p:nvPr/>
        </p:nvGrpSpPr>
        <p:grpSpPr>
          <a:xfrm>
            <a:off x="-772763" y="9925307"/>
            <a:ext cx="19685815" cy="800916"/>
            <a:chOff x="0" y="0"/>
            <a:chExt cx="5184741" cy="210941"/>
          </a:xfrm>
        </p:grpSpPr>
        <p:sp>
          <p:nvSpPr>
            <p:cNvPr id="6" name="Freeform 6">
              <a:extLst>
                <a:ext uri="{FF2B5EF4-FFF2-40B4-BE49-F238E27FC236}">
                  <a16:creationId xmlns:a16="http://schemas.microsoft.com/office/drawing/2014/main" id="{DEA5F7F2-25AD-7572-9976-78E389C5494F}"/>
                </a:ext>
              </a:extLst>
            </p:cNvPr>
            <p:cNvSpPr/>
            <p:nvPr/>
          </p:nvSpPr>
          <p:spPr>
            <a:xfrm>
              <a:off x="0" y="0"/>
              <a:ext cx="5184742" cy="210941"/>
            </a:xfrm>
            <a:custGeom>
              <a:avLst/>
              <a:gdLst/>
              <a:ahLst/>
              <a:cxnLst/>
              <a:rect l="l" t="t" r="r" b="b"/>
              <a:pathLst>
                <a:path w="5184742" h="210941">
                  <a:moveTo>
                    <a:pt x="0" y="0"/>
                  </a:moveTo>
                  <a:lnTo>
                    <a:pt x="5184742" y="0"/>
                  </a:lnTo>
                  <a:lnTo>
                    <a:pt x="5184742" y="210941"/>
                  </a:lnTo>
                  <a:lnTo>
                    <a:pt x="0" y="210941"/>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DFEC7357-0466-83AD-BB5D-A9702BF168E7}"/>
                </a:ext>
              </a:extLst>
            </p:cNvPr>
            <p:cNvSpPr txBox="1"/>
            <p:nvPr/>
          </p:nvSpPr>
          <p:spPr>
            <a:xfrm>
              <a:off x="0" y="-57150"/>
              <a:ext cx="5184741" cy="268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CCACB587-DD55-76F6-4792-D505EB611FAB}"/>
              </a:ext>
            </a:extLst>
          </p:cNvPr>
          <p:cNvGrpSpPr/>
          <p:nvPr/>
        </p:nvGrpSpPr>
        <p:grpSpPr>
          <a:xfrm>
            <a:off x="-698908" y="-590253"/>
            <a:ext cx="19685815" cy="951946"/>
            <a:chOff x="0" y="0"/>
            <a:chExt cx="5184741" cy="250718"/>
          </a:xfrm>
        </p:grpSpPr>
        <p:sp>
          <p:nvSpPr>
            <p:cNvPr id="9" name="Freeform 9">
              <a:extLst>
                <a:ext uri="{FF2B5EF4-FFF2-40B4-BE49-F238E27FC236}">
                  <a16:creationId xmlns:a16="http://schemas.microsoft.com/office/drawing/2014/main" id="{78A13E89-543D-EE60-A99E-A172B75CE294}"/>
                </a:ext>
              </a:extLst>
            </p:cNvPr>
            <p:cNvSpPr/>
            <p:nvPr/>
          </p:nvSpPr>
          <p:spPr>
            <a:xfrm>
              <a:off x="0" y="0"/>
              <a:ext cx="5184742" cy="250718"/>
            </a:xfrm>
            <a:custGeom>
              <a:avLst/>
              <a:gdLst/>
              <a:ahLst/>
              <a:cxnLst/>
              <a:rect l="l" t="t" r="r" b="b"/>
              <a:pathLst>
                <a:path w="5184742" h="250718">
                  <a:moveTo>
                    <a:pt x="0" y="0"/>
                  </a:moveTo>
                  <a:lnTo>
                    <a:pt x="5184742" y="0"/>
                  </a:lnTo>
                  <a:lnTo>
                    <a:pt x="5184742" y="250718"/>
                  </a:lnTo>
                  <a:lnTo>
                    <a:pt x="0" y="250718"/>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DE070F83-3C23-CD14-1E8D-2EB3032B8A9D}"/>
                </a:ext>
              </a:extLst>
            </p:cNvPr>
            <p:cNvSpPr txBox="1"/>
            <p:nvPr/>
          </p:nvSpPr>
          <p:spPr>
            <a:xfrm>
              <a:off x="0" y="-57150"/>
              <a:ext cx="5184741" cy="30786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a:extLst>
              <a:ext uri="{FF2B5EF4-FFF2-40B4-BE49-F238E27FC236}">
                <a16:creationId xmlns:a16="http://schemas.microsoft.com/office/drawing/2014/main" id="{9D726151-E09E-DF3A-771B-C00C4CF9D150}"/>
              </a:ext>
            </a:extLst>
          </p:cNvPr>
          <p:cNvGrpSpPr/>
          <p:nvPr/>
        </p:nvGrpSpPr>
        <p:grpSpPr>
          <a:xfrm>
            <a:off x="13335000" y="9253126"/>
            <a:ext cx="3918346" cy="670011"/>
            <a:chOff x="0" y="-66675"/>
            <a:chExt cx="4327267" cy="893347"/>
          </a:xfrm>
        </p:grpSpPr>
        <p:sp>
          <p:nvSpPr>
            <p:cNvPr id="18" name="TextBox 18">
              <a:extLst>
                <a:ext uri="{FF2B5EF4-FFF2-40B4-BE49-F238E27FC236}">
                  <a16:creationId xmlns:a16="http://schemas.microsoft.com/office/drawing/2014/main" id="{05AE48A5-4D71-CFDB-760D-5625CFE122BD}"/>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9" name="TextBox 19">
              <a:extLst>
                <a:ext uri="{FF2B5EF4-FFF2-40B4-BE49-F238E27FC236}">
                  <a16:creationId xmlns:a16="http://schemas.microsoft.com/office/drawing/2014/main" id="{811E1B2E-AA02-2E56-FB5B-9F34494EFA09}"/>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05</a:t>
              </a:r>
            </a:p>
          </p:txBody>
        </p:sp>
        <p:sp>
          <p:nvSpPr>
            <p:cNvPr id="20" name="AutoShape 20">
              <a:extLst>
                <a:ext uri="{FF2B5EF4-FFF2-40B4-BE49-F238E27FC236}">
                  <a16:creationId xmlns:a16="http://schemas.microsoft.com/office/drawing/2014/main" id="{E45558C1-0443-5216-9783-52164E00A557}"/>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
        <p:nvSpPr>
          <p:cNvPr id="23" name="TextBox 23">
            <a:extLst>
              <a:ext uri="{FF2B5EF4-FFF2-40B4-BE49-F238E27FC236}">
                <a16:creationId xmlns:a16="http://schemas.microsoft.com/office/drawing/2014/main" id="{0869C3C8-5851-5DA8-C63A-989FBBDE1B9C}"/>
              </a:ext>
            </a:extLst>
          </p:cNvPr>
          <p:cNvSpPr txBox="1"/>
          <p:nvPr/>
        </p:nvSpPr>
        <p:spPr>
          <a:xfrm>
            <a:off x="2552466" y="1579245"/>
            <a:ext cx="13078155" cy="851259"/>
          </a:xfrm>
          <a:prstGeom prst="rect">
            <a:avLst/>
          </a:prstGeom>
        </p:spPr>
        <p:txBody>
          <a:bodyPr lIns="0" tIns="0" rIns="0" bIns="0" rtlCol="0" anchor="t">
            <a:spAutoFit/>
          </a:bodyPr>
          <a:lstStyle/>
          <a:p>
            <a:pPr algn="ctr">
              <a:lnSpc>
                <a:spcPts val="6660"/>
              </a:lnSpc>
            </a:pPr>
            <a:r>
              <a:rPr lang="en-US" sz="5400" b="1" dirty="0">
                <a:solidFill>
                  <a:srgbClr val="343434"/>
                </a:solidFill>
                <a:latin typeface="Coco Gothic Heavy"/>
                <a:ea typeface="Coco Gothic Heavy"/>
                <a:cs typeface="Coco Gothic Heavy"/>
                <a:sym typeface="Coco Gothic Heavy"/>
              </a:rPr>
              <a:t>QUICK DEMONSTRATION (Part 3)</a:t>
            </a:r>
          </a:p>
        </p:txBody>
      </p:sp>
      <p:sp>
        <p:nvSpPr>
          <p:cNvPr id="33" name="TextBox 3">
            <a:extLst>
              <a:ext uri="{FF2B5EF4-FFF2-40B4-BE49-F238E27FC236}">
                <a16:creationId xmlns:a16="http://schemas.microsoft.com/office/drawing/2014/main" id="{AB5E6B61-7ED0-3838-0E8A-5A181E51DDBE}"/>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4" name="TextBox 4">
            <a:extLst>
              <a:ext uri="{FF2B5EF4-FFF2-40B4-BE49-F238E27FC236}">
                <a16:creationId xmlns:a16="http://schemas.microsoft.com/office/drawing/2014/main" id="{B6FC3174-4198-AB5D-762F-9062BB781165}"/>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35" name="Picture 34">
            <a:extLst>
              <a:ext uri="{FF2B5EF4-FFF2-40B4-BE49-F238E27FC236}">
                <a16:creationId xmlns:a16="http://schemas.microsoft.com/office/drawing/2014/main" id="{61D5C235-E753-0D0E-7ED0-CD12F763B7D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sp>
        <p:nvSpPr>
          <p:cNvPr id="36" name="TextBox 18">
            <a:extLst>
              <a:ext uri="{FF2B5EF4-FFF2-40B4-BE49-F238E27FC236}">
                <a16:creationId xmlns:a16="http://schemas.microsoft.com/office/drawing/2014/main" id="{EB8D5A96-A757-D02D-4B24-3585933B5670}"/>
              </a:ext>
            </a:extLst>
          </p:cNvPr>
          <p:cNvSpPr txBox="1"/>
          <p:nvPr/>
        </p:nvSpPr>
        <p:spPr>
          <a:xfrm>
            <a:off x="1219200" y="3086100"/>
            <a:ext cx="5105400" cy="3931846"/>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After successfully logged-in, you will see the app home page look exactly like this.</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You can test this app by writing your first prompt in the prompt field and clicking the paper-plane button on the right side on the prompt field, or by clicking [Search] in the “Prompt what you want” box in the center-right of the prompt window.</a:t>
            </a:r>
          </a:p>
        </p:txBody>
      </p:sp>
      <p:pic>
        <p:nvPicPr>
          <p:cNvPr id="2" name="Picture 1">
            <a:extLst>
              <a:ext uri="{FF2B5EF4-FFF2-40B4-BE49-F238E27FC236}">
                <a16:creationId xmlns:a16="http://schemas.microsoft.com/office/drawing/2014/main" id="{1B686E54-C6AF-24D5-C7C0-505D6B05785E}"/>
              </a:ext>
            </a:extLst>
          </p:cNvPr>
          <p:cNvPicPr>
            <a:picLocks noChangeAspect="1"/>
          </p:cNvPicPr>
          <p:nvPr/>
        </p:nvPicPr>
        <p:blipFill>
          <a:blip r:embed="rId3"/>
          <a:stretch>
            <a:fillRect/>
          </a:stretch>
        </p:blipFill>
        <p:spPr>
          <a:xfrm>
            <a:off x="6781800" y="3086100"/>
            <a:ext cx="10744198" cy="5791200"/>
          </a:xfrm>
          <a:prstGeom prst="rect">
            <a:avLst/>
          </a:prstGeom>
          <a:ln>
            <a:solidFill>
              <a:schemeClr val="tx1"/>
            </a:solidFill>
          </a:ln>
        </p:spPr>
      </p:pic>
    </p:spTree>
    <p:extLst>
      <p:ext uri="{BB962C8B-B14F-4D97-AF65-F5344CB8AC3E}">
        <p14:creationId xmlns:p14="http://schemas.microsoft.com/office/powerpoint/2010/main" val="1120631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F39BC-24F1-E9DF-0974-2BD0FE4F9D38}"/>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1375FC4F-D6EB-4847-204B-EBDAF5CFBEAC}"/>
              </a:ext>
            </a:extLst>
          </p:cNvPr>
          <p:cNvGrpSpPr/>
          <p:nvPr/>
        </p:nvGrpSpPr>
        <p:grpSpPr>
          <a:xfrm>
            <a:off x="-772763" y="9925307"/>
            <a:ext cx="19685815" cy="800916"/>
            <a:chOff x="0" y="0"/>
            <a:chExt cx="5184741" cy="210941"/>
          </a:xfrm>
        </p:grpSpPr>
        <p:sp>
          <p:nvSpPr>
            <p:cNvPr id="6" name="Freeform 6">
              <a:extLst>
                <a:ext uri="{FF2B5EF4-FFF2-40B4-BE49-F238E27FC236}">
                  <a16:creationId xmlns:a16="http://schemas.microsoft.com/office/drawing/2014/main" id="{E8E218C6-357D-5A50-24B6-53A5C5A9C587}"/>
                </a:ext>
              </a:extLst>
            </p:cNvPr>
            <p:cNvSpPr/>
            <p:nvPr/>
          </p:nvSpPr>
          <p:spPr>
            <a:xfrm>
              <a:off x="0" y="0"/>
              <a:ext cx="5184742" cy="210941"/>
            </a:xfrm>
            <a:custGeom>
              <a:avLst/>
              <a:gdLst/>
              <a:ahLst/>
              <a:cxnLst/>
              <a:rect l="l" t="t" r="r" b="b"/>
              <a:pathLst>
                <a:path w="5184742" h="210941">
                  <a:moveTo>
                    <a:pt x="0" y="0"/>
                  </a:moveTo>
                  <a:lnTo>
                    <a:pt x="5184742" y="0"/>
                  </a:lnTo>
                  <a:lnTo>
                    <a:pt x="5184742" y="210941"/>
                  </a:lnTo>
                  <a:lnTo>
                    <a:pt x="0" y="210941"/>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C3BBC902-C464-8597-41E7-AA0E27A195D6}"/>
                </a:ext>
              </a:extLst>
            </p:cNvPr>
            <p:cNvSpPr txBox="1"/>
            <p:nvPr/>
          </p:nvSpPr>
          <p:spPr>
            <a:xfrm>
              <a:off x="0" y="-57150"/>
              <a:ext cx="5184741" cy="268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5D6ACF4E-359E-76F9-3F4E-EA10C7D35806}"/>
              </a:ext>
            </a:extLst>
          </p:cNvPr>
          <p:cNvGrpSpPr/>
          <p:nvPr/>
        </p:nvGrpSpPr>
        <p:grpSpPr>
          <a:xfrm>
            <a:off x="-698908" y="-590253"/>
            <a:ext cx="19685815" cy="951946"/>
            <a:chOff x="0" y="0"/>
            <a:chExt cx="5184741" cy="250718"/>
          </a:xfrm>
        </p:grpSpPr>
        <p:sp>
          <p:nvSpPr>
            <p:cNvPr id="9" name="Freeform 9">
              <a:extLst>
                <a:ext uri="{FF2B5EF4-FFF2-40B4-BE49-F238E27FC236}">
                  <a16:creationId xmlns:a16="http://schemas.microsoft.com/office/drawing/2014/main" id="{896742B7-371B-D080-7E00-CD6660AFBC34}"/>
                </a:ext>
              </a:extLst>
            </p:cNvPr>
            <p:cNvSpPr/>
            <p:nvPr/>
          </p:nvSpPr>
          <p:spPr>
            <a:xfrm>
              <a:off x="0" y="0"/>
              <a:ext cx="5184742" cy="250718"/>
            </a:xfrm>
            <a:custGeom>
              <a:avLst/>
              <a:gdLst/>
              <a:ahLst/>
              <a:cxnLst/>
              <a:rect l="l" t="t" r="r" b="b"/>
              <a:pathLst>
                <a:path w="5184742" h="250718">
                  <a:moveTo>
                    <a:pt x="0" y="0"/>
                  </a:moveTo>
                  <a:lnTo>
                    <a:pt x="5184742" y="0"/>
                  </a:lnTo>
                  <a:lnTo>
                    <a:pt x="5184742" y="250718"/>
                  </a:lnTo>
                  <a:lnTo>
                    <a:pt x="0" y="250718"/>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49958E84-9535-A124-60B6-49878DDE34C0}"/>
                </a:ext>
              </a:extLst>
            </p:cNvPr>
            <p:cNvSpPr txBox="1"/>
            <p:nvPr/>
          </p:nvSpPr>
          <p:spPr>
            <a:xfrm>
              <a:off x="0" y="-57150"/>
              <a:ext cx="5184741" cy="30786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a:extLst>
              <a:ext uri="{FF2B5EF4-FFF2-40B4-BE49-F238E27FC236}">
                <a16:creationId xmlns:a16="http://schemas.microsoft.com/office/drawing/2014/main" id="{16C366E3-C94E-99ED-8114-0D8EA690DB83}"/>
              </a:ext>
            </a:extLst>
          </p:cNvPr>
          <p:cNvGrpSpPr/>
          <p:nvPr/>
        </p:nvGrpSpPr>
        <p:grpSpPr>
          <a:xfrm>
            <a:off x="13335000" y="9253126"/>
            <a:ext cx="3918346" cy="670011"/>
            <a:chOff x="0" y="-66675"/>
            <a:chExt cx="4327267" cy="893347"/>
          </a:xfrm>
        </p:grpSpPr>
        <p:sp>
          <p:nvSpPr>
            <p:cNvPr id="18" name="TextBox 18">
              <a:extLst>
                <a:ext uri="{FF2B5EF4-FFF2-40B4-BE49-F238E27FC236}">
                  <a16:creationId xmlns:a16="http://schemas.microsoft.com/office/drawing/2014/main" id="{B749D62E-F985-57DC-987D-D94F8CC9FD06}"/>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9" name="TextBox 19">
              <a:extLst>
                <a:ext uri="{FF2B5EF4-FFF2-40B4-BE49-F238E27FC236}">
                  <a16:creationId xmlns:a16="http://schemas.microsoft.com/office/drawing/2014/main" id="{9FA155C9-93F9-22D1-0BD4-AA5B4B287DA1}"/>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06</a:t>
              </a:r>
            </a:p>
          </p:txBody>
        </p:sp>
        <p:sp>
          <p:nvSpPr>
            <p:cNvPr id="20" name="AutoShape 20">
              <a:extLst>
                <a:ext uri="{FF2B5EF4-FFF2-40B4-BE49-F238E27FC236}">
                  <a16:creationId xmlns:a16="http://schemas.microsoft.com/office/drawing/2014/main" id="{198DB696-998F-2A4B-819D-96F0A8625866}"/>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
        <p:nvSpPr>
          <p:cNvPr id="23" name="TextBox 23">
            <a:extLst>
              <a:ext uri="{FF2B5EF4-FFF2-40B4-BE49-F238E27FC236}">
                <a16:creationId xmlns:a16="http://schemas.microsoft.com/office/drawing/2014/main" id="{E4A6E69A-EF18-EC9A-DAEA-44BE7FA94EA0}"/>
              </a:ext>
            </a:extLst>
          </p:cNvPr>
          <p:cNvSpPr txBox="1"/>
          <p:nvPr/>
        </p:nvSpPr>
        <p:spPr>
          <a:xfrm>
            <a:off x="2552466" y="1579245"/>
            <a:ext cx="13078155" cy="851259"/>
          </a:xfrm>
          <a:prstGeom prst="rect">
            <a:avLst/>
          </a:prstGeom>
        </p:spPr>
        <p:txBody>
          <a:bodyPr lIns="0" tIns="0" rIns="0" bIns="0" rtlCol="0" anchor="t">
            <a:spAutoFit/>
          </a:bodyPr>
          <a:lstStyle/>
          <a:p>
            <a:pPr algn="ctr">
              <a:lnSpc>
                <a:spcPts val="6660"/>
              </a:lnSpc>
            </a:pPr>
            <a:r>
              <a:rPr lang="en-US" sz="5400" b="1" dirty="0">
                <a:solidFill>
                  <a:srgbClr val="343434"/>
                </a:solidFill>
                <a:latin typeface="Coco Gothic Heavy"/>
                <a:ea typeface="Coco Gothic Heavy"/>
                <a:cs typeface="Coco Gothic Heavy"/>
                <a:sym typeface="Coco Gothic Heavy"/>
              </a:rPr>
              <a:t>QUICK DEMONSTRATION (Part 4)</a:t>
            </a:r>
          </a:p>
        </p:txBody>
      </p:sp>
      <p:sp>
        <p:nvSpPr>
          <p:cNvPr id="33" name="TextBox 3">
            <a:extLst>
              <a:ext uri="{FF2B5EF4-FFF2-40B4-BE49-F238E27FC236}">
                <a16:creationId xmlns:a16="http://schemas.microsoft.com/office/drawing/2014/main" id="{FB330F9C-2D03-8586-3735-422D1FD2C749}"/>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4" name="TextBox 4">
            <a:extLst>
              <a:ext uri="{FF2B5EF4-FFF2-40B4-BE49-F238E27FC236}">
                <a16:creationId xmlns:a16="http://schemas.microsoft.com/office/drawing/2014/main" id="{6C709982-2997-2517-4D5B-D53A1C90BB1B}"/>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35" name="Picture 34">
            <a:extLst>
              <a:ext uri="{FF2B5EF4-FFF2-40B4-BE49-F238E27FC236}">
                <a16:creationId xmlns:a16="http://schemas.microsoft.com/office/drawing/2014/main" id="{68361F0A-A4FD-86B1-B5AF-F404A31A8D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sp>
        <p:nvSpPr>
          <p:cNvPr id="36" name="TextBox 18">
            <a:extLst>
              <a:ext uri="{FF2B5EF4-FFF2-40B4-BE49-F238E27FC236}">
                <a16:creationId xmlns:a16="http://schemas.microsoft.com/office/drawing/2014/main" id="{21A376E4-F005-06F9-52ED-574BCDEB44E1}"/>
              </a:ext>
            </a:extLst>
          </p:cNvPr>
          <p:cNvSpPr txBox="1"/>
          <p:nvPr/>
        </p:nvSpPr>
        <p:spPr>
          <a:xfrm>
            <a:off x="1219200" y="3086100"/>
            <a:ext cx="5105400" cy="5727209"/>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After submitting your first prompt, you will see the chat display in the prompt window.</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For this phase-1 development version, there is only 3 types of prompt:</a:t>
            </a:r>
          </a:p>
          <a:p>
            <a:pPr marL="457200" indent="-457200" algn="just">
              <a:lnSpc>
                <a:spcPts val="2800"/>
              </a:lnSpc>
              <a:buAutoNum type="arabicPeriod"/>
            </a:pPr>
            <a:r>
              <a:rPr lang="en-US" sz="2000" dirty="0">
                <a:solidFill>
                  <a:srgbClr val="343434"/>
                </a:solidFill>
                <a:latin typeface="Poppins"/>
                <a:ea typeface="Poppins"/>
                <a:cs typeface="Poppins"/>
                <a:sym typeface="Poppins"/>
              </a:rPr>
              <a:t>Finding product</a:t>
            </a:r>
          </a:p>
          <a:p>
            <a:pPr marL="457200" indent="-457200" algn="just">
              <a:lnSpc>
                <a:spcPts val="2800"/>
              </a:lnSpc>
              <a:buAutoNum type="arabicPeriod"/>
            </a:pPr>
            <a:r>
              <a:rPr lang="en-US" sz="2000" dirty="0">
                <a:solidFill>
                  <a:srgbClr val="343434"/>
                </a:solidFill>
                <a:latin typeface="Poppins"/>
                <a:ea typeface="Poppins"/>
                <a:cs typeface="Poppins"/>
                <a:sym typeface="Poppins"/>
              </a:rPr>
              <a:t>Selecting product from the list</a:t>
            </a:r>
          </a:p>
          <a:p>
            <a:pPr marL="457200" indent="-457200" algn="just">
              <a:lnSpc>
                <a:spcPts val="2800"/>
              </a:lnSpc>
              <a:buAutoNum type="arabicPeriod"/>
            </a:pPr>
            <a:r>
              <a:rPr lang="en-US" sz="2000" dirty="0">
                <a:solidFill>
                  <a:srgbClr val="343434"/>
                </a:solidFill>
                <a:latin typeface="Poppins"/>
                <a:ea typeface="Poppins"/>
                <a:cs typeface="Poppins"/>
                <a:sym typeface="Poppins"/>
              </a:rPr>
              <a:t>Making payment</a:t>
            </a:r>
          </a:p>
          <a:p>
            <a:pPr marL="457200" indent="-457200" algn="just">
              <a:lnSpc>
                <a:spcPts val="2800"/>
              </a:lnSpc>
              <a:buAutoNum type="arabicPeriod"/>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This image shows the first type, finding product.</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To find the product, you just need to type the keyword or key-description of the product you desired.</a:t>
            </a:r>
          </a:p>
        </p:txBody>
      </p:sp>
      <p:pic>
        <p:nvPicPr>
          <p:cNvPr id="12" name="Picture 11">
            <a:extLst>
              <a:ext uri="{FF2B5EF4-FFF2-40B4-BE49-F238E27FC236}">
                <a16:creationId xmlns:a16="http://schemas.microsoft.com/office/drawing/2014/main" id="{34416CB4-4E4A-41FD-B46B-16A0E395EDA3}"/>
              </a:ext>
            </a:extLst>
          </p:cNvPr>
          <p:cNvPicPr>
            <a:picLocks noChangeAspect="1"/>
          </p:cNvPicPr>
          <p:nvPr/>
        </p:nvPicPr>
        <p:blipFill>
          <a:blip r:embed="rId3"/>
          <a:stretch>
            <a:fillRect/>
          </a:stretch>
        </p:blipFill>
        <p:spPr>
          <a:xfrm>
            <a:off x="6781800" y="3086100"/>
            <a:ext cx="10744197" cy="5787293"/>
          </a:xfrm>
          <a:prstGeom prst="rect">
            <a:avLst/>
          </a:prstGeom>
          <a:ln>
            <a:solidFill>
              <a:schemeClr val="tx1"/>
            </a:solidFill>
          </a:ln>
        </p:spPr>
      </p:pic>
    </p:spTree>
    <p:extLst>
      <p:ext uri="{BB962C8B-B14F-4D97-AF65-F5344CB8AC3E}">
        <p14:creationId xmlns:p14="http://schemas.microsoft.com/office/powerpoint/2010/main" val="3409709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42565-D9F9-8C40-1D8B-A25397C169E6}"/>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03711A7-F755-DB02-D9A6-988E77D9F547}"/>
              </a:ext>
            </a:extLst>
          </p:cNvPr>
          <p:cNvGrpSpPr/>
          <p:nvPr/>
        </p:nvGrpSpPr>
        <p:grpSpPr>
          <a:xfrm>
            <a:off x="-772763" y="9925307"/>
            <a:ext cx="19685815" cy="800916"/>
            <a:chOff x="0" y="0"/>
            <a:chExt cx="5184741" cy="210941"/>
          </a:xfrm>
        </p:grpSpPr>
        <p:sp>
          <p:nvSpPr>
            <p:cNvPr id="6" name="Freeform 6">
              <a:extLst>
                <a:ext uri="{FF2B5EF4-FFF2-40B4-BE49-F238E27FC236}">
                  <a16:creationId xmlns:a16="http://schemas.microsoft.com/office/drawing/2014/main" id="{0B971AD8-DF41-54E5-8A63-37912E18465A}"/>
                </a:ext>
              </a:extLst>
            </p:cNvPr>
            <p:cNvSpPr/>
            <p:nvPr/>
          </p:nvSpPr>
          <p:spPr>
            <a:xfrm>
              <a:off x="0" y="0"/>
              <a:ext cx="5184742" cy="210941"/>
            </a:xfrm>
            <a:custGeom>
              <a:avLst/>
              <a:gdLst/>
              <a:ahLst/>
              <a:cxnLst/>
              <a:rect l="l" t="t" r="r" b="b"/>
              <a:pathLst>
                <a:path w="5184742" h="210941">
                  <a:moveTo>
                    <a:pt x="0" y="0"/>
                  </a:moveTo>
                  <a:lnTo>
                    <a:pt x="5184742" y="0"/>
                  </a:lnTo>
                  <a:lnTo>
                    <a:pt x="5184742" y="210941"/>
                  </a:lnTo>
                  <a:lnTo>
                    <a:pt x="0" y="210941"/>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EE51C3BE-947C-0956-2237-1B1ADA251DD6}"/>
                </a:ext>
              </a:extLst>
            </p:cNvPr>
            <p:cNvSpPr txBox="1"/>
            <p:nvPr/>
          </p:nvSpPr>
          <p:spPr>
            <a:xfrm>
              <a:off x="0" y="-57150"/>
              <a:ext cx="5184741" cy="268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BAF2E87-EEE0-DC0D-818D-DB689D99A9A0}"/>
              </a:ext>
            </a:extLst>
          </p:cNvPr>
          <p:cNvGrpSpPr/>
          <p:nvPr/>
        </p:nvGrpSpPr>
        <p:grpSpPr>
          <a:xfrm>
            <a:off x="-698908" y="-590253"/>
            <a:ext cx="19685815" cy="951946"/>
            <a:chOff x="0" y="0"/>
            <a:chExt cx="5184741" cy="250718"/>
          </a:xfrm>
        </p:grpSpPr>
        <p:sp>
          <p:nvSpPr>
            <p:cNvPr id="9" name="Freeform 9">
              <a:extLst>
                <a:ext uri="{FF2B5EF4-FFF2-40B4-BE49-F238E27FC236}">
                  <a16:creationId xmlns:a16="http://schemas.microsoft.com/office/drawing/2014/main" id="{6A0EA685-05CC-A7AB-87C7-99BCB4564768}"/>
                </a:ext>
              </a:extLst>
            </p:cNvPr>
            <p:cNvSpPr/>
            <p:nvPr/>
          </p:nvSpPr>
          <p:spPr>
            <a:xfrm>
              <a:off x="0" y="0"/>
              <a:ext cx="5184742" cy="250718"/>
            </a:xfrm>
            <a:custGeom>
              <a:avLst/>
              <a:gdLst/>
              <a:ahLst/>
              <a:cxnLst/>
              <a:rect l="l" t="t" r="r" b="b"/>
              <a:pathLst>
                <a:path w="5184742" h="250718">
                  <a:moveTo>
                    <a:pt x="0" y="0"/>
                  </a:moveTo>
                  <a:lnTo>
                    <a:pt x="5184742" y="0"/>
                  </a:lnTo>
                  <a:lnTo>
                    <a:pt x="5184742" y="250718"/>
                  </a:lnTo>
                  <a:lnTo>
                    <a:pt x="0" y="250718"/>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C54B73C3-A2D3-064A-F4CB-2DC5CA4290FE}"/>
                </a:ext>
              </a:extLst>
            </p:cNvPr>
            <p:cNvSpPr txBox="1"/>
            <p:nvPr/>
          </p:nvSpPr>
          <p:spPr>
            <a:xfrm>
              <a:off x="0" y="-57150"/>
              <a:ext cx="5184741" cy="30786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a:extLst>
              <a:ext uri="{FF2B5EF4-FFF2-40B4-BE49-F238E27FC236}">
                <a16:creationId xmlns:a16="http://schemas.microsoft.com/office/drawing/2014/main" id="{C7D2DB3A-F659-CD1C-2A54-4060F6C5500D}"/>
              </a:ext>
            </a:extLst>
          </p:cNvPr>
          <p:cNvGrpSpPr/>
          <p:nvPr/>
        </p:nvGrpSpPr>
        <p:grpSpPr>
          <a:xfrm>
            <a:off x="13335000" y="9253126"/>
            <a:ext cx="3918346" cy="670011"/>
            <a:chOff x="0" y="-66675"/>
            <a:chExt cx="4327267" cy="893347"/>
          </a:xfrm>
        </p:grpSpPr>
        <p:sp>
          <p:nvSpPr>
            <p:cNvPr id="18" name="TextBox 18">
              <a:extLst>
                <a:ext uri="{FF2B5EF4-FFF2-40B4-BE49-F238E27FC236}">
                  <a16:creationId xmlns:a16="http://schemas.microsoft.com/office/drawing/2014/main" id="{6B62ABDF-6ED7-6F0D-D38D-043AD8FC5F3C}"/>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9" name="TextBox 19">
              <a:extLst>
                <a:ext uri="{FF2B5EF4-FFF2-40B4-BE49-F238E27FC236}">
                  <a16:creationId xmlns:a16="http://schemas.microsoft.com/office/drawing/2014/main" id="{9E2450B3-593F-94D6-A629-EBA6CF7EDE0D}"/>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07</a:t>
              </a:r>
            </a:p>
          </p:txBody>
        </p:sp>
        <p:sp>
          <p:nvSpPr>
            <p:cNvPr id="20" name="AutoShape 20">
              <a:extLst>
                <a:ext uri="{FF2B5EF4-FFF2-40B4-BE49-F238E27FC236}">
                  <a16:creationId xmlns:a16="http://schemas.microsoft.com/office/drawing/2014/main" id="{8163160F-051D-36E7-B6B1-B982648B05F1}"/>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
        <p:nvSpPr>
          <p:cNvPr id="23" name="TextBox 23">
            <a:extLst>
              <a:ext uri="{FF2B5EF4-FFF2-40B4-BE49-F238E27FC236}">
                <a16:creationId xmlns:a16="http://schemas.microsoft.com/office/drawing/2014/main" id="{60CDC15E-AC65-C427-6DBD-D33B18B8DCFE}"/>
              </a:ext>
            </a:extLst>
          </p:cNvPr>
          <p:cNvSpPr txBox="1"/>
          <p:nvPr/>
        </p:nvSpPr>
        <p:spPr>
          <a:xfrm>
            <a:off x="2552466" y="1579245"/>
            <a:ext cx="13078155" cy="851259"/>
          </a:xfrm>
          <a:prstGeom prst="rect">
            <a:avLst/>
          </a:prstGeom>
        </p:spPr>
        <p:txBody>
          <a:bodyPr lIns="0" tIns="0" rIns="0" bIns="0" rtlCol="0" anchor="t">
            <a:spAutoFit/>
          </a:bodyPr>
          <a:lstStyle/>
          <a:p>
            <a:pPr algn="ctr">
              <a:lnSpc>
                <a:spcPts val="6660"/>
              </a:lnSpc>
            </a:pPr>
            <a:r>
              <a:rPr lang="en-US" sz="5400" b="1" dirty="0">
                <a:solidFill>
                  <a:srgbClr val="343434"/>
                </a:solidFill>
                <a:latin typeface="Coco Gothic Heavy"/>
                <a:ea typeface="Coco Gothic Heavy"/>
                <a:cs typeface="Coco Gothic Heavy"/>
                <a:sym typeface="Coco Gothic Heavy"/>
              </a:rPr>
              <a:t>QUICK DEMONSTRATION (Part 5)</a:t>
            </a:r>
          </a:p>
        </p:txBody>
      </p:sp>
      <p:sp>
        <p:nvSpPr>
          <p:cNvPr id="33" name="TextBox 3">
            <a:extLst>
              <a:ext uri="{FF2B5EF4-FFF2-40B4-BE49-F238E27FC236}">
                <a16:creationId xmlns:a16="http://schemas.microsoft.com/office/drawing/2014/main" id="{B1CA3488-3C66-15F0-C504-677E5A2BC169}"/>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4" name="TextBox 4">
            <a:extLst>
              <a:ext uri="{FF2B5EF4-FFF2-40B4-BE49-F238E27FC236}">
                <a16:creationId xmlns:a16="http://schemas.microsoft.com/office/drawing/2014/main" id="{ADBEC4CD-4A7B-488B-7E33-16D72B7B4F00}"/>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35" name="Picture 34">
            <a:extLst>
              <a:ext uri="{FF2B5EF4-FFF2-40B4-BE49-F238E27FC236}">
                <a16:creationId xmlns:a16="http://schemas.microsoft.com/office/drawing/2014/main" id="{82CD1525-DAAE-BC9B-BB41-C3B9DA81D7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sp>
        <p:nvSpPr>
          <p:cNvPr id="36" name="TextBox 18">
            <a:extLst>
              <a:ext uri="{FF2B5EF4-FFF2-40B4-BE49-F238E27FC236}">
                <a16:creationId xmlns:a16="http://schemas.microsoft.com/office/drawing/2014/main" id="{4CA195A1-D47D-9ACF-D126-761069380CDA}"/>
              </a:ext>
            </a:extLst>
          </p:cNvPr>
          <p:cNvSpPr txBox="1"/>
          <p:nvPr/>
        </p:nvSpPr>
        <p:spPr>
          <a:xfrm>
            <a:off x="1219200" y="3086100"/>
            <a:ext cx="5105400" cy="2136482"/>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After seeing what you want in the list, you can simply choose the item by typing “give me item 4” or “I want the first” or “give me the last item”. The prompting engine will give you the product detail of the item you chosen.</a:t>
            </a:r>
          </a:p>
        </p:txBody>
      </p:sp>
      <p:pic>
        <p:nvPicPr>
          <p:cNvPr id="3" name="Picture 2">
            <a:extLst>
              <a:ext uri="{FF2B5EF4-FFF2-40B4-BE49-F238E27FC236}">
                <a16:creationId xmlns:a16="http://schemas.microsoft.com/office/drawing/2014/main" id="{EB0275E1-6C9B-23EA-6866-CF15C05DC199}"/>
              </a:ext>
            </a:extLst>
          </p:cNvPr>
          <p:cNvPicPr>
            <a:picLocks noChangeAspect="1"/>
          </p:cNvPicPr>
          <p:nvPr/>
        </p:nvPicPr>
        <p:blipFill>
          <a:blip r:embed="rId3"/>
          <a:stretch>
            <a:fillRect/>
          </a:stretch>
        </p:blipFill>
        <p:spPr>
          <a:xfrm>
            <a:off x="6781810" y="3086100"/>
            <a:ext cx="10744179" cy="5776381"/>
          </a:xfrm>
          <a:prstGeom prst="rect">
            <a:avLst/>
          </a:prstGeom>
          <a:ln>
            <a:solidFill>
              <a:schemeClr val="tx1"/>
            </a:solidFill>
          </a:ln>
        </p:spPr>
      </p:pic>
    </p:spTree>
    <p:extLst>
      <p:ext uri="{BB962C8B-B14F-4D97-AF65-F5344CB8AC3E}">
        <p14:creationId xmlns:p14="http://schemas.microsoft.com/office/powerpoint/2010/main" val="1972913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FCFE0-4C46-DC67-926E-BB51546485B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649B2F7D-CE8C-E529-8A76-202CA0FD0A77}"/>
              </a:ext>
            </a:extLst>
          </p:cNvPr>
          <p:cNvGrpSpPr/>
          <p:nvPr/>
        </p:nvGrpSpPr>
        <p:grpSpPr>
          <a:xfrm>
            <a:off x="-772763" y="9925307"/>
            <a:ext cx="19685815" cy="800916"/>
            <a:chOff x="0" y="0"/>
            <a:chExt cx="5184741" cy="210941"/>
          </a:xfrm>
        </p:grpSpPr>
        <p:sp>
          <p:nvSpPr>
            <p:cNvPr id="6" name="Freeform 6">
              <a:extLst>
                <a:ext uri="{FF2B5EF4-FFF2-40B4-BE49-F238E27FC236}">
                  <a16:creationId xmlns:a16="http://schemas.microsoft.com/office/drawing/2014/main" id="{E7928894-4342-FCB3-82CD-3B660B183FCF}"/>
                </a:ext>
              </a:extLst>
            </p:cNvPr>
            <p:cNvSpPr/>
            <p:nvPr/>
          </p:nvSpPr>
          <p:spPr>
            <a:xfrm>
              <a:off x="0" y="0"/>
              <a:ext cx="5184742" cy="210941"/>
            </a:xfrm>
            <a:custGeom>
              <a:avLst/>
              <a:gdLst/>
              <a:ahLst/>
              <a:cxnLst/>
              <a:rect l="l" t="t" r="r" b="b"/>
              <a:pathLst>
                <a:path w="5184742" h="210941">
                  <a:moveTo>
                    <a:pt x="0" y="0"/>
                  </a:moveTo>
                  <a:lnTo>
                    <a:pt x="5184742" y="0"/>
                  </a:lnTo>
                  <a:lnTo>
                    <a:pt x="5184742" y="210941"/>
                  </a:lnTo>
                  <a:lnTo>
                    <a:pt x="0" y="210941"/>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1AAD03F5-B56F-D274-C154-28E9A7C1E2C2}"/>
                </a:ext>
              </a:extLst>
            </p:cNvPr>
            <p:cNvSpPr txBox="1"/>
            <p:nvPr/>
          </p:nvSpPr>
          <p:spPr>
            <a:xfrm>
              <a:off x="0" y="-57150"/>
              <a:ext cx="5184741" cy="26809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F4D0A3F5-A7D8-FC4A-2665-1485E9378F2B}"/>
              </a:ext>
            </a:extLst>
          </p:cNvPr>
          <p:cNvGrpSpPr/>
          <p:nvPr/>
        </p:nvGrpSpPr>
        <p:grpSpPr>
          <a:xfrm>
            <a:off x="-698908" y="-590253"/>
            <a:ext cx="19685815" cy="951946"/>
            <a:chOff x="0" y="0"/>
            <a:chExt cx="5184741" cy="250718"/>
          </a:xfrm>
        </p:grpSpPr>
        <p:sp>
          <p:nvSpPr>
            <p:cNvPr id="9" name="Freeform 9">
              <a:extLst>
                <a:ext uri="{FF2B5EF4-FFF2-40B4-BE49-F238E27FC236}">
                  <a16:creationId xmlns:a16="http://schemas.microsoft.com/office/drawing/2014/main" id="{F959F3D6-1515-9B54-D146-79823733BE2E}"/>
                </a:ext>
              </a:extLst>
            </p:cNvPr>
            <p:cNvSpPr/>
            <p:nvPr/>
          </p:nvSpPr>
          <p:spPr>
            <a:xfrm>
              <a:off x="0" y="0"/>
              <a:ext cx="5184742" cy="250718"/>
            </a:xfrm>
            <a:custGeom>
              <a:avLst/>
              <a:gdLst/>
              <a:ahLst/>
              <a:cxnLst/>
              <a:rect l="l" t="t" r="r" b="b"/>
              <a:pathLst>
                <a:path w="5184742" h="250718">
                  <a:moveTo>
                    <a:pt x="0" y="0"/>
                  </a:moveTo>
                  <a:lnTo>
                    <a:pt x="5184742" y="0"/>
                  </a:lnTo>
                  <a:lnTo>
                    <a:pt x="5184742" y="250718"/>
                  </a:lnTo>
                  <a:lnTo>
                    <a:pt x="0" y="250718"/>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BC3B4247-FA02-0584-9953-295C2D2FDF5A}"/>
                </a:ext>
              </a:extLst>
            </p:cNvPr>
            <p:cNvSpPr txBox="1"/>
            <p:nvPr/>
          </p:nvSpPr>
          <p:spPr>
            <a:xfrm>
              <a:off x="0" y="-57150"/>
              <a:ext cx="5184741" cy="307868"/>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a:extLst>
              <a:ext uri="{FF2B5EF4-FFF2-40B4-BE49-F238E27FC236}">
                <a16:creationId xmlns:a16="http://schemas.microsoft.com/office/drawing/2014/main" id="{9F92829D-136F-CDE4-0B1F-5501671C8AB5}"/>
              </a:ext>
            </a:extLst>
          </p:cNvPr>
          <p:cNvGrpSpPr/>
          <p:nvPr/>
        </p:nvGrpSpPr>
        <p:grpSpPr>
          <a:xfrm>
            <a:off x="13335000" y="9253126"/>
            <a:ext cx="3918346" cy="670011"/>
            <a:chOff x="0" y="-66675"/>
            <a:chExt cx="4327267" cy="893347"/>
          </a:xfrm>
        </p:grpSpPr>
        <p:sp>
          <p:nvSpPr>
            <p:cNvPr id="18" name="TextBox 18">
              <a:extLst>
                <a:ext uri="{FF2B5EF4-FFF2-40B4-BE49-F238E27FC236}">
                  <a16:creationId xmlns:a16="http://schemas.microsoft.com/office/drawing/2014/main" id="{327BB3A9-924A-A94B-C58F-0321441086F9}"/>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9" name="TextBox 19">
              <a:extLst>
                <a:ext uri="{FF2B5EF4-FFF2-40B4-BE49-F238E27FC236}">
                  <a16:creationId xmlns:a16="http://schemas.microsoft.com/office/drawing/2014/main" id="{1D408EBD-1468-9BF5-A233-E27A00E4C16E}"/>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08</a:t>
              </a:r>
            </a:p>
          </p:txBody>
        </p:sp>
        <p:sp>
          <p:nvSpPr>
            <p:cNvPr id="20" name="AutoShape 20">
              <a:extLst>
                <a:ext uri="{FF2B5EF4-FFF2-40B4-BE49-F238E27FC236}">
                  <a16:creationId xmlns:a16="http://schemas.microsoft.com/office/drawing/2014/main" id="{1E05D462-22FE-673D-09EF-A445DCF7B033}"/>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
        <p:nvSpPr>
          <p:cNvPr id="23" name="TextBox 23">
            <a:extLst>
              <a:ext uri="{FF2B5EF4-FFF2-40B4-BE49-F238E27FC236}">
                <a16:creationId xmlns:a16="http://schemas.microsoft.com/office/drawing/2014/main" id="{E04D974A-1CF8-807A-78E3-2AAA64FDD4C9}"/>
              </a:ext>
            </a:extLst>
          </p:cNvPr>
          <p:cNvSpPr txBox="1"/>
          <p:nvPr/>
        </p:nvSpPr>
        <p:spPr>
          <a:xfrm>
            <a:off x="2552466" y="1579245"/>
            <a:ext cx="13078155" cy="851259"/>
          </a:xfrm>
          <a:prstGeom prst="rect">
            <a:avLst/>
          </a:prstGeom>
        </p:spPr>
        <p:txBody>
          <a:bodyPr lIns="0" tIns="0" rIns="0" bIns="0" rtlCol="0" anchor="t">
            <a:spAutoFit/>
          </a:bodyPr>
          <a:lstStyle/>
          <a:p>
            <a:pPr algn="ctr">
              <a:lnSpc>
                <a:spcPts val="6660"/>
              </a:lnSpc>
            </a:pPr>
            <a:r>
              <a:rPr lang="en-US" sz="5400" b="1" dirty="0">
                <a:solidFill>
                  <a:srgbClr val="343434"/>
                </a:solidFill>
                <a:latin typeface="Coco Gothic Heavy"/>
                <a:ea typeface="Coco Gothic Heavy"/>
                <a:cs typeface="Coco Gothic Heavy"/>
                <a:sym typeface="Coco Gothic Heavy"/>
              </a:rPr>
              <a:t>QUICK DEMONSTRATION (Part 6)</a:t>
            </a:r>
          </a:p>
        </p:txBody>
      </p:sp>
      <p:sp>
        <p:nvSpPr>
          <p:cNvPr id="33" name="TextBox 3">
            <a:extLst>
              <a:ext uri="{FF2B5EF4-FFF2-40B4-BE49-F238E27FC236}">
                <a16:creationId xmlns:a16="http://schemas.microsoft.com/office/drawing/2014/main" id="{9C6DA4D1-7BE7-5AB6-0D8E-91CEAA64A5E3}"/>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4" name="TextBox 4">
            <a:extLst>
              <a:ext uri="{FF2B5EF4-FFF2-40B4-BE49-F238E27FC236}">
                <a16:creationId xmlns:a16="http://schemas.microsoft.com/office/drawing/2014/main" id="{52B22C30-8977-9D87-12B5-D7BAAB0E5907}"/>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35" name="Picture 34">
            <a:extLst>
              <a:ext uri="{FF2B5EF4-FFF2-40B4-BE49-F238E27FC236}">
                <a16:creationId xmlns:a16="http://schemas.microsoft.com/office/drawing/2014/main" id="{AA3A276C-71D3-6F29-EEEC-3C9CF24AD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sp>
        <p:nvSpPr>
          <p:cNvPr id="36" name="TextBox 18">
            <a:extLst>
              <a:ext uri="{FF2B5EF4-FFF2-40B4-BE49-F238E27FC236}">
                <a16:creationId xmlns:a16="http://schemas.microsoft.com/office/drawing/2014/main" id="{324E0EC0-6A26-79FF-E041-608287F70755}"/>
              </a:ext>
            </a:extLst>
          </p:cNvPr>
          <p:cNvSpPr txBox="1"/>
          <p:nvPr/>
        </p:nvSpPr>
        <p:spPr>
          <a:xfrm>
            <a:off x="1219200" y="3086100"/>
            <a:ext cx="5105400" cy="5368136"/>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Next, for the payment, you only need to type “I proceed with </a:t>
            </a:r>
            <a:r>
              <a:rPr lang="en-US" sz="2000" dirty="0" err="1">
                <a:solidFill>
                  <a:srgbClr val="343434"/>
                </a:solidFill>
                <a:latin typeface="Poppins"/>
                <a:ea typeface="Poppins"/>
                <a:cs typeface="Poppins"/>
                <a:sym typeface="Poppins"/>
              </a:rPr>
              <a:t>mastercard</a:t>
            </a:r>
            <a:r>
              <a:rPr lang="en-US" sz="2000" dirty="0">
                <a:solidFill>
                  <a:srgbClr val="343434"/>
                </a:solidFill>
                <a:latin typeface="Poppins"/>
                <a:ea typeface="Poppins"/>
                <a:cs typeface="Poppins"/>
                <a:sym typeface="Poppins"/>
              </a:rPr>
              <a:t>” or “I will purchase it with Dana”.</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You can see that I intendedly writing typo in the prompt to test if the prompting engine still understand what I really mean.</a:t>
            </a:r>
          </a:p>
          <a:p>
            <a:pPr algn="just">
              <a:lnSpc>
                <a:spcPts val="2800"/>
              </a:lnSpc>
            </a:pPr>
            <a:endParaRPr lang="en-US" sz="2000" dirty="0">
              <a:solidFill>
                <a:srgbClr val="343434"/>
              </a:solidFill>
              <a:latin typeface="Poppins"/>
              <a:ea typeface="Poppins"/>
              <a:cs typeface="Poppins"/>
              <a:sym typeface="Poppins"/>
            </a:endParaRPr>
          </a:p>
          <a:p>
            <a:pPr algn="just">
              <a:lnSpc>
                <a:spcPts val="2800"/>
              </a:lnSpc>
            </a:pPr>
            <a:r>
              <a:rPr lang="en-US" sz="2000" dirty="0">
                <a:solidFill>
                  <a:srgbClr val="343434"/>
                </a:solidFill>
                <a:latin typeface="Poppins"/>
                <a:ea typeface="Poppins"/>
                <a:cs typeface="Poppins"/>
                <a:sym typeface="Poppins"/>
              </a:rPr>
              <a:t>Since the prompting engine is using the machine-learning classifier and advanced fuzzy string matching to map the prompt meaning, the prompting engine will understand what you want even if you typing it in a lot of typo.</a:t>
            </a:r>
          </a:p>
        </p:txBody>
      </p:sp>
      <p:pic>
        <p:nvPicPr>
          <p:cNvPr id="4" name="Picture 3">
            <a:extLst>
              <a:ext uri="{FF2B5EF4-FFF2-40B4-BE49-F238E27FC236}">
                <a16:creationId xmlns:a16="http://schemas.microsoft.com/office/drawing/2014/main" id="{D1F9ED9B-F7BC-1FA9-9877-14503DA59008}"/>
              </a:ext>
            </a:extLst>
          </p:cNvPr>
          <p:cNvPicPr>
            <a:picLocks noChangeAspect="1"/>
          </p:cNvPicPr>
          <p:nvPr/>
        </p:nvPicPr>
        <p:blipFill>
          <a:blip r:embed="rId3"/>
          <a:stretch>
            <a:fillRect/>
          </a:stretch>
        </p:blipFill>
        <p:spPr>
          <a:xfrm>
            <a:off x="6781800" y="3069609"/>
            <a:ext cx="10744176" cy="5776381"/>
          </a:xfrm>
          <a:prstGeom prst="rect">
            <a:avLst/>
          </a:prstGeom>
          <a:ln>
            <a:solidFill>
              <a:schemeClr val="tx1"/>
            </a:solidFill>
          </a:ln>
        </p:spPr>
      </p:pic>
    </p:spTree>
    <p:extLst>
      <p:ext uri="{BB962C8B-B14F-4D97-AF65-F5344CB8AC3E}">
        <p14:creationId xmlns:p14="http://schemas.microsoft.com/office/powerpoint/2010/main" val="175217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72763" y="9925307"/>
            <a:ext cx="19685815" cy="801384"/>
            <a:chOff x="0" y="0"/>
            <a:chExt cx="5184741" cy="211064"/>
          </a:xfrm>
        </p:grpSpPr>
        <p:sp>
          <p:nvSpPr>
            <p:cNvPr id="6" name="Freeform 6"/>
            <p:cNvSpPr/>
            <p:nvPr/>
          </p:nvSpPr>
          <p:spPr>
            <a:xfrm>
              <a:off x="0" y="0"/>
              <a:ext cx="5184742" cy="211064"/>
            </a:xfrm>
            <a:custGeom>
              <a:avLst/>
              <a:gdLst/>
              <a:ahLst/>
              <a:cxnLst/>
              <a:rect l="l" t="t" r="r" b="b"/>
              <a:pathLst>
                <a:path w="5184742" h="211064">
                  <a:moveTo>
                    <a:pt x="0" y="0"/>
                  </a:moveTo>
                  <a:lnTo>
                    <a:pt x="5184742" y="0"/>
                  </a:lnTo>
                  <a:lnTo>
                    <a:pt x="5184742" y="211064"/>
                  </a:lnTo>
                  <a:lnTo>
                    <a:pt x="0" y="211064"/>
                  </a:lnTo>
                  <a:close/>
                </a:path>
              </a:pathLst>
            </a:custGeom>
            <a:solidFill>
              <a:schemeClr val="tx2">
                <a:lumMod val="40000"/>
                <a:lumOff val="60000"/>
              </a:schemeClr>
            </a:solidFill>
          </p:spPr>
          <p:txBody>
            <a:bodyPr/>
            <a:lstStyle/>
            <a:p>
              <a:endParaRPr lang="en-ID" dirty="0"/>
            </a:p>
          </p:txBody>
        </p:sp>
        <p:sp>
          <p:nvSpPr>
            <p:cNvPr id="7" name="TextBox 7"/>
            <p:cNvSpPr txBox="1"/>
            <p:nvPr/>
          </p:nvSpPr>
          <p:spPr>
            <a:xfrm>
              <a:off x="0" y="-57150"/>
              <a:ext cx="5184741" cy="268214"/>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8" name="Group 8"/>
          <p:cNvGrpSpPr/>
          <p:nvPr/>
        </p:nvGrpSpPr>
        <p:grpSpPr>
          <a:xfrm>
            <a:off x="-698908" y="-450729"/>
            <a:ext cx="19685815" cy="812421"/>
            <a:chOff x="0" y="0"/>
            <a:chExt cx="5184741" cy="213971"/>
          </a:xfrm>
        </p:grpSpPr>
        <p:sp>
          <p:nvSpPr>
            <p:cNvPr id="9" name="Freeform 9"/>
            <p:cNvSpPr/>
            <p:nvPr/>
          </p:nvSpPr>
          <p:spPr>
            <a:xfrm>
              <a:off x="0" y="0"/>
              <a:ext cx="5184742" cy="213971"/>
            </a:xfrm>
            <a:custGeom>
              <a:avLst/>
              <a:gdLst/>
              <a:ahLst/>
              <a:cxnLst/>
              <a:rect l="l" t="t" r="r" b="b"/>
              <a:pathLst>
                <a:path w="5184742" h="213971">
                  <a:moveTo>
                    <a:pt x="0" y="0"/>
                  </a:moveTo>
                  <a:lnTo>
                    <a:pt x="5184742" y="0"/>
                  </a:lnTo>
                  <a:lnTo>
                    <a:pt x="5184742" y="213971"/>
                  </a:lnTo>
                  <a:lnTo>
                    <a:pt x="0" y="213971"/>
                  </a:lnTo>
                  <a:close/>
                </a:path>
              </a:pathLst>
            </a:custGeom>
            <a:solidFill>
              <a:schemeClr val="tx2">
                <a:lumMod val="20000"/>
                <a:lumOff val="80000"/>
              </a:schemeClr>
            </a:solidFill>
          </p:spPr>
          <p:txBody>
            <a:bodyPr/>
            <a:lstStyle/>
            <a:p>
              <a:endParaRPr lang="en-ID" dirty="0"/>
            </a:p>
          </p:txBody>
        </p:sp>
        <p:sp>
          <p:nvSpPr>
            <p:cNvPr id="10" name="TextBox 10"/>
            <p:cNvSpPr txBox="1"/>
            <p:nvPr/>
          </p:nvSpPr>
          <p:spPr>
            <a:xfrm>
              <a:off x="0" y="-57150"/>
              <a:ext cx="5184741" cy="271121"/>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245582" y="3467100"/>
            <a:ext cx="4822865" cy="920729"/>
            <a:chOff x="0" y="0"/>
            <a:chExt cx="6430487" cy="1227638"/>
          </a:xfrm>
        </p:grpSpPr>
        <p:sp>
          <p:nvSpPr>
            <p:cNvPr id="16" name="Freeform 16"/>
            <p:cNvSpPr/>
            <p:nvPr/>
          </p:nvSpPr>
          <p:spPr>
            <a:xfrm flipH="1">
              <a:off x="0" y="0"/>
              <a:ext cx="6430487" cy="1227638"/>
            </a:xfrm>
            <a:custGeom>
              <a:avLst/>
              <a:gdLst/>
              <a:ahLst/>
              <a:cxnLst/>
              <a:rect l="l" t="t" r="r" b="b"/>
              <a:pathLst>
                <a:path w="6430487" h="1227638">
                  <a:moveTo>
                    <a:pt x="6430487" y="0"/>
                  </a:moveTo>
                  <a:lnTo>
                    <a:pt x="0" y="0"/>
                  </a:lnTo>
                  <a:lnTo>
                    <a:pt x="0" y="1227638"/>
                  </a:lnTo>
                  <a:lnTo>
                    <a:pt x="6430487" y="1227638"/>
                  </a:lnTo>
                  <a:lnTo>
                    <a:pt x="6430487" y="0"/>
                  </a:lnTo>
                  <a:close/>
                </a:path>
              </a:pathLst>
            </a:custGeom>
            <a:solidFill>
              <a:schemeClr val="tx2">
                <a:lumMod val="60000"/>
                <a:lumOff val="40000"/>
              </a:schemeClr>
            </a:solidFill>
          </p:spPr>
          <p:txBody>
            <a:bodyPr/>
            <a:lstStyle/>
            <a:p>
              <a:endParaRPr lang="en-ID" dirty="0"/>
            </a:p>
          </p:txBody>
        </p:sp>
        <p:sp>
          <p:nvSpPr>
            <p:cNvPr id="17" name="TextBox 17"/>
            <p:cNvSpPr txBox="1"/>
            <p:nvPr/>
          </p:nvSpPr>
          <p:spPr>
            <a:xfrm>
              <a:off x="98003" y="153053"/>
              <a:ext cx="1180768" cy="816757"/>
            </a:xfrm>
            <a:prstGeom prst="rect">
              <a:avLst/>
            </a:prstGeom>
          </p:spPr>
          <p:txBody>
            <a:bodyPr lIns="0" tIns="0" rIns="0" bIns="0" rtlCol="0" anchor="t">
              <a:spAutoFit/>
            </a:bodyPr>
            <a:lstStyle/>
            <a:p>
              <a:pPr algn="ctr">
                <a:lnSpc>
                  <a:spcPts val="4902"/>
                </a:lnSpc>
              </a:pPr>
              <a:r>
                <a:rPr lang="en-US" sz="3501" b="1">
                  <a:solidFill>
                    <a:srgbClr val="FFFFFF"/>
                  </a:solidFill>
                  <a:latin typeface="Coco Gothic Heavy"/>
                  <a:ea typeface="Coco Gothic Heavy"/>
                  <a:cs typeface="Coco Gothic Heavy"/>
                  <a:sym typeface="Coco Gothic Heavy"/>
                </a:rPr>
                <a:t>01.</a:t>
              </a:r>
            </a:p>
          </p:txBody>
        </p:sp>
        <p:sp>
          <p:nvSpPr>
            <p:cNvPr id="18" name="TextBox 18"/>
            <p:cNvSpPr txBox="1"/>
            <p:nvPr/>
          </p:nvSpPr>
          <p:spPr>
            <a:xfrm>
              <a:off x="1349017" y="390510"/>
              <a:ext cx="5081470" cy="443198"/>
            </a:xfrm>
            <a:prstGeom prst="rect">
              <a:avLst/>
            </a:prstGeom>
          </p:spPr>
          <p:txBody>
            <a:bodyPr lIns="0" tIns="0" rIns="0" bIns="0" rtlCol="0" anchor="t">
              <a:spAutoFit/>
            </a:bodyPr>
            <a:lstStyle/>
            <a:p>
              <a:pPr algn="ctr">
                <a:lnSpc>
                  <a:spcPts val="2499"/>
                </a:lnSpc>
              </a:pPr>
              <a:r>
                <a:rPr lang="en-US" sz="2499" b="1" dirty="0">
                  <a:solidFill>
                    <a:srgbClr val="FFFFFF"/>
                  </a:solidFill>
                  <a:latin typeface="Coco Gothic Bold"/>
                  <a:ea typeface="Coco Gothic Bold"/>
                  <a:cs typeface="Coco Gothic Bold"/>
                  <a:sym typeface="Coco Gothic Bold"/>
                </a:rPr>
                <a:t>Backend</a:t>
              </a:r>
            </a:p>
          </p:txBody>
        </p:sp>
      </p:grpSp>
      <p:sp>
        <p:nvSpPr>
          <p:cNvPr id="19" name="TextBox 19"/>
          <p:cNvSpPr txBox="1"/>
          <p:nvPr/>
        </p:nvSpPr>
        <p:spPr>
          <a:xfrm>
            <a:off x="6573272" y="4126709"/>
            <a:ext cx="885576" cy="674957"/>
          </a:xfrm>
          <a:prstGeom prst="rect">
            <a:avLst/>
          </a:prstGeom>
        </p:spPr>
        <p:txBody>
          <a:bodyPr lIns="0" tIns="0" rIns="0" bIns="0" rtlCol="0" anchor="t">
            <a:spAutoFit/>
          </a:bodyPr>
          <a:lstStyle/>
          <a:p>
            <a:pPr algn="ctr">
              <a:lnSpc>
                <a:spcPts val="5322"/>
              </a:lnSpc>
            </a:pPr>
            <a:r>
              <a:rPr lang="en-US" sz="3801" b="1">
                <a:solidFill>
                  <a:srgbClr val="FFFFFF"/>
                </a:solidFill>
                <a:latin typeface="Coco Gothic Heavy"/>
                <a:ea typeface="Coco Gothic Heavy"/>
                <a:cs typeface="Coco Gothic Heavy"/>
                <a:sym typeface="Coco Gothic Heavy"/>
              </a:rPr>
              <a:t>01.</a:t>
            </a:r>
          </a:p>
        </p:txBody>
      </p:sp>
      <p:sp>
        <p:nvSpPr>
          <p:cNvPr id="20" name="TextBox 20"/>
          <p:cNvSpPr txBox="1"/>
          <p:nvPr/>
        </p:nvSpPr>
        <p:spPr>
          <a:xfrm>
            <a:off x="7697127" y="4356238"/>
            <a:ext cx="3846870" cy="349250"/>
          </a:xfrm>
          <a:prstGeom prst="rect">
            <a:avLst/>
          </a:prstGeom>
        </p:spPr>
        <p:txBody>
          <a:bodyPr lIns="0" tIns="0" rIns="0" bIns="0" rtlCol="0" anchor="t">
            <a:spAutoFit/>
          </a:bodyPr>
          <a:lstStyle/>
          <a:p>
            <a:pPr algn="ctr">
              <a:lnSpc>
                <a:spcPts val="2499"/>
              </a:lnSpc>
            </a:pPr>
            <a:r>
              <a:rPr lang="en-US" sz="2499" b="1">
                <a:solidFill>
                  <a:srgbClr val="FFFFFF"/>
                </a:solidFill>
                <a:latin typeface="Coco Gothic Bold"/>
                <a:ea typeface="Coco Gothic Bold"/>
                <a:cs typeface="Coco Gothic Bold"/>
                <a:sym typeface="Coco Gothic Bold"/>
              </a:rPr>
              <a:t>METODE SATU</a:t>
            </a:r>
          </a:p>
        </p:txBody>
      </p:sp>
      <p:sp>
        <p:nvSpPr>
          <p:cNvPr id="21" name="TextBox 21"/>
          <p:cNvSpPr txBox="1"/>
          <p:nvPr/>
        </p:nvSpPr>
        <p:spPr>
          <a:xfrm>
            <a:off x="12044343" y="4126709"/>
            <a:ext cx="885576" cy="674957"/>
          </a:xfrm>
          <a:prstGeom prst="rect">
            <a:avLst/>
          </a:prstGeom>
        </p:spPr>
        <p:txBody>
          <a:bodyPr lIns="0" tIns="0" rIns="0" bIns="0" rtlCol="0" anchor="t">
            <a:spAutoFit/>
          </a:bodyPr>
          <a:lstStyle/>
          <a:p>
            <a:pPr algn="ctr">
              <a:lnSpc>
                <a:spcPts val="5322"/>
              </a:lnSpc>
            </a:pPr>
            <a:r>
              <a:rPr lang="en-US" sz="3801" b="1">
                <a:solidFill>
                  <a:srgbClr val="FFFFFF"/>
                </a:solidFill>
                <a:latin typeface="Coco Gothic Heavy"/>
                <a:ea typeface="Coco Gothic Heavy"/>
                <a:cs typeface="Coco Gothic Heavy"/>
                <a:sym typeface="Coco Gothic Heavy"/>
              </a:rPr>
              <a:t>01.</a:t>
            </a:r>
          </a:p>
        </p:txBody>
      </p:sp>
      <p:sp>
        <p:nvSpPr>
          <p:cNvPr id="22" name="TextBox 22"/>
          <p:cNvSpPr txBox="1"/>
          <p:nvPr/>
        </p:nvSpPr>
        <p:spPr>
          <a:xfrm>
            <a:off x="13168197" y="4356238"/>
            <a:ext cx="3846870" cy="349250"/>
          </a:xfrm>
          <a:prstGeom prst="rect">
            <a:avLst/>
          </a:prstGeom>
        </p:spPr>
        <p:txBody>
          <a:bodyPr lIns="0" tIns="0" rIns="0" bIns="0" rtlCol="0" anchor="t">
            <a:spAutoFit/>
          </a:bodyPr>
          <a:lstStyle/>
          <a:p>
            <a:pPr algn="ctr">
              <a:lnSpc>
                <a:spcPts val="2499"/>
              </a:lnSpc>
            </a:pPr>
            <a:r>
              <a:rPr lang="en-US" sz="2499" b="1">
                <a:solidFill>
                  <a:srgbClr val="FFFFFF"/>
                </a:solidFill>
                <a:latin typeface="Coco Gothic Bold"/>
                <a:ea typeface="Coco Gothic Bold"/>
                <a:cs typeface="Coco Gothic Bold"/>
                <a:sym typeface="Coco Gothic Bold"/>
              </a:rPr>
              <a:t>METODE SATU</a:t>
            </a:r>
          </a:p>
        </p:txBody>
      </p:sp>
      <p:grpSp>
        <p:nvGrpSpPr>
          <p:cNvPr id="23" name="Group 23"/>
          <p:cNvGrpSpPr/>
          <p:nvPr/>
        </p:nvGrpSpPr>
        <p:grpSpPr>
          <a:xfrm>
            <a:off x="6718892" y="3467100"/>
            <a:ext cx="4822865" cy="920729"/>
            <a:chOff x="0" y="0"/>
            <a:chExt cx="6430487" cy="1227638"/>
          </a:xfrm>
        </p:grpSpPr>
        <p:sp>
          <p:nvSpPr>
            <p:cNvPr id="24" name="Freeform 24"/>
            <p:cNvSpPr/>
            <p:nvPr/>
          </p:nvSpPr>
          <p:spPr>
            <a:xfrm flipH="1">
              <a:off x="0" y="0"/>
              <a:ext cx="6430487" cy="1227638"/>
            </a:xfrm>
            <a:custGeom>
              <a:avLst/>
              <a:gdLst/>
              <a:ahLst/>
              <a:cxnLst/>
              <a:rect l="l" t="t" r="r" b="b"/>
              <a:pathLst>
                <a:path w="6430487" h="1227638">
                  <a:moveTo>
                    <a:pt x="6430487" y="0"/>
                  </a:moveTo>
                  <a:lnTo>
                    <a:pt x="0" y="0"/>
                  </a:lnTo>
                  <a:lnTo>
                    <a:pt x="0" y="1227638"/>
                  </a:lnTo>
                  <a:lnTo>
                    <a:pt x="6430487" y="1227638"/>
                  </a:lnTo>
                  <a:lnTo>
                    <a:pt x="6430487" y="0"/>
                  </a:lnTo>
                  <a:close/>
                </a:path>
              </a:pathLst>
            </a:custGeom>
            <a:solidFill>
              <a:schemeClr val="tx2">
                <a:lumMod val="60000"/>
                <a:lumOff val="40000"/>
              </a:schemeClr>
            </a:solidFill>
          </p:spPr>
          <p:txBody>
            <a:bodyPr/>
            <a:lstStyle/>
            <a:p>
              <a:endParaRPr lang="en-ID" dirty="0"/>
            </a:p>
          </p:txBody>
        </p:sp>
        <p:sp>
          <p:nvSpPr>
            <p:cNvPr id="25" name="TextBox 25"/>
            <p:cNvSpPr txBox="1"/>
            <p:nvPr/>
          </p:nvSpPr>
          <p:spPr>
            <a:xfrm>
              <a:off x="98003" y="153053"/>
              <a:ext cx="1180768" cy="816757"/>
            </a:xfrm>
            <a:prstGeom prst="rect">
              <a:avLst/>
            </a:prstGeom>
          </p:spPr>
          <p:txBody>
            <a:bodyPr lIns="0" tIns="0" rIns="0" bIns="0" rtlCol="0" anchor="t">
              <a:spAutoFit/>
            </a:bodyPr>
            <a:lstStyle/>
            <a:p>
              <a:pPr algn="ctr">
                <a:lnSpc>
                  <a:spcPts val="4902"/>
                </a:lnSpc>
              </a:pPr>
              <a:r>
                <a:rPr lang="en-US" sz="3501" b="1">
                  <a:solidFill>
                    <a:srgbClr val="FFFFFF"/>
                  </a:solidFill>
                  <a:latin typeface="Coco Gothic Heavy"/>
                  <a:ea typeface="Coco Gothic Heavy"/>
                  <a:cs typeface="Coco Gothic Heavy"/>
                  <a:sym typeface="Coco Gothic Heavy"/>
                </a:rPr>
                <a:t>02.</a:t>
              </a:r>
            </a:p>
          </p:txBody>
        </p:sp>
        <p:sp>
          <p:nvSpPr>
            <p:cNvPr id="26" name="TextBox 26"/>
            <p:cNvSpPr txBox="1"/>
            <p:nvPr/>
          </p:nvSpPr>
          <p:spPr>
            <a:xfrm>
              <a:off x="1349017" y="390510"/>
              <a:ext cx="5081470" cy="443198"/>
            </a:xfrm>
            <a:prstGeom prst="rect">
              <a:avLst/>
            </a:prstGeom>
          </p:spPr>
          <p:txBody>
            <a:bodyPr lIns="0" tIns="0" rIns="0" bIns="0" rtlCol="0" anchor="t">
              <a:spAutoFit/>
            </a:bodyPr>
            <a:lstStyle/>
            <a:p>
              <a:pPr algn="ctr">
                <a:lnSpc>
                  <a:spcPts val="2499"/>
                </a:lnSpc>
              </a:pPr>
              <a:r>
                <a:rPr lang="en-US" sz="2499" b="1">
                  <a:solidFill>
                    <a:srgbClr val="FFFFFF"/>
                  </a:solidFill>
                  <a:latin typeface="Coco Gothic Bold"/>
                  <a:ea typeface="Coco Gothic Bold"/>
                  <a:cs typeface="Coco Gothic Bold"/>
                  <a:sym typeface="Coco Gothic Bold"/>
                </a:rPr>
                <a:t>Frontend</a:t>
              </a:r>
              <a:endParaRPr lang="en-US" sz="2499" b="1" dirty="0">
                <a:solidFill>
                  <a:srgbClr val="FFFFFF"/>
                </a:solidFill>
                <a:latin typeface="Coco Gothic Bold"/>
                <a:ea typeface="Coco Gothic Bold"/>
                <a:cs typeface="Coco Gothic Bold"/>
                <a:sym typeface="Coco Gothic Bold"/>
              </a:endParaRPr>
            </a:p>
          </p:txBody>
        </p:sp>
      </p:grpSp>
      <p:grpSp>
        <p:nvGrpSpPr>
          <p:cNvPr id="27" name="Group 27"/>
          <p:cNvGrpSpPr/>
          <p:nvPr/>
        </p:nvGrpSpPr>
        <p:grpSpPr>
          <a:xfrm>
            <a:off x="12192202" y="3467100"/>
            <a:ext cx="4822865" cy="920729"/>
            <a:chOff x="0" y="0"/>
            <a:chExt cx="6430487" cy="1227638"/>
          </a:xfrm>
        </p:grpSpPr>
        <p:sp>
          <p:nvSpPr>
            <p:cNvPr id="28" name="Freeform 28"/>
            <p:cNvSpPr/>
            <p:nvPr/>
          </p:nvSpPr>
          <p:spPr>
            <a:xfrm flipH="1">
              <a:off x="0" y="0"/>
              <a:ext cx="6430487" cy="1227638"/>
            </a:xfrm>
            <a:custGeom>
              <a:avLst/>
              <a:gdLst/>
              <a:ahLst/>
              <a:cxnLst/>
              <a:rect l="l" t="t" r="r" b="b"/>
              <a:pathLst>
                <a:path w="6430487" h="1227638">
                  <a:moveTo>
                    <a:pt x="6430487" y="0"/>
                  </a:moveTo>
                  <a:lnTo>
                    <a:pt x="0" y="0"/>
                  </a:lnTo>
                  <a:lnTo>
                    <a:pt x="0" y="1227638"/>
                  </a:lnTo>
                  <a:lnTo>
                    <a:pt x="6430487" y="1227638"/>
                  </a:lnTo>
                  <a:lnTo>
                    <a:pt x="6430487" y="0"/>
                  </a:lnTo>
                  <a:close/>
                </a:path>
              </a:pathLst>
            </a:custGeom>
            <a:solidFill>
              <a:schemeClr val="tx2">
                <a:lumMod val="60000"/>
                <a:lumOff val="40000"/>
              </a:schemeClr>
            </a:solidFill>
          </p:spPr>
          <p:txBody>
            <a:bodyPr/>
            <a:lstStyle/>
            <a:p>
              <a:endParaRPr lang="en-ID"/>
            </a:p>
          </p:txBody>
        </p:sp>
        <p:sp>
          <p:nvSpPr>
            <p:cNvPr id="29" name="TextBox 29"/>
            <p:cNvSpPr txBox="1"/>
            <p:nvPr/>
          </p:nvSpPr>
          <p:spPr>
            <a:xfrm>
              <a:off x="98003" y="153053"/>
              <a:ext cx="1180768" cy="816757"/>
            </a:xfrm>
            <a:prstGeom prst="rect">
              <a:avLst/>
            </a:prstGeom>
          </p:spPr>
          <p:txBody>
            <a:bodyPr lIns="0" tIns="0" rIns="0" bIns="0" rtlCol="0" anchor="t">
              <a:spAutoFit/>
            </a:bodyPr>
            <a:lstStyle/>
            <a:p>
              <a:pPr algn="ctr">
                <a:lnSpc>
                  <a:spcPts val="4902"/>
                </a:lnSpc>
              </a:pPr>
              <a:r>
                <a:rPr lang="en-US" sz="3501" b="1">
                  <a:solidFill>
                    <a:srgbClr val="FFFFFF"/>
                  </a:solidFill>
                  <a:latin typeface="Coco Gothic Heavy"/>
                  <a:ea typeface="Coco Gothic Heavy"/>
                  <a:cs typeface="Coco Gothic Heavy"/>
                  <a:sym typeface="Coco Gothic Heavy"/>
                </a:rPr>
                <a:t>03.</a:t>
              </a:r>
            </a:p>
          </p:txBody>
        </p:sp>
        <p:sp>
          <p:nvSpPr>
            <p:cNvPr id="30" name="TextBox 30"/>
            <p:cNvSpPr txBox="1"/>
            <p:nvPr/>
          </p:nvSpPr>
          <p:spPr>
            <a:xfrm>
              <a:off x="1349017" y="390510"/>
              <a:ext cx="5081470" cy="443198"/>
            </a:xfrm>
            <a:prstGeom prst="rect">
              <a:avLst/>
            </a:prstGeom>
          </p:spPr>
          <p:txBody>
            <a:bodyPr lIns="0" tIns="0" rIns="0" bIns="0" rtlCol="0" anchor="t">
              <a:spAutoFit/>
            </a:bodyPr>
            <a:lstStyle/>
            <a:p>
              <a:pPr algn="ctr">
                <a:lnSpc>
                  <a:spcPts val="2499"/>
                </a:lnSpc>
              </a:pPr>
              <a:r>
                <a:rPr lang="en-US" sz="2499" b="1" dirty="0">
                  <a:solidFill>
                    <a:srgbClr val="FFFFFF"/>
                  </a:solidFill>
                  <a:latin typeface="Coco Gothic Bold"/>
                  <a:ea typeface="Coco Gothic Bold"/>
                  <a:cs typeface="Coco Gothic Bold"/>
                  <a:sym typeface="Coco Gothic Bold"/>
                </a:rPr>
                <a:t>AI &amp; Machine Learning</a:t>
              </a:r>
            </a:p>
          </p:txBody>
        </p:sp>
      </p:grpSp>
      <p:sp>
        <p:nvSpPr>
          <p:cNvPr id="34" name="TextBox 34"/>
          <p:cNvSpPr txBox="1"/>
          <p:nvPr/>
        </p:nvSpPr>
        <p:spPr>
          <a:xfrm>
            <a:off x="3733800" y="1638300"/>
            <a:ext cx="10820399" cy="874278"/>
          </a:xfrm>
          <a:prstGeom prst="rect">
            <a:avLst/>
          </a:prstGeom>
        </p:spPr>
        <p:txBody>
          <a:bodyPr wrap="square" lIns="0" tIns="0" rIns="0" bIns="0" rtlCol="0" anchor="t">
            <a:spAutoFit/>
          </a:bodyPr>
          <a:lstStyle/>
          <a:p>
            <a:pPr algn="ctr">
              <a:lnSpc>
                <a:spcPts val="6660"/>
              </a:lnSpc>
            </a:pPr>
            <a:r>
              <a:rPr lang="en-US" sz="6000" b="1" dirty="0">
                <a:solidFill>
                  <a:srgbClr val="343434"/>
                </a:solidFill>
                <a:latin typeface="Coco Gothic Heavy"/>
                <a:ea typeface="Coco Gothic Heavy"/>
                <a:cs typeface="Coco Gothic Heavy"/>
                <a:sym typeface="Coco Gothic Heavy"/>
              </a:rPr>
              <a:t>Application Stacks</a:t>
            </a:r>
          </a:p>
        </p:txBody>
      </p:sp>
      <p:sp>
        <p:nvSpPr>
          <p:cNvPr id="35" name="TextBox 35"/>
          <p:cNvSpPr txBox="1"/>
          <p:nvPr/>
        </p:nvSpPr>
        <p:spPr>
          <a:xfrm>
            <a:off x="2254964" y="4914900"/>
            <a:ext cx="3813483" cy="3213700"/>
          </a:xfrm>
          <a:prstGeom prst="rect">
            <a:avLst/>
          </a:prstGeom>
        </p:spPr>
        <p:txBody>
          <a:bodyPr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For Backend stack, Yinni App uses Kratos-Go Microservices framework which is a brand-new microservices framework developed by Alibaba group designed for Enterprise use with modern, scalable, clean, and neat structure. </a:t>
            </a:r>
            <a:r>
              <a:rPr lang="en-US" sz="2000" dirty="0">
                <a:solidFill>
                  <a:srgbClr val="343434"/>
                </a:solidFill>
                <a:latin typeface="Poppins"/>
                <a:ea typeface="Poppins"/>
                <a:cs typeface="Poppins"/>
                <a:sym typeface="Poppins"/>
                <a:hlinkClick r:id="rId2"/>
              </a:rPr>
              <a:t>[Kratos-Go]</a:t>
            </a:r>
            <a:endParaRPr lang="en-US" sz="2000" dirty="0">
              <a:solidFill>
                <a:srgbClr val="343434"/>
              </a:solidFill>
              <a:latin typeface="Poppins"/>
              <a:ea typeface="Poppins"/>
              <a:cs typeface="Poppins"/>
              <a:sym typeface="Poppins"/>
            </a:endParaRPr>
          </a:p>
        </p:txBody>
      </p:sp>
      <p:sp>
        <p:nvSpPr>
          <p:cNvPr id="36" name="TextBox 36"/>
          <p:cNvSpPr txBox="1"/>
          <p:nvPr/>
        </p:nvSpPr>
        <p:spPr>
          <a:xfrm>
            <a:off x="13201584" y="4914900"/>
            <a:ext cx="3813483" cy="3572773"/>
          </a:xfrm>
          <a:prstGeom prst="rect">
            <a:avLst/>
          </a:prstGeom>
        </p:spPr>
        <p:txBody>
          <a:bodyPr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For AI and Machine Learning  stack, Yinni App uses OpenAI API, leveraging OpenAI Text Embedding 3 (small) model for embedding layer and PyTorch Embedding Bag model for prompt classifier. </a:t>
            </a:r>
            <a:r>
              <a:rPr lang="en-US" sz="2000" dirty="0">
                <a:solidFill>
                  <a:srgbClr val="343434"/>
                </a:solidFill>
                <a:latin typeface="Poppins"/>
                <a:ea typeface="Poppins"/>
                <a:cs typeface="Poppins"/>
                <a:sym typeface="Poppins"/>
                <a:hlinkClick r:id="rId3"/>
              </a:rPr>
              <a:t>[OpenAI Text Embedding 3 (small)]</a:t>
            </a:r>
            <a:r>
              <a:rPr lang="en-US" sz="2000" dirty="0">
                <a:solidFill>
                  <a:srgbClr val="343434"/>
                </a:solidFill>
                <a:latin typeface="Poppins"/>
                <a:ea typeface="Poppins"/>
                <a:cs typeface="Poppins"/>
                <a:sym typeface="Poppins"/>
              </a:rPr>
              <a:t> </a:t>
            </a:r>
            <a:r>
              <a:rPr lang="en-US" sz="2000" dirty="0">
                <a:solidFill>
                  <a:srgbClr val="343434"/>
                </a:solidFill>
                <a:latin typeface="Poppins"/>
                <a:ea typeface="Poppins"/>
                <a:cs typeface="Poppins"/>
                <a:sym typeface="Poppins"/>
                <a:hlinkClick r:id="rId4"/>
              </a:rPr>
              <a:t>[PyTorch Embedding Bag]</a:t>
            </a:r>
            <a:endParaRPr lang="en-US" sz="2000" dirty="0">
              <a:solidFill>
                <a:srgbClr val="343434"/>
              </a:solidFill>
              <a:latin typeface="Poppins"/>
              <a:ea typeface="Poppins"/>
              <a:cs typeface="Poppins"/>
              <a:sym typeface="Poppins"/>
            </a:endParaRPr>
          </a:p>
        </p:txBody>
      </p:sp>
      <p:sp>
        <p:nvSpPr>
          <p:cNvPr id="37" name="TextBox 37"/>
          <p:cNvSpPr txBox="1"/>
          <p:nvPr/>
        </p:nvSpPr>
        <p:spPr>
          <a:xfrm>
            <a:off x="7768917" y="4914900"/>
            <a:ext cx="3813483" cy="2495555"/>
          </a:xfrm>
          <a:prstGeom prst="rect">
            <a:avLst/>
          </a:prstGeom>
        </p:spPr>
        <p:txBody>
          <a:bodyPr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For Frontend stack, Yinni App uses React.js framework with Chakra-UI and the touch of Horizon-UI template which is a standard template for enterprise use. </a:t>
            </a:r>
            <a:r>
              <a:rPr lang="en-US" sz="2000" dirty="0">
                <a:solidFill>
                  <a:srgbClr val="343434"/>
                </a:solidFill>
                <a:latin typeface="Poppins"/>
                <a:ea typeface="Poppins"/>
                <a:cs typeface="Poppins"/>
                <a:sym typeface="Poppins"/>
                <a:hlinkClick r:id="rId5"/>
              </a:rPr>
              <a:t>[Horizon-UI]</a:t>
            </a:r>
            <a:r>
              <a:rPr lang="en-US" sz="2000" dirty="0">
                <a:solidFill>
                  <a:srgbClr val="343434"/>
                </a:solidFill>
                <a:latin typeface="Poppins"/>
                <a:ea typeface="Poppins"/>
                <a:cs typeface="Poppins"/>
                <a:sym typeface="Poppins"/>
              </a:rPr>
              <a:t> </a:t>
            </a:r>
            <a:r>
              <a:rPr lang="en-US" sz="2000" dirty="0">
                <a:solidFill>
                  <a:srgbClr val="343434"/>
                </a:solidFill>
                <a:latin typeface="Poppins"/>
                <a:ea typeface="Poppins"/>
                <a:cs typeface="Poppins"/>
                <a:sym typeface="Poppins"/>
                <a:hlinkClick r:id="rId6"/>
              </a:rPr>
              <a:t>[Chakra-UI]</a:t>
            </a:r>
            <a:endParaRPr lang="en-US" sz="2000" dirty="0">
              <a:solidFill>
                <a:srgbClr val="343434"/>
              </a:solidFill>
              <a:latin typeface="Poppins"/>
              <a:ea typeface="Poppins"/>
              <a:cs typeface="Poppins"/>
              <a:sym typeface="Poppins"/>
            </a:endParaRPr>
          </a:p>
        </p:txBody>
      </p:sp>
      <p:sp>
        <p:nvSpPr>
          <p:cNvPr id="38" name="TextBox 3">
            <a:extLst>
              <a:ext uri="{FF2B5EF4-FFF2-40B4-BE49-F238E27FC236}">
                <a16:creationId xmlns:a16="http://schemas.microsoft.com/office/drawing/2014/main" id="{A5DD6A59-2A8E-CEF1-B19D-F7F0BF38DE5F}"/>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9" name="TextBox 4">
            <a:extLst>
              <a:ext uri="{FF2B5EF4-FFF2-40B4-BE49-F238E27FC236}">
                <a16:creationId xmlns:a16="http://schemas.microsoft.com/office/drawing/2014/main" id="{0D9372EE-13DD-F572-859E-53D35B39E8F2}"/>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40" name="Picture 39">
            <a:extLst>
              <a:ext uri="{FF2B5EF4-FFF2-40B4-BE49-F238E27FC236}">
                <a16:creationId xmlns:a16="http://schemas.microsoft.com/office/drawing/2014/main" id="{CA0BADA0-2092-99F7-283F-3009909980B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grpSp>
        <p:nvGrpSpPr>
          <p:cNvPr id="2" name="Group 17">
            <a:extLst>
              <a:ext uri="{FF2B5EF4-FFF2-40B4-BE49-F238E27FC236}">
                <a16:creationId xmlns:a16="http://schemas.microsoft.com/office/drawing/2014/main" id="{93033F48-C7B7-A475-0B2A-2F737F99B7BE}"/>
              </a:ext>
            </a:extLst>
          </p:cNvPr>
          <p:cNvGrpSpPr/>
          <p:nvPr/>
        </p:nvGrpSpPr>
        <p:grpSpPr>
          <a:xfrm>
            <a:off x="13335000" y="9253126"/>
            <a:ext cx="3918346" cy="670011"/>
            <a:chOff x="0" y="-66675"/>
            <a:chExt cx="4327267" cy="893347"/>
          </a:xfrm>
        </p:grpSpPr>
        <p:sp>
          <p:nvSpPr>
            <p:cNvPr id="3" name="TextBox 18">
              <a:extLst>
                <a:ext uri="{FF2B5EF4-FFF2-40B4-BE49-F238E27FC236}">
                  <a16:creationId xmlns:a16="http://schemas.microsoft.com/office/drawing/2014/main" id="{221C8371-EA4B-90F9-B78E-AB5913D9DE27}"/>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4" name="TextBox 19">
              <a:extLst>
                <a:ext uri="{FF2B5EF4-FFF2-40B4-BE49-F238E27FC236}">
                  <a16:creationId xmlns:a16="http://schemas.microsoft.com/office/drawing/2014/main" id="{4D42CD20-AD75-1006-FDF4-A9A62554EE5F}"/>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09</a:t>
              </a:r>
            </a:p>
          </p:txBody>
        </p:sp>
        <p:sp>
          <p:nvSpPr>
            <p:cNvPr id="31" name="AutoShape 20">
              <a:extLst>
                <a:ext uri="{FF2B5EF4-FFF2-40B4-BE49-F238E27FC236}">
                  <a16:creationId xmlns:a16="http://schemas.microsoft.com/office/drawing/2014/main" id="{34B3FA98-7FE2-D690-B6ED-F5BBD1E08427}"/>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64721-641F-6E18-FAC3-FDF167AA2EAA}"/>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3F3E841B-FFDD-4BE4-D00E-8D09F6E46663}"/>
              </a:ext>
            </a:extLst>
          </p:cNvPr>
          <p:cNvGrpSpPr/>
          <p:nvPr/>
        </p:nvGrpSpPr>
        <p:grpSpPr>
          <a:xfrm>
            <a:off x="-772763" y="9925307"/>
            <a:ext cx="19685815" cy="801384"/>
            <a:chOff x="0" y="0"/>
            <a:chExt cx="5184741" cy="211064"/>
          </a:xfrm>
        </p:grpSpPr>
        <p:sp>
          <p:nvSpPr>
            <p:cNvPr id="6" name="Freeform 6">
              <a:extLst>
                <a:ext uri="{FF2B5EF4-FFF2-40B4-BE49-F238E27FC236}">
                  <a16:creationId xmlns:a16="http://schemas.microsoft.com/office/drawing/2014/main" id="{1897A10B-15EA-9709-6649-921F52F060D6}"/>
                </a:ext>
              </a:extLst>
            </p:cNvPr>
            <p:cNvSpPr/>
            <p:nvPr/>
          </p:nvSpPr>
          <p:spPr>
            <a:xfrm>
              <a:off x="0" y="0"/>
              <a:ext cx="5184742" cy="211064"/>
            </a:xfrm>
            <a:custGeom>
              <a:avLst/>
              <a:gdLst/>
              <a:ahLst/>
              <a:cxnLst/>
              <a:rect l="l" t="t" r="r" b="b"/>
              <a:pathLst>
                <a:path w="5184742" h="211064">
                  <a:moveTo>
                    <a:pt x="0" y="0"/>
                  </a:moveTo>
                  <a:lnTo>
                    <a:pt x="5184742" y="0"/>
                  </a:lnTo>
                  <a:lnTo>
                    <a:pt x="5184742" y="211064"/>
                  </a:lnTo>
                  <a:lnTo>
                    <a:pt x="0" y="211064"/>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9606ACF2-3E1A-BB24-D679-F2EE3DCD6934}"/>
                </a:ext>
              </a:extLst>
            </p:cNvPr>
            <p:cNvSpPr txBox="1"/>
            <p:nvPr/>
          </p:nvSpPr>
          <p:spPr>
            <a:xfrm>
              <a:off x="0" y="-57150"/>
              <a:ext cx="5184741" cy="268214"/>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8" name="Group 8">
            <a:extLst>
              <a:ext uri="{FF2B5EF4-FFF2-40B4-BE49-F238E27FC236}">
                <a16:creationId xmlns:a16="http://schemas.microsoft.com/office/drawing/2014/main" id="{97D753EE-DBA8-8F43-2B95-9F9A6C818BAA}"/>
              </a:ext>
            </a:extLst>
          </p:cNvPr>
          <p:cNvGrpSpPr/>
          <p:nvPr/>
        </p:nvGrpSpPr>
        <p:grpSpPr>
          <a:xfrm>
            <a:off x="-698908" y="-450729"/>
            <a:ext cx="19685815" cy="812421"/>
            <a:chOff x="0" y="0"/>
            <a:chExt cx="5184741" cy="213971"/>
          </a:xfrm>
        </p:grpSpPr>
        <p:sp>
          <p:nvSpPr>
            <p:cNvPr id="9" name="Freeform 9">
              <a:extLst>
                <a:ext uri="{FF2B5EF4-FFF2-40B4-BE49-F238E27FC236}">
                  <a16:creationId xmlns:a16="http://schemas.microsoft.com/office/drawing/2014/main" id="{41C5724C-1198-9B9E-2E10-A38291A9E8F9}"/>
                </a:ext>
              </a:extLst>
            </p:cNvPr>
            <p:cNvSpPr/>
            <p:nvPr/>
          </p:nvSpPr>
          <p:spPr>
            <a:xfrm>
              <a:off x="0" y="0"/>
              <a:ext cx="5184742" cy="213971"/>
            </a:xfrm>
            <a:custGeom>
              <a:avLst/>
              <a:gdLst/>
              <a:ahLst/>
              <a:cxnLst/>
              <a:rect l="l" t="t" r="r" b="b"/>
              <a:pathLst>
                <a:path w="5184742" h="213971">
                  <a:moveTo>
                    <a:pt x="0" y="0"/>
                  </a:moveTo>
                  <a:lnTo>
                    <a:pt x="5184742" y="0"/>
                  </a:lnTo>
                  <a:lnTo>
                    <a:pt x="5184742" y="213971"/>
                  </a:lnTo>
                  <a:lnTo>
                    <a:pt x="0" y="213971"/>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17914B6F-F2A2-A8EC-8295-82CE87E4FE45}"/>
                </a:ext>
              </a:extLst>
            </p:cNvPr>
            <p:cNvSpPr txBox="1"/>
            <p:nvPr/>
          </p:nvSpPr>
          <p:spPr>
            <a:xfrm>
              <a:off x="0" y="-57150"/>
              <a:ext cx="5184741" cy="271121"/>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a:extLst>
              <a:ext uri="{FF2B5EF4-FFF2-40B4-BE49-F238E27FC236}">
                <a16:creationId xmlns:a16="http://schemas.microsoft.com/office/drawing/2014/main" id="{565F98F2-84B5-B0D4-D5D7-FD69392B50CD}"/>
              </a:ext>
            </a:extLst>
          </p:cNvPr>
          <p:cNvSpPr txBox="1"/>
          <p:nvPr/>
        </p:nvSpPr>
        <p:spPr>
          <a:xfrm>
            <a:off x="6573272" y="4126709"/>
            <a:ext cx="885576" cy="674957"/>
          </a:xfrm>
          <a:prstGeom prst="rect">
            <a:avLst/>
          </a:prstGeom>
        </p:spPr>
        <p:txBody>
          <a:bodyPr lIns="0" tIns="0" rIns="0" bIns="0" rtlCol="0" anchor="t">
            <a:spAutoFit/>
          </a:bodyPr>
          <a:lstStyle/>
          <a:p>
            <a:pPr algn="ctr">
              <a:lnSpc>
                <a:spcPts val="5322"/>
              </a:lnSpc>
            </a:pPr>
            <a:r>
              <a:rPr lang="en-US" sz="3801" b="1">
                <a:solidFill>
                  <a:srgbClr val="FFFFFF"/>
                </a:solidFill>
                <a:latin typeface="Coco Gothic Heavy"/>
                <a:ea typeface="Coco Gothic Heavy"/>
                <a:cs typeface="Coco Gothic Heavy"/>
                <a:sym typeface="Coco Gothic Heavy"/>
              </a:rPr>
              <a:t>01.</a:t>
            </a:r>
          </a:p>
        </p:txBody>
      </p:sp>
      <p:sp>
        <p:nvSpPr>
          <p:cNvPr id="20" name="TextBox 20">
            <a:extLst>
              <a:ext uri="{FF2B5EF4-FFF2-40B4-BE49-F238E27FC236}">
                <a16:creationId xmlns:a16="http://schemas.microsoft.com/office/drawing/2014/main" id="{A834DD8E-734A-29ED-AB48-421AEFA4DEC3}"/>
              </a:ext>
            </a:extLst>
          </p:cNvPr>
          <p:cNvSpPr txBox="1"/>
          <p:nvPr/>
        </p:nvSpPr>
        <p:spPr>
          <a:xfrm>
            <a:off x="7697127" y="4356238"/>
            <a:ext cx="3846870" cy="349250"/>
          </a:xfrm>
          <a:prstGeom prst="rect">
            <a:avLst/>
          </a:prstGeom>
        </p:spPr>
        <p:txBody>
          <a:bodyPr lIns="0" tIns="0" rIns="0" bIns="0" rtlCol="0" anchor="t">
            <a:spAutoFit/>
          </a:bodyPr>
          <a:lstStyle/>
          <a:p>
            <a:pPr algn="ctr">
              <a:lnSpc>
                <a:spcPts val="2499"/>
              </a:lnSpc>
            </a:pPr>
            <a:r>
              <a:rPr lang="en-US" sz="2499" b="1" dirty="0">
                <a:solidFill>
                  <a:srgbClr val="FFFFFF"/>
                </a:solidFill>
                <a:latin typeface="Coco Gothic Bold"/>
                <a:ea typeface="Coco Gothic Bold"/>
                <a:cs typeface="Coco Gothic Bold"/>
                <a:sym typeface="Coco Gothic Bold"/>
              </a:rPr>
              <a:t>METODE SATU</a:t>
            </a:r>
          </a:p>
        </p:txBody>
      </p:sp>
      <p:sp>
        <p:nvSpPr>
          <p:cNvPr id="21" name="TextBox 21">
            <a:extLst>
              <a:ext uri="{FF2B5EF4-FFF2-40B4-BE49-F238E27FC236}">
                <a16:creationId xmlns:a16="http://schemas.microsoft.com/office/drawing/2014/main" id="{1B575DD2-88AC-ED85-DB4D-D7EDB995D77A}"/>
              </a:ext>
            </a:extLst>
          </p:cNvPr>
          <p:cNvSpPr txBox="1"/>
          <p:nvPr/>
        </p:nvSpPr>
        <p:spPr>
          <a:xfrm>
            <a:off x="12044343" y="4126709"/>
            <a:ext cx="885576" cy="674957"/>
          </a:xfrm>
          <a:prstGeom prst="rect">
            <a:avLst/>
          </a:prstGeom>
        </p:spPr>
        <p:txBody>
          <a:bodyPr lIns="0" tIns="0" rIns="0" bIns="0" rtlCol="0" anchor="t">
            <a:spAutoFit/>
          </a:bodyPr>
          <a:lstStyle/>
          <a:p>
            <a:pPr algn="ctr">
              <a:lnSpc>
                <a:spcPts val="5322"/>
              </a:lnSpc>
            </a:pPr>
            <a:r>
              <a:rPr lang="en-US" sz="3801" b="1">
                <a:solidFill>
                  <a:srgbClr val="FFFFFF"/>
                </a:solidFill>
                <a:latin typeface="Coco Gothic Heavy"/>
                <a:ea typeface="Coco Gothic Heavy"/>
                <a:cs typeface="Coco Gothic Heavy"/>
                <a:sym typeface="Coco Gothic Heavy"/>
              </a:rPr>
              <a:t>01.</a:t>
            </a:r>
          </a:p>
        </p:txBody>
      </p:sp>
      <p:sp>
        <p:nvSpPr>
          <p:cNvPr id="22" name="TextBox 22">
            <a:extLst>
              <a:ext uri="{FF2B5EF4-FFF2-40B4-BE49-F238E27FC236}">
                <a16:creationId xmlns:a16="http://schemas.microsoft.com/office/drawing/2014/main" id="{E84E5A1F-B60F-7423-DFB1-151B9019EF22}"/>
              </a:ext>
            </a:extLst>
          </p:cNvPr>
          <p:cNvSpPr txBox="1"/>
          <p:nvPr/>
        </p:nvSpPr>
        <p:spPr>
          <a:xfrm>
            <a:off x="13168197" y="4356238"/>
            <a:ext cx="3846870" cy="349250"/>
          </a:xfrm>
          <a:prstGeom prst="rect">
            <a:avLst/>
          </a:prstGeom>
        </p:spPr>
        <p:txBody>
          <a:bodyPr lIns="0" tIns="0" rIns="0" bIns="0" rtlCol="0" anchor="t">
            <a:spAutoFit/>
          </a:bodyPr>
          <a:lstStyle/>
          <a:p>
            <a:pPr algn="ctr">
              <a:lnSpc>
                <a:spcPts val="2499"/>
              </a:lnSpc>
            </a:pPr>
            <a:r>
              <a:rPr lang="en-US" sz="2499" b="1">
                <a:solidFill>
                  <a:srgbClr val="FFFFFF"/>
                </a:solidFill>
                <a:latin typeface="Coco Gothic Bold"/>
                <a:ea typeface="Coco Gothic Bold"/>
                <a:cs typeface="Coco Gothic Bold"/>
                <a:sym typeface="Coco Gothic Bold"/>
              </a:rPr>
              <a:t>METODE SATU</a:t>
            </a:r>
          </a:p>
        </p:txBody>
      </p:sp>
      <p:sp>
        <p:nvSpPr>
          <p:cNvPr id="34" name="TextBox 34">
            <a:extLst>
              <a:ext uri="{FF2B5EF4-FFF2-40B4-BE49-F238E27FC236}">
                <a16:creationId xmlns:a16="http://schemas.microsoft.com/office/drawing/2014/main" id="{870DCBC9-51F9-1774-A27E-832E10252002}"/>
              </a:ext>
            </a:extLst>
          </p:cNvPr>
          <p:cNvSpPr txBox="1"/>
          <p:nvPr/>
        </p:nvSpPr>
        <p:spPr>
          <a:xfrm>
            <a:off x="3733800" y="1638300"/>
            <a:ext cx="10820399" cy="874278"/>
          </a:xfrm>
          <a:prstGeom prst="rect">
            <a:avLst/>
          </a:prstGeom>
        </p:spPr>
        <p:txBody>
          <a:bodyPr wrap="square" lIns="0" tIns="0" rIns="0" bIns="0" rtlCol="0" anchor="t">
            <a:spAutoFit/>
          </a:bodyPr>
          <a:lstStyle/>
          <a:p>
            <a:pPr algn="ctr">
              <a:lnSpc>
                <a:spcPts val="6660"/>
              </a:lnSpc>
            </a:pPr>
            <a:r>
              <a:rPr lang="en-US" sz="6000" b="1" dirty="0">
                <a:solidFill>
                  <a:srgbClr val="343434"/>
                </a:solidFill>
                <a:latin typeface="Coco Gothic Heavy"/>
                <a:ea typeface="Coco Gothic Heavy"/>
                <a:cs typeface="Coco Gothic Heavy"/>
                <a:sym typeface="Coco Gothic Heavy"/>
              </a:rPr>
              <a:t>Backend Architecture</a:t>
            </a:r>
          </a:p>
        </p:txBody>
      </p:sp>
      <p:sp>
        <p:nvSpPr>
          <p:cNvPr id="35" name="TextBox 35">
            <a:extLst>
              <a:ext uri="{FF2B5EF4-FFF2-40B4-BE49-F238E27FC236}">
                <a16:creationId xmlns:a16="http://schemas.microsoft.com/office/drawing/2014/main" id="{9254D91A-EE86-854F-F2BA-451081328BC5}"/>
              </a:ext>
            </a:extLst>
          </p:cNvPr>
          <p:cNvSpPr txBox="1"/>
          <p:nvPr/>
        </p:nvSpPr>
        <p:spPr>
          <a:xfrm>
            <a:off x="1034654" y="2933700"/>
            <a:ext cx="5618763" cy="7099379"/>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In the backend, briefly, there is 12 steps running for the entire workflows as figured in this diagram:</a:t>
            </a:r>
          </a:p>
          <a:p>
            <a:pPr algn="just">
              <a:lnSpc>
                <a:spcPts val="2800"/>
              </a:lnSpc>
            </a:pPr>
            <a:endParaRPr lang="en-US" dirty="0">
              <a:solidFill>
                <a:srgbClr val="343434"/>
              </a:solidFill>
              <a:latin typeface="Poppins"/>
              <a:ea typeface="Poppins"/>
              <a:cs typeface="Poppins"/>
              <a:sym typeface="Poppins"/>
            </a:endParaRPr>
          </a:p>
          <a:p>
            <a:pPr marL="457200" indent="-457200" algn="just">
              <a:buAutoNum type="arabicPeriod"/>
            </a:pPr>
            <a:r>
              <a:rPr lang="en-US" sz="1600" dirty="0">
                <a:solidFill>
                  <a:srgbClr val="343434"/>
                </a:solidFill>
                <a:latin typeface="Poppins"/>
                <a:ea typeface="Poppins"/>
                <a:cs typeface="Poppins"/>
                <a:sym typeface="Poppins"/>
              </a:rPr>
              <a:t>Client Sign-In or Sign-Up via Auth Service</a:t>
            </a:r>
          </a:p>
          <a:p>
            <a:pPr marL="457200" indent="-457200" algn="just">
              <a:buAutoNum type="arabicPeriod"/>
            </a:pPr>
            <a:r>
              <a:rPr lang="en-US" sz="1600" dirty="0">
                <a:solidFill>
                  <a:srgbClr val="343434"/>
                </a:solidFill>
                <a:latin typeface="Poppins"/>
                <a:ea typeface="Poppins"/>
                <a:cs typeface="Poppins"/>
                <a:sym typeface="Poppins"/>
              </a:rPr>
              <a:t>Auth Service retrieves data from the database and generates JWT token</a:t>
            </a:r>
          </a:p>
          <a:p>
            <a:pPr marL="457200" indent="-457200" algn="just">
              <a:buAutoNum type="arabicPeriod"/>
            </a:pPr>
            <a:r>
              <a:rPr lang="en-US" sz="1600" dirty="0">
                <a:solidFill>
                  <a:srgbClr val="343434"/>
                </a:solidFill>
                <a:latin typeface="Poppins"/>
                <a:ea typeface="Poppins"/>
                <a:cs typeface="Poppins"/>
                <a:sym typeface="Poppins"/>
              </a:rPr>
              <a:t>Prompt Service get the session from Auth-Middleware</a:t>
            </a:r>
          </a:p>
          <a:p>
            <a:pPr marL="457200" indent="-457200" algn="just">
              <a:buAutoNum type="arabicPeriod"/>
            </a:pPr>
            <a:r>
              <a:rPr lang="en-US" sz="1600" dirty="0">
                <a:solidFill>
                  <a:srgbClr val="343434"/>
                </a:solidFill>
                <a:latin typeface="Poppins"/>
                <a:ea typeface="Poppins"/>
                <a:cs typeface="Poppins"/>
                <a:sym typeface="Poppins"/>
              </a:rPr>
              <a:t>The JWT token is sent to Client</a:t>
            </a:r>
          </a:p>
          <a:p>
            <a:pPr marL="457200" indent="-457200" algn="just">
              <a:buAutoNum type="arabicPeriod"/>
            </a:pPr>
            <a:r>
              <a:rPr lang="en-US" sz="1600" dirty="0">
                <a:solidFill>
                  <a:srgbClr val="343434"/>
                </a:solidFill>
                <a:latin typeface="Poppins"/>
                <a:ea typeface="Poppins"/>
                <a:cs typeface="Poppins"/>
                <a:sym typeface="Poppins"/>
              </a:rPr>
              <a:t>Client send a prompt</a:t>
            </a:r>
          </a:p>
          <a:p>
            <a:pPr marL="457200" indent="-457200" algn="just">
              <a:buAutoNum type="arabicPeriod"/>
            </a:pPr>
            <a:r>
              <a:rPr lang="en-US" sz="1600" dirty="0">
                <a:solidFill>
                  <a:srgbClr val="343434"/>
                </a:solidFill>
                <a:latin typeface="Poppins"/>
                <a:ea typeface="Poppins"/>
                <a:cs typeface="Poppins"/>
                <a:sym typeface="Poppins"/>
              </a:rPr>
              <a:t>Classifier Service classify the prompt</a:t>
            </a:r>
          </a:p>
          <a:p>
            <a:pPr marL="457200" indent="-457200" algn="just">
              <a:buAutoNum type="arabicPeriod"/>
            </a:pPr>
            <a:r>
              <a:rPr lang="en-US" sz="1600" dirty="0">
                <a:solidFill>
                  <a:srgbClr val="343434"/>
                </a:solidFill>
                <a:latin typeface="Poppins"/>
                <a:ea typeface="Poppins"/>
                <a:cs typeface="Poppins"/>
                <a:sym typeface="Poppins"/>
              </a:rPr>
              <a:t>Classifier Service returning {type, value} to Prompt Service</a:t>
            </a:r>
          </a:p>
          <a:p>
            <a:pPr marL="457200" indent="-457200" algn="just">
              <a:buAutoNum type="arabicPeriod"/>
            </a:pPr>
            <a:r>
              <a:rPr lang="en-US" sz="1600" dirty="0">
                <a:solidFill>
                  <a:srgbClr val="343434"/>
                </a:solidFill>
                <a:latin typeface="Poppins"/>
                <a:ea typeface="Poppins"/>
                <a:cs typeface="Poppins"/>
                <a:sym typeface="Poppins"/>
              </a:rPr>
              <a:t>Prompt Service send the value to the corresponding service based on the type</a:t>
            </a:r>
          </a:p>
          <a:p>
            <a:pPr marL="457200" indent="-457200" algn="just">
              <a:buAutoNum type="arabicPeriod"/>
            </a:pPr>
            <a:r>
              <a:rPr lang="en-US" sz="1600" dirty="0">
                <a:solidFill>
                  <a:srgbClr val="343434"/>
                </a:solidFill>
                <a:latin typeface="Poppins"/>
                <a:ea typeface="Poppins"/>
                <a:cs typeface="Poppins"/>
                <a:sym typeface="Poppins"/>
              </a:rPr>
              <a:t>Product Service process the Embedding for the prompt through OpenAI API and send back the Embedding vector for Similarity Search</a:t>
            </a:r>
          </a:p>
          <a:p>
            <a:pPr marL="457200" indent="-457200" algn="just">
              <a:buAutoNum type="arabicPeriod"/>
            </a:pPr>
            <a:r>
              <a:rPr lang="en-US" sz="1600" dirty="0">
                <a:solidFill>
                  <a:srgbClr val="343434"/>
                </a:solidFill>
                <a:latin typeface="Poppins"/>
                <a:ea typeface="Poppins"/>
                <a:cs typeface="Poppins"/>
                <a:sym typeface="Poppins"/>
              </a:rPr>
              <a:t>Each services retrieve the data from the database (The product service retrieves product data along with its corresponding embedding vectors)</a:t>
            </a:r>
          </a:p>
          <a:p>
            <a:pPr marL="457200" indent="-457200" algn="just">
              <a:buAutoNum type="arabicPeriod"/>
            </a:pPr>
            <a:r>
              <a:rPr lang="en-US" sz="1600" dirty="0">
                <a:solidFill>
                  <a:srgbClr val="343434"/>
                </a:solidFill>
                <a:latin typeface="Poppins"/>
                <a:ea typeface="Poppins"/>
                <a:cs typeface="Poppins"/>
                <a:sym typeface="Poppins"/>
              </a:rPr>
              <a:t>Each services calculates and serializes the data and send the result back to Prompt Service</a:t>
            </a:r>
          </a:p>
          <a:p>
            <a:pPr marL="457200" indent="-457200" algn="just">
              <a:buAutoNum type="arabicPeriod"/>
            </a:pPr>
            <a:r>
              <a:rPr lang="en-US" sz="1600" dirty="0">
                <a:solidFill>
                  <a:srgbClr val="343434"/>
                </a:solidFill>
                <a:latin typeface="Poppins"/>
                <a:ea typeface="Poppins"/>
                <a:cs typeface="Poppins"/>
                <a:sym typeface="Poppins"/>
              </a:rPr>
              <a:t>Prompt Service encapsulates the data from each services and send it back to Client</a:t>
            </a:r>
          </a:p>
        </p:txBody>
      </p:sp>
      <p:sp>
        <p:nvSpPr>
          <p:cNvPr id="38" name="TextBox 3">
            <a:extLst>
              <a:ext uri="{FF2B5EF4-FFF2-40B4-BE49-F238E27FC236}">
                <a16:creationId xmlns:a16="http://schemas.microsoft.com/office/drawing/2014/main" id="{9066E1C1-42AE-B589-E56B-9C0543F1FB24}"/>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9" name="TextBox 4">
            <a:extLst>
              <a:ext uri="{FF2B5EF4-FFF2-40B4-BE49-F238E27FC236}">
                <a16:creationId xmlns:a16="http://schemas.microsoft.com/office/drawing/2014/main" id="{0E600C8E-9718-FD22-5ACE-0849D945DA9F}"/>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40" name="Picture 39">
            <a:extLst>
              <a:ext uri="{FF2B5EF4-FFF2-40B4-BE49-F238E27FC236}">
                <a16:creationId xmlns:a16="http://schemas.microsoft.com/office/drawing/2014/main" id="{8432CD0E-51FB-4408-D8C0-AC076075F0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sp>
        <p:nvSpPr>
          <p:cNvPr id="2" name="Rectangle: Rounded Corners 1">
            <a:extLst>
              <a:ext uri="{FF2B5EF4-FFF2-40B4-BE49-F238E27FC236}">
                <a16:creationId xmlns:a16="http://schemas.microsoft.com/office/drawing/2014/main" id="{2ED57754-0CBF-CFE9-80A8-C0B4AE4035CB}"/>
              </a:ext>
            </a:extLst>
          </p:cNvPr>
          <p:cNvSpPr/>
          <p:nvPr/>
        </p:nvSpPr>
        <p:spPr>
          <a:xfrm>
            <a:off x="7976985" y="8648700"/>
            <a:ext cx="3048000" cy="746219"/>
          </a:xfrm>
          <a:prstGeom prst="roundRect">
            <a:avLst/>
          </a:prstGeom>
          <a:solidFill>
            <a:schemeClr val="accent2">
              <a:lumMod val="40000"/>
              <a:lumOff val="6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Poppins" panose="00000500000000000000" pitchFamily="2" charset="0"/>
                <a:cs typeface="Poppins" panose="00000500000000000000" pitchFamily="2" charset="0"/>
              </a:rPr>
              <a:t>Yinni Client</a:t>
            </a:r>
            <a:endParaRPr lang="en-ID" sz="2000" b="1" dirty="0">
              <a:solidFill>
                <a:schemeClr val="tx1"/>
              </a:solidFill>
              <a:latin typeface="Poppins" panose="00000500000000000000" pitchFamily="2" charset="0"/>
              <a:cs typeface="Poppins" panose="00000500000000000000" pitchFamily="2" charset="0"/>
            </a:endParaRPr>
          </a:p>
        </p:txBody>
      </p:sp>
      <p:cxnSp>
        <p:nvCxnSpPr>
          <p:cNvPr id="31" name="Straight Arrow Connector 30">
            <a:extLst>
              <a:ext uri="{FF2B5EF4-FFF2-40B4-BE49-F238E27FC236}">
                <a16:creationId xmlns:a16="http://schemas.microsoft.com/office/drawing/2014/main" id="{93B66CDA-18E9-CA16-1EB7-105AA8E197EF}"/>
              </a:ext>
            </a:extLst>
          </p:cNvPr>
          <p:cNvCxnSpPr>
            <a:cxnSpLocks/>
            <a:stCxn id="45" idx="2"/>
            <a:endCxn id="2" idx="0"/>
          </p:cNvCxnSpPr>
          <p:nvPr/>
        </p:nvCxnSpPr>
        <p:spPr>
          <a:xfrm flipH="1">
            <a:off x="9500985" y="7165228"/>
            <a:ext cx="1" cy="1483472"/>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47E404A9-B673-071C-1A09-AE2427A8F43C}"/>
              </a:ext>
            </a:extLst>
          </p:cNvPr>
          <p:cNvSpPr/>
          <p:nvPr/>
        </p:nvSpPr>
        <p:spPr>
          <a:xfrm>
            <a:off x="7086600" y="3045979"/>
            <a:ext cx="10515600" cy="4737952"/>
          </a:xfrm>
          <a:prstGeom prst="roundRect">
            <a:avLst/>
          </a:prstGeom>
          <a:solidFill>
            <a:srgbClr val="C6D9F1">
              <a:alpha val="69804"/>
            </a:srgb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2000" dirty="0">
              <a:solidFill>
                <a:schemeClr val="tx1"/>
              </a:solidFill>
              <a:latin typeface="Poppins" panose="00000500000000000000" pitchFamily="2" charset="0"/>
              <a:cs typeface="Poppins" panose="00000500000000000000" pitchFamily="2" charset="0"/>
            </a:endParaRPr>
          </a:p>
        </p:txBody>
      </p:sp>
      <p:sp>
        <p:nvSpPr>
          <p:cNvPr id="44" name="TextBox 43">
            <a:extLst>
              <a:ext uri="{FF2B5EF4-FFF2-40B4-BE49-F238E27FC236}">
                <a16:creationId xmlns:a16="http://schemas.microsoft.com/office/drawing/2014/main" id="{BABC325C-C7E6-5232-53C7-6B03C3167DB7}"/>
              </a:ext>
            </a:extLst>
          </p:cNvPr>
          <p:cNvSpPr txBox="1"/>
          <p:nvPr/>
        </p:nvSpPr>
        <p:spPr>
          <a:xfrm>
            <a:off x="7410801" y="3219390"/>
            <a:ext cx="6000399" cy="400110"/>
          </a:xfrm>
          <a:prstGeom prst="rect">
            <a:avLst/>
          </a:prstGeom>
          <a:noFill/>
        </p:spPr>
        <p:txBody>
          <a:bodyPr wrap="square" rtlCol="0">
            <a:spAutoFit/>
          </a:bodyPr>
          <a:lstStyle/>
          <a:p>
            <a:r>
              <a:rPr lang="en-US" sz="2000" b="1" dirty="0">
                <a:latin typeface="Poppins" panose="00000500000000000000" pitchFamily="2" charset="0"/>
                <a:cs typeface="Poppins" panose="00000500000000000000" pitchFamily="2" charset="0"/>
              </a:rPr>
              <a:t>Yinni Backend (Kratos-Go Microservices)</a:t>
            </a:r>
            <a:endParaRPr lang="en-ID" sz="2000" b="1" dirty="0">
              <a:latin typeface="Poppins" panose="00000500000000000000" pitchFamily="2" charset="0"/>
              <a:cs typeface="Poppins" panose="00000500000000000000" pitchFamily="2" charset="0"/>
            </a:endParaRPr>
          </a:p>
        </p:txBody>
      </p:sp>
      <p:sp>
        <p:nvSpPr>
          <p:cNvPr id="45" name="Rectangle: Rounded Corners 44">
            <a:extLst>
              <a:ext uri="{FF2B5EF4-FFF2-40B4-BE49-F238E27FC236}">
                <a16:creationId xmlns:a16="http://schemas.microsoft.com/office/drawing/2014/main" id="{EF18F58A-F1C9-DA81-72BB-172304D9645F}"/>
              </a:ext>
            </a:extLst>
          </p:cNvPr>
          <p:cNvSpPr/>
          <p:nvPr/>
        </p:nvSpPr>
        <p:spPr>
          <a:xfrm>
            <a:off x="8077200" y="6286500"/>
            <a:ext cx="2847571" cy="878728"/>
          </a:xfrm>
          <a:prstGeom prst="roundRect">
            <a:avLst/>
          </a:prstGeom>
          <a:solidFill>
            <a:schemeClr val="accent6">
              <a:lumMod val="40000"/>
              <a:lumOff val="6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Poppins" panose="00000500000000000000" pitchFamily="2" charset="0"/>
                <a:cs typeface="Poppins" panose="00000500000000000000" pitchFamily="2" charset="0"/>
              </a:rPr>
              <a:t>Prompt Service (Go)</a:t>
            </a:r>
            <a:endParaRPr lang="en-ID" sz="2000" b="1" dirty="0">
              <a:solidFill>
                <a:schemeClr val="tx1"/>
              </a:solidFill>
              <a:latin typeface="Poppins" panose="00000500000000000000" pitchFamily="2" charset="0"/>
              <a:cs typeface="Poppins" panose="00000500000000000000" pitchFamily="2" charset="0"/>
            </a:endParaRPr>
          </a:p>
        </p:txBody>
      </p:sp>
      <p:cxnSp>
        <p:nvCxnSpPr>
          <p:cNvPr id="79" name="Straight Arrow Connector 78">
            <a:extLst>
              <a:ext uri="{FF2B5EF4-FFF2-40B4-BE49-F238E27FC236}">
                <a16:creationId xmlns:a16="http://schemas.microsoft.com/office/drawing/2014/main" id="{0BE17C9C-55C8-368A-873C-5C172CB42876}"/>
              </a:ext>
            </a:extLst>
          </p:cNvPr>
          <p:cNvCxnSpPr>
            <a:cxnSpLocks/>
            <a:stCxn id="82" idx="2"/>
            <a:endCxn id="45" idx="0"/>
          </p:cNvCxnSpPr>
          <p:nvPr/>
        </p:nvCxnSpPr>
        <p:spPr>
          <a:xfrm>
            <a:off x="9500986" y="4991100"/>
            <a:ext cx="0" cy="1295400"/>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71BBC83B-A38C-7535-2586-50DB9897FE65}"/>
              </a:ext>
            </a:extLst>
          </p:cNvPr>
          <p:cNvSpPr/>
          <p:nvPr/>
        </p:nvSpPr>
        <p:spPr>
          <a:xfrm>
            <a:off x="8077200" y="4112372"/>
            <a:ext cx="2847571" cy="878728"/>
          </a:xfrm>
          <a:prstGeom prst="roundRect">
            <a:avLst/>
          </a:prstGeom>
          <a:solidFill>
            <a:schemeClr val="accent4">
              <a:lumMod val="40000"/>
              <a:lumOff val="6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Poppins" panose="00000500000000000000" pitchFamily="2" charset="0"/>
                <a:cs typeface="Poppins" panose="00000500000000000000" pitchFamily="2" charset="0"/>
              </a:rPr>
              <a:t>Classifier Service (Python)</a:t>
            </a:r>
            <a:endParaRPr lang="en-ID" sz="2000" b="1" dirty="0">
              <a:solidFill>
                <a:schemeClr val="tx1"/>
              </a:solidFill>
              <a:latin typeface="Poppins" panose="00000500000000000000" pitchFamily="2" charset="0"/>
              <a:cs typeface="Poppins" panose="00000500000000000000" pitchFamily="2" charset="0"/>
            </a:endParaRPr>
          </a:p>
        </p:txBody>
      </p:sp>
      <p:sp>
        <p:nvSpPr>
          <p:cNvPr id="87" name="Rectangle: Rounded Corners 86">
            <a:extLst>
              <a:ext uri="{FF2B5EF4-FFF2-40B4-BE49-F238E27FC236}">
                <a16:creationId xmlns:a16="http://schemas.microsoft.com/office/drawing/2014/main" id="{F32BB7E4-38BC-206D-EF7D-0F20FF7F1BC0}"/>
              </a:ext>
            </a:extLst>
          </p:cNvPr>
          <p:cNvSpPr/>
          <p:nvPr/>
        </p:nvSpPr>
        <p:spPr>
          <a:xfrm>
            <a:off x="11430000" y="5067300"/>
            <a:ext cx="2617535" cy="878728"/>
          </a:xfrm>
          <a:prstGeom prst="roundRect">
            <a:avLst/>
          </a:prstGeom>
          <a:solidFill>
            <a:schemeClr val="accent3">
              <a:lumMod val="40000"/>
              <a:lumOff val="6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Poppins" panose="00000500000000000000" pitchFamily="2" charset="0"/>
                <a:cs typeface="Poppins" panose="00000500000000000000" pitchFamily="2" charset="0"/>
              </a:rPr>
              <a:t>Payment Service (Go)</a:t>
            </a:r>
            <a:endParaRPr lang="en-ID" sz="2000" b="1" dirty="0">
              <a:solidFill>
                <a:schemeClr val="tx1"/>
              </a:solidFill>
              <a:latin typeface="Poppins" panose="00000500000000000000" pitchFamily="2" charset="0"/>
              <a:cs typeface="Poppins" panose="00000500000000000000" pitchFamily="2" charset="0"/>
            </a:endParaRPr>
          </a:p>
        </p:txBody>
      </p:sp>
      <p:sp>
        <p:nvSpPr>
          <p:cNvPr id="90" name="Rectangle: Rounded Corners 89">
            <a:extLst>
              <a:ext uri="{FF2B5EF4-FFF2-40B4-BE49-F238E27FC236}">
                <a16:creationId xmlns:a16="http://schemas.microsoft.com/office/drawing/2014/main" id="{0FE834CF-6552-2E2D-CE8D-8A2FDBE7E062}"/>
              </a:ext>
            </a:extLst>
          </p:cNvPr>
          <p:cNvSpPr/>
          <p:nvPr/>
        </p:nvSpPr>
        <p:spPr>
          <a:xfrm>
            <a:off x="11430000" y="3924300"/>
            <a:ext cx="2617535" cy="878728"/>
          </a:xfrm>
          <a:prstGeom prst="roundRect">
            <a:avLst/>
          </a:prstGeom>
          <a:solidFill>
            <a:schemeClr val="accent5">
              <a:lumMod val="40000"/>
              <a:lumOff val="6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Poppins" panose="00000500000000000000" pitchFamily="2" charset="0"/>
                <a:cs typeface="Poppins" panose="00000500000000000000" pitchFamily="2" charset="0"/>
              </a:rPr>
              <a:t>Product Service (Go)</a:t>
            </a:r>
            <a:endParaRPr lang="en-ID" sz="2000" b="1" dirty="0">
              <a:solidFill>
                <a:schemeClr val="tx1"/>
              </a:solidFill>
              <a:latin typeface="Poppins" panose="00000500000000000000" pitchFamily="2" charset="0"/>
              <a:cs typeface="Poppins" panose="00000500000000000000" pitchFamily="2" charset="0"/>
            </a:endParaRPr>
          </a:p>
        </p:txBody>
      </p:sp>
      <p:cxnSp>
        <p:nvCxnSpPr>
          <p:cNvPr id="98" name="Straight Arrow Connector 97">
            <a:extLst>
              <a:ext uri="{FF2B5EF4-FFF2-40B4-BE49-F238E27FC236}">
                <a16:creationId xmlns:a16="http://schemas.microsoft.com/office/drawing/2014/main" id="{22376123-A8D7-E4A2-6F0F-3B5DD8EC15B9}"/>
              </a:ext>
            </a:extLst>
          </p:cNvPr>
          <p:cNvCxnSpPr>
            <a:cxnSpLocks/>
            <a:stCxn id="90" idx="1"/>
            <a:endCxn id="45" idx="3"/>
          </p:cNvCxnSpPr>
          <p:nvPr/>
        </p:nvCxnSpPr>
        <p:spPr>
          <a:xfrm flipH="1">
            <a:off x="10924771" y="4363664"/>
            <a:ext cx="505229" cy="2362200"/>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0956DA2A-3F88-F26C-43CE-A258F02AF676}"/>
              </a:ext>
            </a:extLst>
          </p:cNvPr>
          <p:cNvCxnSpPr>
            <a:cxnSpLocks/>
            <a:stCxn id="87" idx="1"/>
            <a:endCxn id="45" idx="3"/>
          </p:cNvCxnSpPr>
          <p:nvPr/>
        </p:nvCxnSpPr>
        <p:spPr>
          <a:xfrm flipH="1">
            <a:off x="10924771" y="5506664"/>
            <a:ext cx="505229" cy="1219200"/>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7" name="Rectangle: Rounded Corners 106">
            <a:extLst>
              <a:ext uri="{FF2B5EF4-FFF2-40B4-BE49-F238E27FC236}">
                <a16:creationId xmlns:a16="http://schemas.microsoft.com/office/drawing/2014/main" id="{F88B68D0-5BA6-40DF-A97A-8827FA769BD4}"/>
              </a:ext>
            </a:extLst>
          </p:cNvPr>
          <p:cNvSpPr/>
          <p:nvPr/>
        </p:nvSpPr>
        <p:spPr>
          <a:xfrm>
            <a:off x="15565580" y="4086172"/>
            <a:ext cx="1731820" cy="2886128"/>
          </a:xfrm>
          <a:prstGeom prst="roundRect">
            <a:avLst/>
          </a:prstGeom>
          <a:solidFill>
            <a:schemeClr val="bg1">
              <a:lumMod val="85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Poppins" panose="00000500000000000000" pitchFamily="2" charset="0"/>
                <a:cs typeface="Poppins" panose="00000500000000000000" pitchFamily="2" charset="0"/>
              </a:rPr>
              <a:t>Database (MySql)</a:t>
            </a:r>
            <a:endParaRPr lang="en-ID" sz="2000" b="1" dirty="0">
              <a:solidFill>
                <a:schemeClr val="tx1"/>
              </a:solidFill>
              <a:latin typeface="Poppins" panose="00000500000000000000" pitchFamily="2" charset="0"/>
              <a:cs typeface="Poppins" panose="00000500000000000000" pitchFamily="2" charset="0"/>
            </a:endParaRPr>
          </a:p>
        </p:txBody>
      </p:sp>
      <p:cxnSp>
        <p:nvCxnSpPr>
          <p:cNvPr id="108" name="Straight Arrow Connector 107">
            <a:extLst>
              <a:ext uri="{FF2B5EF4-FFF2-40B4-BE49-F238E27FC236}">
                <a16:creationId xmlns:a16="http://schemas.microsoft.com/office/drawing/2014/main" id="{8A7F643E-A1CD-6FA0-EF7D-73734CCFDB1B}"/>
              </a:ext>
            </a:extLst>
          </p:cNvPr>
          <p:cNvCxnSpPr>
            <a:cxnSpLocks/>
            <a:stCxn id="107" idx="1"/>
            <a:endCxn id="90" idx="3"/>
          </p:cNvCxnSpPr>
          <p:nvPr/>
        </p:nvCxnSpPr>
        <p:spPr>
          <a:xfrm flipH="1" flipV="1">
            <a:off x="14047535" y="4363664"/>
            <a:ext cx="1518045" cy="1165572"/>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5A7BA8E-6EDE-C275-DC32-68897E8C2D92}"/>
              </a:ext>
            </a:extLst>
          </p:cNvPr>
          <p:cNvCxnSpPr>
            <a:cxnSpLocks/>
            <a:stCxn id="107" idx="1"/>
            <a:endCxn id="87" idx="3"/>
          </p:cNvCxnSpPr>
          <p:nvPr/>
        </p:nvCxnSpPr>
        <p:spPr>
          <a:xfrm flipH="1" flipV="1">
            <a:off x="14047535" y="5506664"/>
            <a:ext cx="1518045" cy="22572"/>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22AC4F7F-EBEA-71CF-8138-24FADE611423}"/>
              </a:ext>
            </a:extLst>
          </p:cNvPr>
          <p:cNvSpPr txBox="1"/>
          <p:nvPr/>
        </p:nvSpPr>
        <p:spPr>
          <a:xfrm>
            <a:off x="10891814" y="7962900"/>
            <a:ext cx="461986" cy="369332"/>
          </a:xfrm>
          <a:prstGeom prst="rect">
            <a:avLst/>
          </a:prstGeom>
          <a:noFill/>
        </p:spPr>
        <p:txBody>
          <a:bodyPr wrap="none" rtlCol="0">
            <a:spAutoFit/>
          </a:bodyPr>
          <a:lstStyle/>
          <a:p>
            <a:r>
              <a:rPr lang="en-ID" b="1" dirty="0">
                <a:latin typeface="Poppins" panose="00000500000000000000" pitchFamily="2" charset="0"/>
                <a:cs typeface="Poppins" panose="00000500000000000000" pitchFamily="2" charset="0"/>
              </a:rPr>
              <a:t>①</a:t>
            </a:r>
          </a:p>
        </p:txBody>
      </p:sp>
      <p:sp>
        <p:nvSpPr>
          <p:cNvPr id="119" name="TextBox 118">
            <a:extLst>
              <a:ext uri="{FF2B5EF4-FFF2-40B4-BE49-F238E27FC236}">
                <a16:creationId xmlns:a16="http://schemas.microsoft.com/office/drawing/2014/main" id="{6C967B0D-345C-10B6-AB16-5BBA940BEDDA}"/>
              </a:ext>
            </a:extLst>
          </p:cNvPr>
          <p:cNvSpPr txBox="1"/>
          <p:nvPr/>
        </p:nvSpPr>
        <p:spPr>
          <a:xfrm>
            <a:off x="9067802" y="5459967"/>
            <a:ext cx="399444" cy="381335"/>
          </a:xfrm>
          <a:prstGeom prst="rect">
            <a:avLst/>
          </a:prstGeom>
          <a:noFill/>
        </p:spPr>
        <p:txBody>
          <a:bodyPr wrap="square" rtlCol="0">
            <a:spAutoFit/>
          </a:bodyPr>
          <a:lstStyle/>
          <a:p>
            <a:pPr algn="r"/>
            <a:r>
              <a:rPr lang="en-ID" b="1" dirty="0">
                <a:latin typeface="Poppins" panose="00000500000000000000" pitchFamily="2" charset="0"/>
                <a:cs typeface="Poppins" panose="00000500000000000000" pitchFamily="2" charset="0"/>
              </a:rPr>
              <a:t>⑥</a:t>
            </a:r>
            <a:endParaRPr lang="en-ID" sz="1600" b="1" dirty="0">
              <a:latin typeface="Poppins" panose="00000500000000000000" pitchFamily="2" charset="0"/>
              <a:cs typeface="Poppins" panose="00000500000000000000" pitchFamily="2" charset="0"/>
            </a:endParaRPr>
          </a:p>
        </p:txBody>
      </p:sp>
      <p:sp>
        <p:nvSpPr>
          <p:cNvPr id="122" name="TextBox 121">
            <a:extLst>
              <a:ext uri="{FF2B5EF4-FFF2-40B4-BE49-F238E27FC236}">
                <a16:creationId xmlns:a16="http://schemas.microsoft.com/office/drawing/2014/main" id="{C1E33945-D1CD-3DC1-2544-C10DB2E7A816}"/>
              </a:ext>
            </a:extLst>
          </p:cNvPr>
          <p:cNvSpPr txBox="1"/>
          <p:nvPr/>
        </p:nvSpPr>
        <p:spPr>
          <a:xfrm>
            <a:off x="10924771" y="6726049"/>
            <a:ext cx="505229" cy="369332"/>
          </a:xfrm>
          <a:prstGeom prst="rect">
            <a:avLst/>
          </a:prstGeom>
          <a:noFill/>
        </p:spPr>
        <p:txBody>
          <a:bodyPr wrap="square" rtlCol="0">
            <a:spAutoFit/>
          </a:bodyPr>
          <a:lstStyle/>
          <a:p>
            <a:r>
              <a:rPr lang="en-ID" b="1" dirty="0">
                <a:latin typeface="Poppins" panose="00000500000000000000" pitchFamily="2" charset="0"/>
                <a:cs typeface="Poppins" panose="00000500000000000000" pitchFamily="2" charset="0"/>
              </a:rPr>
              <a:t>③</a:t>
            </a:r>
          </a:p>
        </p:txBody>
      </p:sp>
      <p:sp>
        <p:nvSpPr>
          <p:cNvPr id="123" name="TextBox 122">
            <a:extLst>
              <a:ext uri="{FF2B5EF4-FFF2-40B4-BE49-F238E27FC236}">
                <a16:creationId xmlns:a16="http://schemas.microsoft.com/office/drawing/2014/main" id="{6987888F-32AA-C1A4-0451-6B2FB8A50EBA}"/>
              </a:ext>
            </a:extLst>
          </p:cNvPr>
          <p:cNvSpPr txBox="1"/>
          <p:nvPr/>
        </p:nvSpPr>
        <p:spPr>
          <a:xfrm>
            <a:off x="10210800" y="7822168"/>
            <a:ext cx="489353" cy="369332"/>
          </a:xfrm>
          <a:prstGeom prst="rect">
            <a:avLst/>
          </a:prstGeom>
          <a:noFill/>
        </p:spPr>
        <p:txBody>
          <a:bodyPr wrap="square" rtlCol="0">
            <a:spAutoFit/>
          </a:bodyPr>
          <a:lstStyle/>
          <a:p>
            <a:r>
              <a:rPr lang="en-ID" b="1" dirty="0">
                <a:latin typeface="Poppins" panose="00000500000000000000" pitchFamily="2" charset="0"/>
                <a:cs typeface="Poppins" panose="00000500000000000000" pitchFamily="2" charset="0"/>
              </a:rPr>
              <a:t>④</a:t>
            </a:r>
          </a:p>
        </p:txBody>
      </p:sp>
      <p:sp>
        <p:nvSpPr>
          <p:cNvPr id="124" name="TextBox 123">
            <a:extLst>
              <a:ext uri="{FF2B5EF4-FFF2-40B4-BE49-F238E27FC236}">
                <a16:creationId xmlns:a16="http://schemas.microsoft.com/office/drawing/2014/main" id="{2EAABAC4-A3E0-446D-F9C6-411FDAC89987}"/>
              </a:ext>
            </a:extLst>
          </p:cNvPr>
          <p:cNvSpPr txBox="1"/>
          <p:nvPr/>
        </p:nvSpPr>
        <p:spPr>
          <a:xfrm>
            <a:off x="10725862" y="5295900"/>
            <a:ext cx="551738" cy="369332"/>
          </a:xfrm>
          <a:prstGeom prst="rect">
            <a:avLst/>
          </a:prstGeom>
          <a:noFill/>
        </p:spPr>
        <p:txBody>
          <a:bodyPr wrap="square" rtlCol="0">
            <a:spAutoFit/>
          </a:bodyPr>
          <a:lstStyle/>
          <a:p>
            <a:r>
              <a:rPr lang="en-ID" b="1" dirty="0">
                <a:latin typeface="Poppins" panose="00000500000000000000" pitchFamily="2" charset="0"/>
                <a:cs typeface="Poppins" panose="00000500000000000000" pitchFamily="2" charset="0"/>
              </a:rPr>
              <a:t>⑧</a:t>
            </a:r>
            <a:endParaRPr lang="en-ID" sz="1400" b="1" dirty="0">
              <a:latin typeface="Poppins" panose="00000500000000000000" pitchFamily="2" charset="0"/>
              <a:cs typeface="Poppins" panose="00000500000000000000" pitchFamily="2" charset="0"/>
            </a:endParaRPr>
          </a:p>
        </p:txBody>
      </p:sp>
      <p:sp>
        <p:nvSpPr>
          <p:cNvPr id="125" name="TextBox 124">
            <a:extLst>
              <a:ext uri="{FF2B5EF4-FFF2-40B4-BE49-F238E27FC236}">
                <a16:creationId xmlns:a16="http://schemas.microsoft.com/office/drawing/2014/main" id="{04D6BC10-C5AB-49A2-952F-2FA19D8B6BC0}"/>
              </a:ext>
            </a:extLst>
          </p:cNvPr>
          <p:cNvSpPr txBox="1"/>
          <p:nvPr/>
        </p:nvSpPr>
        <p:spPr>
          <a:xfrm>
            <a:off x="8998264" y="8115300"/>
            <a:ext cx="450536" cy="369332"/>
          </a:xfrm>
          <a:prstGeom prst="rect">
            <a:avLst/>
          </a:prstGeom>
          <a:noFill/>
        </p:spPr>
        <p:txBody>
          <a:bodyPr wrap="square" rtlCol="0">
            <a:spAutoFit/>
          </a:bodyPr>
          <a:lstStyle/>
          <a:p>
            <a:pPr algn="r"/>
            <a:r>
              <a:rPr lang="en-ID" b="1" dirty="0">
                <a:latin typeface="Poppins" panose="00000500000000000000" pitchFamily="2" charset="0"/>
                <a:cs typeface="Poppins" panose="00000500000000000000" pitchFamily="2" charset="0"/>
              </a:rPr>
              <a:t>⑤</a:t>
            </a:r>
            <a:endParaRPr lang="en-ID" sz="1400" b="1" dirty="0">
              <a:latin typeface="Poppins" panose="00000500000000000000" pitchFamily="2" charset="0"/>
              <a:cs typeface="Poppins" panose="00000500000000000000" pitchFamily="2" charset="0"/>
            </a:endParaRPr>
          </a:p>
        </p:txBody>
      </p:sp>
      <p:sp>
        <p:nvSpPr>
          <p:cNvPr id="127" name="Rectangle: Rounded Corners 126">
            <a:extLst>
              <a:ext uri="{FF2B5EF4-FFF2-40B4-BE49-F238E27FC236}">
                <a16:creationId xmlns:a16="http://schemas.microsoft.com/office/drawing/2014/main" id="{3245A0F6-038E-3218-52B3-8C9F67AAC6D4}"/>
              </a:ext>
            </a:extLst>
          </p:cNvPr>
          <p:cNvSpPr/>
          <p:nvPr/>
        </p:nvSpPr>
        <p:spPr>
          <a:xfrm>
            <a:off x="11430000" y="6286500"/>
            <a:ext cx="2617535" cy="878728"/>
          </a:xfrm>
          <a:prstGeom prst="roundRect">
            <a:avLst/>
          </a:prstGeom>
          <a:solidFill>
            <a:schemeClr val="tx2">
              <a:lumMod val="40000"/>
              <a:lumOff val="60000"/>
            </a:schemeClr>
          </a:solid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Poppins" panose="00000500000000000000" pitchFamily="2" charset="0"/>
                <a:cs typeface="Poppins" panose="00000500000000000000" pitchFamily="2" charset="0"/>
              </a:rPr>
              <a:t>Auth Service (Go)</a:t>
            </a:r>
            <a:endParaRPr lang="en-ID" sz="2000" b="1" dirty="0">
              <a:solidFill>
                <a:schemeClr val="tx1"/>
              </a:solidFill>
              <a:latin typeface="Poppins" panose="00000500000000000000" pitchFamily="2" charset="0"/>
              <a:cs typeface="Poppins" panose="00000500000000000000" pitchFamily="2" charset="0"/>
            </a:endParaRPr>
          </a:p>
        </p:txBody>
      </p:sp>
      <p:cxnSp>
        <p:nvCxnSpPr>
          <p:cNvPr id="128" name="Straight Arrow Connector 127">
            <a:extLst>
              <a:ext uri="{FF2B5EF4-FFF2-40B4-BE49-F238E27FC236}">
                <a16:creationId xmlns:a16="http://schemas.microsoft.com/office/drawing/2014/main" id="{BEA2F8D6-10ED-83A4-6024-C8521A1F4D73}"/>
              </a:ext>
            </a:extLst>
          </p:cNvPr>
          <p:cNvCxnSpPr>
            <a:cxnSpLocks/>
            <a:stCxn id="127" idx="2"/>
            <a:endCxn id="2" idx="0"/>
          </p:cNvCxnSpPr>
          <p:nvPr/>
        </p:nvCxnSpPr>
        <p:spPr>
          <a:xfrm flipH="1">
            <a:off x="9500985" y="7165228"/>
            <a:ext cx="3237783" cy="1483472"/>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257EF0F-947F-4BB9-13AB-EB0A24B67D6D}"/>
              </a:ext>
            </a:extLst>
          </p:cNvPr>
          <p:cNvCxnSpPr>
            <a:cxnSpLocks/>
            <a:stCxn id="107" idx="1"/>
            <a:endCxn id="127" idx="3"/>
          </p:cNvCxnSpPr>
          <p:nvPr/>
        </p:nvCxnSpPr>
        <p:spPr>
          <a:xfrm flipH="1">
            <a:off x="14047535" y="5529236"/>
            <a:ext cx="1518045" cy="1196628"/>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474473C6-1395-8A6B-4A7E-E71103054127}"/>
              </a:ext>
            </a:extLst>
          </p:cNvPr>
          <p:cNvSpPr txBox="1"/>
          <p:nvPr/>
        </p:nvSpPr>
        <p:spPr>
          <a:xfrm>
            <a:off x="14478000" y="6286500"/>
            <a:ext cx="457200" cy="369332"/>
          </a:xfrm>
          <a:prstGeom prst="rect">
            <a:avLst/>
          </a:prstGeom>
          <a:noFill/>
        </p:spPr>
        <p:txBody>
          <a:bodyPr wrap="square" rtlCol="0">
            <a:spAutoFit/>
          </a:bodyPr>
          <a:lstStyle/>
          <a:p>
            <a:r>
              <a:rPr lang="en-ID" b="1" dirty="0">
                <a:latin typeface="Poppins" panose="00000500000000000000" pitchFamily="2" charset="0"/>
                <a:cs typeface="Poppins" panose="00000500000000000000" pitchFamily="2" charset="0"/>
              </a:rPr>
              <a:t>②</a:t>
            </a:r>
          </a:p>
        </p:txBody>
      </p:sp>
      <p:cxnSp>
        <p:nvCxnSpPr>
          <p:cNvPr id="136" name="Straight Arrow Connector 135">
            <a:extLst>
              <a:ext uri="{FF2B5EF4-FFF2-40B4-BE49-F238E27FC236}">
                <a16:creationId xmlns:a16="http://schemas.microsoft.com/office/drawing/2014/main" id="{619A3D19-A0CA-9E75-4738-04ED396B6708}"/>
              </a:ext>
            </a:extLst>
          </p:cNvPr>
          <p:cNvCxnSpPr>
            <a:cxnSpLocks/>
            <a:stCxn id="127" idx="1"/>
            <a:endCxn id="45" idx="3"/>
          </p:cNvCxnSpPr>
          <p:nvPr/>
        </p:nvCxnSpPr>
        <p:spPr>
          <a:xfrm flipH="1">
            <a:off x="10924771" y="6725864"/>
            <a:ext cx="505229" cy="0"/>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7C62ABE4-6534-B766-9186-02A2693848AC}"/>
              </a:ext>
            </a:extLst>
          </p:cNvPr>
          <p:cNvSpPr txBox="1"/>
          <p:nvPr/>
        </p:nvSpPr>
        <p:spPr>
          <a:xfrm>
            <a:off x="9448800" y="5459968"/>
            <a:ext cx="399444" cy="369332"/>
          </a:xfrm>
          <a:prstGeom prst="rect">
            <a:avLst/>
          </a:prstGeom>
          <a:noFill/>
        </p:spPr>
        <p:txBody>
          <a:bodyPr wrap="square" rtlCol="0">
            <a:spAutoFit/>
          </a:bodyPr>
          <a:lstStyle/>
          <a:p>
            <a:pPr algn="r"/>
            <a:r>
              <a:rPr lang="en-ID" b="1" dirty="0">
                <a:latin typeface="Poppins" panose="00000500000000000000" pitchFamily="2" charset="0"/>
                <a:cs typeface="Poppins" panose="00000500000000000000" pitchFamily="2" charset="0"/>
              </a:rPr>
              <a:t>⑦</a:t>
            </a:r>
            <a:endParaRPr lang="en-ID" sz="1600" b="1" dirty="0">
              <a:latin typeface="Poppins" panose="00000500000000000000" pitchFamily="2" charset="0"/>
              <a:cs typeface="Poppins" panose="00000500000000000000" pitchFamily="2" charset="0"/>
            </a:endParaRPr>
          </a:p>
        </p:txBody>
      </p:sp>
      <p:sp>
        <p:nvSpPr>
          <p:cNvPr id="140" name="TextBox 139">
            <a:extLst>
              <a:ext uri="{FF2B5EF4-FFF2-40B4-BE49-F238E27FC236}">
                <a16:creationId xmlns:a16="http://schemas.microsoft.com/office/drawing/2014/main" id="{2BE8D0D4-F864-7907-CABF-4B113C158F08}"/>
              </a:ext>
            </a:extLst>
          </p:cNvPr>
          <p:cNvSpPr txBox="1"/>
          <p:nvPr/>
        </p:nvSpPr>
        <p:spPr>
          <a:xfrm>
            <a:off x="13195234" y="3130034"/>
            <a:ext cx="551738" cy="369332"/>
          </a:xfrm>
          <a:prstGeom prst="rect">
            <a:avLst/>
          </a:prstGeom>
          <a:noFill/>
        </p:spPr>
        <p:txBody>
          <a:bodyPr wrap="square" rtlCol="0">
            <a:spAutoFit/>
          </a:bodyPr>
          <a:lstStyle/>
          <a:p>
            <a:r>
              <a:rPr lang="en-ID" b="1" dirty="0">
                <a:latin typeface="Poppins" panose="00000500000000000000" pitchFamily="2" charset="0"/>
                <a:cs typeface="Poppins" panose="00000500000000000000" pitchFamily="2" charset="0"/>
              </a:rPr>
              <a:t>⑨</a:t>
            </a:r>
            <a:endParaRPr lang="en-ID" sz="1400" b="1" dirty="0">
              <a:latin typeface="Poppins" panose="00000500000000000000" pitchFamily="2" charset="0"/>
              <a:cs typeface="Poppins" panose="00000500000000000000" pitchFamily="2" charset="0"/>
            </a:endParaRPr>
          </a:p>
        </p:txBody>
      </p:sp>
      <p:sp>
        <p:nvSpPr>
          <p:cNvPr id="141" name="TextBox 140">
            <a:extLst>
              <a:ext uri="{FF2B5EF4-FFF2-40B4-BE49-F238E27FC236}">
                <a16:creationId xmlns:a16="http://schemas.microsoft.com/office/drawing/2014/main" id="{4B9AA61F-F54D-8FFD-B529-E50A767FBBD6}"/>
              </a:ext>
            </a:extLst>
          </p:cNvPr>
          <p:cNvSpPr txBox="1"/>
          <p:nvPr/>
        </p:nvSpPr>
        <p:spPr>
          <a:xfrm>
            <a:off x="14677915" y="5082607"/>
            <a:ext cx="450536" cy="369332"/>
          </a:xfrm>
          <a:prstGeom prst="rect">
            <a:avLst/>
          </a:prstGeom>
          <a:noFill/>
        </p:spPr>
        <p:txBody>
          <a:bodyPr wrap="square" rtlCol="0">
            <a:spAutoFit/>
          </a:bodyPr>
          <a:lstStyle/>
          <a:p>
            <a:pPr algn="r"/>
            <a:r>
              <a:rPr lang="en-ID" b="1" dirty="0">
                <a:latin typeface="Poppins" panose="00000500000000000000" pitchFamily="2" charset="0"/>
                <a:cs typeface="Poppins" panose="00000500000000000000" pitchFamily="2" charset="0"/>
              </a:rPr>
              <a:t>⑩</a:t>
            </a:r>
            <a:endParaRPr lang="en-ID" sz="1400" b="1" dirty="0">
              <a:latin typeface="Poppins" panose="00000500000000000000" pitchFamily="2" charset="0"/>
              <a:cs typeface="Poppins" panose="00000500000000000000" pitchFamily="2" charset="0"/>
            </a:endParaRPr>
          </a:p>
        </p:txBody>
      </p:sp>
      <p:sp>
        <p:nvSpPr>
          <p:cNvPr id="143" name="TextBox 142">
            <a:extLst>
              <a:ext uri="{FF2B5EF4-FFF2-40B4-BE49-F238E27FC236}">
                <a16:creationId xmlns:a16="http://schemas.microsoft.com/office/drawing/2014/main" id="{615D3D86-B389-EC14-0C81-71F167862020}"/>
              </a:ext>
            </a:extLst>
          </p:cNvPr>
          <p:cNvSpPr txBox="1"/>
          <p:nvPr/>
        </p:nvSpPr>
        <p:spPr>
          <a:xfrm>
            <a:off x="10637593" y="5598134"/>
            <a:ext cx="450536" cy="646331"/>
          </a:xfrm>
          <a:prstGeom prst="rect">
            <a:avLst/>
          </a:prstGeom>
          <a:noFill/>
        </p:spPr>
        <p:txBody>
          <a:bodyPr wrap="square" rtlCol="0">
            <a:spAutoFit/>
          </a:bodyPr>
          <a:lstStyle/>
          <a:p>
            <a:pPr algn="r"/>
            <a:r>
              <a:rPr lang="en-ID" b="1" dirty="0">
                <a:latin typeface="Poppins" panose="00000500000000000000" pitchFamily="2" charset="0"/>
                <a:cs typeface="Poppins" panose="00000500000000000000" pitchFamily="2" charset="0"/>
              </a:rPr>
              <a:t>⑪ </a:t>
            </a:r>
            <a:endParaRPr lang="en-ID" sz="1400" b="1" dirty="0">
              <a:latin typeface="Poppins" panose="00000500000000000000" pitchFamily="2" charset="0"/>
              <a:cs typeface="Poppins" panose="00000500000000000000" pitchFamily="2" charset="0"/>
            </a:endParaRPr>
          </a:p>
        </p:txBody>
      </p:sp>
      <p:grpSp>
        <p:nvGrpSpPr>
          <p:cNvPr id="144" name="Group 17">
            <a:extLst>
              <a:ext uri="{FF2B5EF4-FFF2-40B4-BE49-F238E27FC236}">
                <a16:creationId xmlns:a16="http://schemas.microsoft.com/office/drawing/2014/main" id="{731FA9D6-F31A-544F-641F-CDDB91E95112}"/>
              </a:ext>
            </a:extLst>
          </p:cNvPr>
          <p:cNvGrpSpPr/>
          <p:nvPr/>
        </p:nvGrpSpPr>
        <p:grpSpPr>
          <a:xfrm>
            <a:off x="13335000" y="9253126"/>
            <a:ext cx="3918346" cy="670011"/>
            <a:chOff x="0" y="-66675"/>
            <a:chExt cx="4327267" cy="893347"/>
          </a:xfrm>
        </p:grpSpPr>
        <p:sp>
          <p:nvSpPr>
            <p:cNvPr id="145" name="TextBox 18">
              <a:extLst>
                <a:ext uri="{FF2B5EF4-FFF2-40B4-BE49-F238E27FC236}">
                  <a16:creationId xmlns:a16="http://schemas.microsoft.com/office/drawing/2014/main" id="{A3BA33FA-47EA-62D2-AB67-0E57BCFAA8BD}"/>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46" name="TextBox 19">
              <a:extLst>
                <a:ext uri="{FF2B5EF4-FFF2-40B4-BE49-F238E27FC236}">
                  <a16:creationId xmlns:a16="http://schemas.microsoft.com/office/drawing/2014/main" id="{3DDB8BB5-1FC5-454E-3FB8-73C1D1E72D85}"/>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10</a:t>
              </a:r>
            </a:p>
          </p:txBody>
        </p:sp>
        <p:sp>
          <p:nvSpPr>
            <p:cNvPr id="147" name="AutoShape 20">
              <a:extLst>
                <a:ext uri="{FF2B5EF4-FFF2-40B4-BE49-F238E27FC236}">
                  <a16:creationId xmlns:a16="http://schemas.microsoft.com/office/drawing/2014/main" id="{35D3058F-B7BD-663D-8CA3-C84CA98EB1D2}"/>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cxnSp>
        <p:nvCxnSpPr>
          <p:cNvPr id="148" name="Straight Arrow Connector 147">
            <a:extLst>
              <a:ext uri="{FF2B5EF4-FFF2-40B4-BE49-F238E27FC236}">
                <a16:creationId xmlns:a16="http://schemas.microsoft.com/office/drawing/2014/main" id="{283C66EF-38E5-6021-1B34-0C3B89456332}"/>
              </a:ext>
            </a:extLst>
          </p:cNvPr>
          <p:cNvCxnSpPr>
            <a:cxnSpLocks/>
            <a:endCxn id="90" idx="0"/>
          </p:cNvCxnSpPr>
          <p:nvPr/>
        </p:nvCxnSpPr>
        <p:spPr>
          <a:xfrm flipH="1">
            <a:off x="12738768" y="2705100"/>
            <a:ext cx="2348832" cy="1219200"/>
          </a:xfrm>
          <a:prstGeom prst="straightConnector1">
            <a:avLst/>
          </a:prstGeom>
          <a:ln w="317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3" name="TextBox 152">
            <a:extLst>
              <a:ext uri="{FF2B5EF4-FFF2-40B4-BE49-F238E27FC236}">
                <a16:creationId xmlns:a16="http://schemas.microsoft.com/office/drawing/2014/main" id="{38B6929B-D392-4E3D-67C9-D48AFE592AEA}"/>
              </a:ext>
            </a:extLst>
          </p:cNvPr>
          <p:cNvSpPr txBox="1"/>
          <p:nvPr/>
        </p:nvSpPr>
        <p:spPr>
          <a:xfrm>
            <a:off x="15177167" y="2491275"/>
            <a:ext cx="3048000" cy="400110"/>
          </a:xfrm>
          <a:prstGeom prst="rect">
            <a:avLst/>
          </a:prstGeom>
          <a:noFill/>
        </p:spPr>
        <p:txBody>
          <a:bodyPr wrap="square" rtlCol="0">
            <a:spAutoFit/>
          </a:bodyPr>
          <a:lstStyle/>
          <a:p>
            <a:r>
              <a:rPr lang="en-US" sz="2000" b="1" dirty="0">
                <a:latin typeface="Poppins" panose="00000500000000000000" pitchFamily="2" charset="0"/>
                <a:cs typeface="Poppins" panose="00000500000000000000" pitchFamily="2" charset="0"/>
              </a:rPr>
              <a:t>OpenAI</a:t>
            </a:r>
            <a:endParaRPr lang="en-ID" sz="2000" b="1" dirty="0">
              <a:latin typeface="Poppins" panose="00000500000000000000" pitchFamily="2" charset="0"/>
              <a:cs typeface="Poppins" panose="00000500000000000000" pitchFamily="2" charset="0"/>
            </a:endParaRPr>
          </a:p>
        </p:txBody>
      </p:sp>
      <p:sp>
        <p:nvSpPr>
          <p:cNvPr id="155" name="TextBox 154">
            <a:extLst>
              <a:ext uri="{FF2B5EF4-FFF2-40B4-BE49-F238E27FC236}">
                <a16:creationId xmlns:a16="http://schemas.microsoft.com/office/drawing/2014/main" id="{9FD58AAD-CE2E-F1F2-AAEA-473B72D34B92}"/>
              </a:ext>
            </a:extLst>
          </p:cNvPr>
          <p:cNvSpPr txBox="1"/>
          <p:nvPr/>
        </p:nvSpPr>
        <p:spPr>
          <a:xfrm>
            <a:off x="8991600" y="7810500"/>
            <a:ext cx="450536" cy="369332"/>
          </a:xfrm>
          <a:prstGeom prst="rect">
            <a:avLst/>
          </a:prstGeom>
          <a:noFill/>
        </p:spPr>
        <p:txBody>
          <a:bodyPr wrap="square" rtlCol="0">
            <a:spAutoFit/>
          </a:bodyPr>
          <a:lstStyle/>
          <a:p>
            <a:pPr algn="r"/>
            <a:r>
              <a:rPr lang="en-ID" b="1" dirty="0">
                <a:latin typeface="Poppins" panose="00000500000000000000" pitchFamily="2" charset="0"/>
                <a:cs typeface="Poppins" panose="00000500000000000000" pitchFamily="2" charset="0"/>
              </a:rPr>
              <a:t>⑫</a:t>
            </a:r>
            <a:endParaRPr lang="en-ID" sz="1400" b="1"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294610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4D46F-E5A0-294C-BE48-EB0E283BDE2E}"/>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54DD2D41-142F-3F03-3F9E-01D890CF5D4A}"/>
              </a:ext>
            </a:extLst>
          </p:cNvPr>
          <p:cNvGrpSpPr/>
          <p:nvPr/>
        </p:nvGrpSpPr>
        <p:grpSpPr>
          <a:xfrm>
            <a:off x="-772763" y="9925307"/>
            <a:ext cx="19685815" cy="801384"/>
            <a:chOff x="0" y="0"/>
            <a:chExt cx="5184741" cy="211064"/>
          </a:xfrm>
        </p:grpSpPr>
        <p:sp>
          <p:nvSpPr>
            <p:cNvPr id="6" name="Freeform 6">
              <a:extLst>
                <a:ext uri="{FF2B5EF4-FFF2-40B4-BE49-F238E27FC236}">
                  <a16:creationId xmlns:a16="http://schemas.microsoft.com/office/drawing/2014/main" id="{F2CBD532-6557-54FD-DD69-2FB3E5F31829}"/>
                </a:ext>
              </a:extLst>
            </p:cNvPr>
            <p:cNvSpPr/>
            <p:nvPr/>
          </p:nvSpPr>
          <p:spPr>
            <a:xfrm>
              <a:off x="0" y="0"/>
              <a:ext cx="5184742" cy="211064"/>
            </a:xfrm>
            <a:custGeom>
              <a:avLst/>
              <a:gdLst/>
              <a:ahLst/>
              <a:cxnLst/>
              <a:rect l="l" t="t" r="r" b="b"/>
              <a:pathLst>
                <a:path w="5184742" h="211064">
                  <a:moveTo>
                    <a:pt x="0" y="0"/>
                  </a:moveTo>
                  <a:lnTo>
                    <a:pt x="5184742" y="0"/>
                  </a:lnTo>
                  <a:lnTo>
                    <a:pt x="5184742" y="211064"/>
                  </a:lnTo>
                  <a:lnTo>
                    <a:pt x="0" y="211064"/>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4D77F19D-E5EC-570D-E8B8-FC1A028A7C30}"/>
                </a:ext>
              </a:extLst>
            </p:cNvPr>
            <p:cNvSpPr txBox="1"/>
            <p:nvPr/>
          </p:nvSpPr>
          <p:spPr>
            <a:xfrm>
              <a:off x="0" y="-57150"/>
              <a:ext cx="5184741" cy="268214"/>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8" name="Group 8">
            <a:extLst>
              <a:ext uri="{FF2B5EF4-FFF2-40B4-BE49-F238E27FC236}">
                <a16:creationId xmlns:a16="http://schemas.microsoft.com/office/drawing/2014/main" id="{47DBE084-14A4-5F7A-2D3B-720877958FA9}"/>
              </a:ext>
            </a:extLst>
          </p:cNvPr>
          <p:cNvGrpSpPr/>
          <p:nvPr/>
        </p:nvGrpSpPr>
        <p:grpSpPr>
          <a:xfrm>
            <a:off x="-698908" y="-450729"/>
            <a:ext cx="19685815" cy="812421"/>
            <a:chOff x="0" y="0"/>
            <a:chExt cx="5184741" cy="213971"/>
          </a:xfrm>
        </p:grpSpPr>
        <p:sp>
          <p:nvSpPr>
            <p:cNvPr id="9" name="Freeform 9">
              <a:extLst>
                <a:ext uri="{FF2B5EF4-FFF2-40B4-BE49-F238E27FC236}">
                  <a16:creationId xmlns:a16="http://schemas.microsoft.com/office/drawing/2014/main" id="{202603DD-ED31-C41B-3497-FDB652020CD0}"/>
                </a:ext>
              </a:extLst>
            </p:cNvPr>
            <p:cNvSpPr/>
            <p:nvPr/>
          </p:nvSpPr>
          <p:spPr>
            <a:xfrm>
              <a:off x="0" y="0"/>
              <a:ext cx="5184742" cy="213971"/>
            </a:xfrm>
            <a:custGeom>
              <a:avLst/>
              <a:gdLst/>
              <a:ahLst/>
              <a:cxnLst/>
              <a:rect l="l" t="t" r="r" b="b"/>
              <a:pathLst>
                <a:path w="5184742" h="213971">
                  <a:moveTo>
                    <a:pt x="0" y="0"/>
                  </a:moveTo>
                  <a:lnTo>
                    <a:pt x="5184742" y="0"/>
                  </a:lnTo>
                  <a:lnTo>
                    <a:pt x="5184742" y="213971"/>
                  </a:lnTo>
                  <a:lnTo>
                    <a:pt x="0" y="213971"/>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23DD769B-366B-0984-B794-11B37A94C3CD}"/>
                </a:ext>
              </a:extLst>
            </p:cNvPr>
            <p:cNvSpPr txBox="1"/>
            <p:nvPr/>
          </p:nvSpPr>
          <p:spPr>
            <a:xfrm>
              <a:off x="0" y="-57150"/>
              <a:ext cx="5184741" cy="271121"/>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a:extLst>
              <a:ext uri="{FF2B5EF4-FFF2-40B4-BE49-F238E27FC236}">
                <a16:creationId xmlns:a16="http://schemas.microsoft.com/office/drawing/2014/main" id="{8D981E86-2522-D18C-7C43-0084038F67A1}"/>
              </a:ext>
            </a:extLst>
          </p:cNvPr>
          <p:cNvSpPr txBox="1"/>
          <p:nvPr/>
        </p:nvSpPr>
        <p:spPr>
          <a:xfrm>
            <a:off x="6573272" y="4126709"/>
            <a:ext cx="885576" cy="674957"/>
          </a:xfrm>
          <a:prstGeom prst="rect">
            <a:avLst/>
          </a:prstGeom>
        </p:spPr>
        <p:txBody>
          <a:bodyPr lIns="0" tIns="0" rIns="0" bIns="0" rtlCol="0" anchor="t">
            <a:spAutoFit/>
          </a:bodyPr>
          <a:lstStyle/>
          <a:p>
            <a:pPr algn="ctr">
              <a:lnSpc>
                <a:spcPts val="5322"/>
              </a:lnSpc>
            </a:pPr>
            <a:r>
              <a:rPr lang="en-US" sz="3801" b="1">
                <a:solidFill>
                  <a:srgbClr val="FFFFFF"/>
                </a:solidFill>
                <a:latin typeface="Coco Gothic Heavy"/>
                <a:ea typeface="Coco Gothic Heavy"/>
                <a:cs typeface="Coco Gothic Heavy"/>
                <a:sym typeface="Coco Gothic Heavy"/>
              </a:rPr>
              <a:t>01.</a:t>
            </a:r>
          </a:p>
        </p:txBody>
      </p:sp>
      <p:sp>
        <p:nvSpPr>
          <p:cNvPr id="34" name="TextBox 34">
            <a:extLst>
              <a:ext uri="{FF2B5EF4-FFF2-40B4-BE49-F238E27FC236}">
                <a16:creationId xmlns:a16="http://schemas.microsoft.com/office/drawing/2014/main" id="{60C8E71C-AA86-4DF7-3B27-4E86DCD37C2E}"/>
              </a:ext>
            </a:extLst>
          </p:cNvPr>
          <p:cNvSpPr txBox="1"/>
          <p:nvPr/>
        </p:nvSpPr>
        <p:spPr>
          <a:xfrm>
            <a:off x="3733800" y="1638300"/>
            <a:ext cx="10820399" cy="874278"/>
          </a:xfrm>
          <a:prstGeom prst="rect">
            <a:avLst/>
          </a:prstGeom>
        </p:spPr>
        <p:txBody>
          <a:bodyPr wrap="square" lIns="0" tIns="0" rIns="0" bIns="0" rtlCol="0" anchor="t">
            <a:spAutoFit/>
          </a:bodyPr>
          <a:lstStyle/>
          <a:p>
            <a:pPr algn="ctr">
              <a:lnSpc>
                <a:spcPts val="6660"/>
              </a:lnSpc>
            </a:pPr>
            <a:r>
              <a:rPr lang="en-US" sz="6000" b="1" dirty="0">
                <a:solidFill>
                  <a:srgbClr val="343434"/>
                </a:solidFill>
                <a:latin typeface="Coco Gothic Heavy"/>
                <a:ea typeface="Coco Gothic Heavy"/>
                <a:cs typeface="Coco Gothic Heavy"/>
                <a:sym typeface="Coco Gothic Heavy"/>
              </a:rPr>
              <a:t>Classifier Service (Part 1)</a:t>
            </a:r>
          </a:p>
        </p:txBody>
      </p:sp>
      <p:sp>
        <p:nvSpPr>
          <p:cNvPr id="35" name="TextBox 35">
            <a:extLst>
              <a:ext uri="{FF2B5EF4-FFF2-40B4-BE49-F238E27FC236}">
                <a16:creationId xmlns:a16="http://schemas.microsoft.com/office/drawing/2014/main" id="{987AA58C-9C34-AFB4-9DCA-E0F5B08EFF5B}"/>
              </a:ext>
            </a:extLst>
          </p:cNvPr>
          <p:cNvSpPr txBox="1"/>
          <p:nvPr/>
        </p:nvSpPr>
        <p:spPr>
          <a:xfrm>
            <a:off x="1034654" y="3322236"/>
            <a:ext cx="5618763" cy="3931846"/>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For the Classifier Service, Yinni App uses Ultra-Lite-Classifier model built using PyTorch Embedding-Bag model as an embedding layer with embedding dimension of 128 and fully connected linear layer classifying to 3 classes of prompt type (FIND ITEM, SELECT OPTION, MAKE PAYMENT), trained using datasets of 640 samples, spanning 300 vocab size, with only 38,787 parameters making it so incredibly lite for extremely fast process.</a:t>
            </a:r>
            <a:endParaRPr lang="en-US" sz="1600" dirty="0">
              <a:solidFill>
                <a:srgbClr val="343434"/>
              </a:solidFill>
              <a:latin typeface="Poppins"/>
              <a:ea typeface="Poppins"/>
              <a:cs typeface="Poppins"/>
              <a:sym typeface="Poppins"/>
            </a:endParaRPr>
          </a:p>
        </p:txBody>
      </p:sp>
      <p:sp>
        <p:nvSpPr>
          <p:cNvPr id="38" name="TextBox 3">
            <a:extLst>
              <a:ext uri="{FF2B5EF4-FFF2-40B4-BE49-F238E27FC236}">
                <a16:creationId xmlns:a16="http://schemas.microsoft.com/office/drawing/2014/main" id="{1A9E681B-C99E-3725-810F-72A11D81AB66}"/>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9" name="TextBox 4">
            <a:extLst>
              <a:ext uri="{FF2B5EF4-FFF2-40B4-BE49-F238E27FC236}">
                <a16:creationId xmlns:a16="http://schemas.microsoft.com/office/drawing/2014/main" id="{FC77AF82-CC2E-70D1-3FD0-7B08300282A5}"/>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40" name="Picture 39">
            <a:extLst>
              <a:ext uri="{FF2B5EF4-FFF2-40B4-BE49-F238E27FC236}">
                <a16:creationId xmlns:a16="http://schemas.microsoft.com/office/drawing/2014/main" id="{156960C9-3EA8-195C-7168-3F2DB34D50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grpSp>
        <p:nvGrpSpPr>
          <p:cNvPr id="144" name="Group 17">
            <a:extLst>
              <a:ext uri="{FF2B5EF4-FFF2-40B4-BE49-F238E27FC236}">
                <a16:creationId xmlns:a16="http://schemas.microsoft.com/office/drawing/2014/main" id="{B8378A5D-3798-C8A0-4A87-6552572111F9}"/>
              </a:ext>
            </a:extLst>
          </p:cNvPr>
          <p:cNvGrpSpPr/>
          <p:nvPr/>
        </p:nvGrpSpPr>
        <p:grpSpPr>
          <a:xfrm>
            <a:off x="13335000" y="9253126"/>
            <a:ext cx="3918346" cy="670011"/>
            <a:chOff x="0" y="-66675"/>
            <a:chExt cx="4327267" cy="893347"/>
          </a:xfrm>
        </p:grpSpPr>
        <p:sp>
          <p:nvSpPr>
            <p:cNvPr id="145" name="TextBox 18">
              <a:extLst>
                <a:ext uri="{FF2B5EF4-FFF2-40B4-BE49-F238E27FC236}">
                  <a16:creationId xmlns:a16="http://schemas.microsoft.com/office/drawing/2014/main" id="{C9323F06-F994-E885-20E3-5629EE5604DC}"/>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46" name="TextBox 19">
              <a:extLst>
                <a:ext uri="{FF2B5EF4-FFF2-40B4-BE49-F238E27FC236}">
                  <a16:creationId xmlns:a16="http://schemas.microsoft.com/office/drawing/2014/main" id="{44250023-5BBE-5963-A091-7FB377BCF45C}"/>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11</a:t>
              </a:r>
            </a:p>
          </p:txBody>
        </p:sp>
        <p:sp>
          <p:nvSpPr>
            <p:cNvPr id="147" name="AutoShape 20">
              <a:extLst>
                <a:ext uri="{FF2B5EF4-FFF2-40B4-BE49-F238E27FC236}">
                  <a16:creationId xmlns:a16="http://schemas.microsoft.com/office/drawing/2014/main" id="{BADF2F71-BA99-95FC-123B-8E37D680E2E5}"/>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pic>
        <p:nvPicPr>
          <p:cNvPr id="14" name="Picture 13">
            <a:extLst>
              <a:ext uri="{FF2B5EF4-FFF2-40B4-BE49-F238E27FC236}">
                <a16:creationId xmlns:a16="http://schemas.microsoft.com/office/drawing/2014/main" id="{B702E180-24EE-A436-0FFF-9C18C4FD3034}"/>
              </a:ext>
            </a:extLst>
          </p:cNvPr>
          <p:cNvPicPr>
            <a:picLocks noChangeAspect="1"/>
          </p:cNvPicPr>
          <p:nvPr/>
        </p:nvPicPr>
        <p:blipFill>
          <a:blip r:embed="rId3"/>
          <a:stretch>
            <a:fillRect/>
          </a:stretch>
        </p:blipFill>
        <p:spPr>
          <a:xfrm>
            <a:off x="7399934" y="3424187"/>
            <a:ext cx="9994006" cy="5388520"/>
          </a:xfrm>
          <a:prstGeom prst="rect">
            <a:avLst/>
          </a:prstGeom>
        </p:spPr>
      </p:pic>
    </p:spTree>
    <p:extLst>
      <p:ext uri="{BB962C8B-B14F-4D97-AF65-F5344CB8AC3E}">
        <p14:creationId xmlns:p14="http://schemas.microsoft.com/office/powerpoint/2010/main" val="1454139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5DA6D-1505-820E-86F6-086929FDED38}"/>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4CA65C9B-1758-A253-8E7B-9FC9F7834E2B}"/>
              </a:ext>
            </a:extLst>
          </p:cNvPr>
          <p:cNvGrpSpPr/>
          <p:nvPr/>
        </p:nvGrpSpPr>
        <p:grpSpPr>
          <a:xfrm>
            <a:off x="-772763" y="9925307"/>
            <a:ext cx="19685815" cy="801384"/>
            <a:chOff x="0" y="0"/>
            <a:chExt cx="5184741" cy="211064"/>
          </a:xfrm>
        </p:grpSpPr>
        <p:sp>
          <p:nvSpPr>
            <p:cNvPr id="6" name="Freeform 6">
              <a:extLst>
                <a:ext uri="{FF2B5EF4-FFF2-40B4-BE49-F238E27FC236}">
                  <a16:creationId xmlns:a16="http://schemas.microsoft.com/office/drawing/2014/main" id="{E0A0CD04-1DC8-9297-8670-35FAE5DA5843}"/>
                </a:ext>
              </a:extLst>
            </p:cNvPr>
            <p:cNvSpPr/>
            <p:nvPr/>
          </p:nvSpPr>
          <p:spPr>
            <a:xfrm>
              <a:off x="0" y="0"/>
              <a:ext cx="5184742" cy="211064"/>
            </a:xfrm>
            <a:custGeom>
              <a:avLst/>
              <a:gdLst/>
              <a:ahLst/>
              <a:cxnLst/>
              <a:rect l="l" t="t" r="r" b="b"/>
              <a:pathLst>
                <a:path w="5184742" h="211064">
                  <a:moveTo>
                    <a:pt x="0" y="0"/>
                  </a:moveTo>
                  <a:lnTo>
                    <a:pt x="5184742" y="0"/>
                  </a:lnTo>
                  <a:lnTo>
                    <a:pt x="5184742" y="211064"/>
                  </a:lnTo>
                  <a:lnTo>
                    <a:pt x="0" y="211064"/>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B6032654-993C-52F1-4F1E-7F6191AC9F70}"/>
                </a:ext>
              </a:extLst>
            </p:cNvPr>
            <p:cNvSpPr txBox="1"/>
            <p:nvPr/>
          </p:nvSpPr>
          <p:spPr>
            <a:xfrm>
              <a:off x="0" y="-57150"/>
              <a:ext cx="5184741" cy="268214"/>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8" name="Group 8">
            <a:extLst>
              <a:ext uri="{FF2B5EF4-FFF2-40B4-BE49-F238E27FC236}">
                <a16:creationId xmlns:a16="http://schemas.microsoft.com/office/drawing/2014/main" id="{16417BB5-DB86-FBDA-DEEF-F903799F0401}"/>
              </a:ext>
            </a:extLst>
          </p:cNvPr>
          <p:cNvGrpSpPr/>
          <p:nvPr/>
        </p:nvGrpSpPr>
        <p:grpSpPr>
          <a:xfrm>
            <a:off x="-698908" y="-450729"/>
            <a:ext cx="19685815" cy="812421"/>
            <a:chOff x="0" y="0"/>
            <a:chExt cx="5184741" cy="213971"/>
          </a:xfrm>
        </p:grpSpPr>
        <p:sp>
          <p:nvSpPr>
            <p:cNvPr id="9" name="Freeform 9">
              <a:extLst>
                <a:ext uri="{FF2B5EF4-FFF2-40B4-BE49-F238E27FC236}">
                  <a16:creationId xmlns:a16="http://schemas.microsoft.com/office/drawing/2014/main" id="{A3DF4405-6A2D-2001-AD93-461820A09DFE}"/>
                </a:ext>
              </a:extLst>
            </p:cNvPr>
            <p:cNvSpPr/>
            <p:nvPr/>
          </p:nvSpPr>
          <p:spPr>
            <a:xfrm>
              <a:off x="0" y="0"/>
              <a:ext cx="5184742" cy="213971"/>
            </a:xfrm>
            <a:custGeom>
              <a:avLst/>
              <a:gdLst/>
              <a:ahLst/>
              <a:cxnLst/>
              <a:rect l="l" t="t" r="r" b="b"/>
              <a:pathLst>
                <a:path w="5184742" h="213971">
                  <a:moveTo>
                    <a:pt x="0" y="0"/>
                  </a:moveTo>
                  <a:lnTo>
                    <a:pt x="5184742" y="0"/>
                  </a:lnTo>
                  <a:lnTo>
                    <a:pt x="5184742" y="213971"/>
                  </a:lnTo>
                  <a:lnTo>
                    <a:pt x="0" y="213971"/>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EBB53406-9137-AB02-3EB0-7997A4215E94}"/>
                </a:ext>
              </a:extLst>
            </p:cNvPr>
            <p:cNvSpPr txBox="1"/>
            <p:nvPr/>
          </p:nvSpPr>
          <p:spPr>
            <a:xfrm>
              <a:off x="0" y="-57150"/>
              <a:ext cx="5184741" cy="271121"/>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a:extLst>
              <a:ext uri="{FF2B5EF4-FFF2-40B4-BE49-F238E27FC236}">
                <a16:creationId xmlns:a16="http://schemas.microsoft.com/office/drawing/2014/main" id="{42315DFE-2FC2-77A6-BF31-D918547B33DE}"/>
              </a:ext>
            </a:extLst>
          </p:cNvPr>
          <p:cNvSpPr txBox="1"/>
          <p:nvPr/>
        </p:nvSpPr>
        <p:spPr>
          <a:xfrm>
            <a:off x="6573272" y="4126709"/>
            <a:ext cx="885576" cy="674957"/>
          </a:xfrm>
          <a:prstGeom prst="rect">
            <a:avLst/>
          </a:prstGeom>
        </p:spPr>
        <p:txBody>
          <a:bodyPr lIns="0" tIns="0" rIns="0" bIns="0" rtlCol="0" anchor="t">
            <a:spAutoFit/>
          </a:bodyPr>
          <a:lstStyle/>
          <a:p>
            <a:pPr algn="ctr">
              <a:lnSpc>
                <a:spcPts val="5322"/>
              </a:lnSpc>
            </a:pPr>
            <a:r>
              <a:rPr lang="en-US" sz="3801" b="1">
                <a:solidFill>
                  <a:srgbClr val="FFFFFF"/>
                </a:solidFill>
                <a:latin typeface="Coco Gothic Heavy"/>
                <a:ea typeface="Coco Gothic Heavy"/>
                <a:cs typeface="Coco Gothic Heavy"/>
                <a:sym typeface="Coco Gothic Heavy"/>
              </a:rPr>
              <a:t>01.</a:t>
            </a:r>
          </a:p>
        </p:txBody>
      </p:sp>
      <p:sp>
        <p:nvSpPr>
          <p:cNvPr id="34" name="TextBox 34">
            <a:extLst>
              <a:ext uri="{FF2B5EF4-FFF2-40B4-BE49-F238E27FC236}">
                <a16:creationId xmlns:a16="http://schemas.microsoft.com/office/drawing/2014/main" id="{9BDCC272-21FB-737B-007C-1DDFDD63698E}"/>
              </a:ext>
            </a:extLst>
          </p:cNvPr>
          <p:cNvSpPr txBox="1"/>
          <p:nvPr/>
        </p:nvSpPr>
        <p:spPr>
          <a:xfrm>
            <a:off x="3733800" y="1638300"/>
            <a:ext cx="10820399" cy="874278"/>
          </a:xfrm>
          <a:prstGeom prst="rect">
            <a:avLst/>
          </a:prstGeom>
        </p:spPr>
        <p:txBody>
          <a:bodyPr wrap="square" lIns="0" tIns="0" rIns="0" bIns="0" rtlCol="0" anchor="t">
            <a:spAutoFit/>
          </a:bodyPr>
          <a:lstStyle/>
          <a:p>
            <a:pPr algn="ctr">
              <a:lnSpc>
                <a:spcPts val="6660"/>
              </a:lnSpc>
            </a:pPr>
            <a:r>
              <a:rPr lang="en-US" sz="6000" b="1" dirty="0">
                <a:solidFill>
                  <a:srgbClr val="343434"/>
                </a:solidFill>
                <a:latin typeface="Coco Gothic Heavy"/>
                <a:ea typeface="Coco Gothic Heavy"/>
                <a:cs typeface="Coco Gothic Heavy"/>
                <a:sym typeface="Coco Gothic Heavy"/>
              </a:rPr>
              <a:t>Classifier Service (Part 2)</a:t>
            </a:r>
          </a:p>
        </p:txBody>
      </p:sp>
      <p:sp>
        <p:nvSpPr>
          <p:cNvPr id="35" name="TextBox 35">
            <a:extLst>
              <a:ext uri="{FF2B5EF4-FFF2-40B4-BE49-F238E27FC236}">
                <a16:creationId xmlns:a16="http://schemas.microsoft.com/office/drawing/2014/main" id="{B601C5A4-BCC5-E014-CC47-86D2527D4768}"/>
              </a:ext>
            </a:extLst>
          </p:cNvPr>
          <p:cNvSpPr txBox="1"/>
          <p:nvPr/>
        </p:nvSpPr>
        <p:spPr>
          <a:xfrm>
            <a:off x="1034654" y="3322236"/>
            <a:ext cx="5618763" cy="1777410"/>
          </a:xfrm>
          <a:prstGeom prst="rect">
            <a:avLst/>
          </a:prstGeom>
        </p:spPr>
        <p:txBody>
          <a:bodyPr wrap="square" lIns="0" tIns="0" rIns="0" bIns="0" rtlCol="0" anchor="t">
            <a:spAutoFit/>
          </a:bodyPr>
          <a:lstStyle/>
          <a:p>
            <a:pPr>
              <a:lnSpc>
                <a:spcPts val="2800"/>
              </a:lnSpc>
            </a:pPr>
            <a:r>
              <a:rPr lang="en-US" sz="2000" dirty="0">
                <a:solidFill>
                  <a:srgbClr val="343434"/>
                </a:solidFill>
                <a:latin typeface="Poppins"/>
                <a:ea typeface="Poppins"/>
                <a:cs typeface="Poppins"/>
                <a:sym typeface="Poppins"/>
              </a:rPr>
              <a:t>This illustration shows the training process using epoch value 9.</a:t>
            </a:r>
          </a:p>
          <a:p>
            <a:pPr>
              <a:lnSpc>
                <a:spcPts val="2800"/>
              </a:lnSpc>
            </a:pPr>
            <a:endParaRPr lang="en-US" sz="2000" dirty="0">
              <a:solidFill>
                <a:srgbClr val="343434"/>
              </a:solidFill>
              <a:latin typeface="Poppins"/>
              <a:ea typeface="Poppins"/>
              <a:cs typeface="Poppins"/>
              <a:sym typeface="Poppins"/>
            </a:endParaRPr>
          </a:p>
          <a:p>
            <a:pPr>
              <a:lnSpc>
                <a:spcPts val="2800"/>
              </a:lnSpc>
            </a:pPr>
            <a:r>
              <a:rPr lang="en-US" sz="2000" dirty="0">
                <a:solidFill>
                  <a:srgbClr val="343434"/>
                </a:solidFill>
                <a:latin typeface="Poppins"/>
                <a:ea typeface="Poppins"/>
                <a:cs typeface="Poppins"/>
                <a:sym typeface="Poppins"/>
              </a:rPr>
              <a:t>The output is ulc_model_weight.pth as trained model.</a:t>
            </a:r>
            <a:endParaRPr lang="en-US" sz="1600" dirty="0">
              <a:solidFill>
                <a:srgbClr val="343434"/>
              </a:solidFill>
              <a:latin typeface="Poppins"/>
              <a:ea typeface="Poppins"/>
              <a:cs typeface="Poppins"/>
              <a:sym typeface="Poppins"/>
            </a:endParaRPr>
          </a:p>
        </p:txBody>
      </p:sp>
      <p:sp>
        <p:nvSpPr>
          <p:cNvPr id="38" name="TextBox 3">
            <a:extLst>
              <a:ext uri="{FF2B5EF4-FFF2-40B4-BE49-F238E27FC236}">
                <a16:creationId xmlns:a16="http://schemas.microsoft.com/office/drawing/2014/main" id="{989FD7EF-19A2-F13E-FAED-8F389A880ABC}"/>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9" name="TextBox 4">
            <a:extLst>
              <a:ext uri="{FF2B5EF4-FFF2-40B4-BE49-F238E27FC236}">
                <a16:creationId xmlns:a16="http://schemas.microsoft.com/office/drawing/2014/main" id="{F98F0E05-8751-B410-5F34-1531BEDB92E1}"/>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40" name="Picture 39">
            <a:extLst>
              <a:ext uri="{FF2B5EF4-FFF2-40B4-BE49-F238E27FC236}">
                <a16:creationId xmlns:a16="http://schemas.microsoft.com/office/drawing/2014/main" id="{F689FA97-03D5-21F8-A102-6D1964E4DBF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grpSp>
        <p:nvGrpSpPr>
          <p:cNvPr id="144" name="Group 17">
            <a:extLst>
              <a:ext uri="{FF2B5EF4-FFF2-40B4-BE49-F238E27FC236}">
                <a16:creationId xmlns:a16="http://schemas.microsoft.com/office/drawing/2014/main" id="{EAE08647-FF46-63E1-37EA-F34F309BC87F}"/>
              </a:ext>
            </a:extLst>
          </p:cNvPr>
          <p:cNvGrpSpPr/>
          <p:nvPr/>
        </p:nvGrpSpPr>
        <p:grpSpPr>
          <a:xfrm>
            <a:off x="13335000" y="9253126"/>
            <a:ext cx="3918346" cy="670011"/>
            <a:chOff x="0" y="-66675"/>
            <a:chExt cx="4327267" cy="893347"/>
          </a:xfrm>
        </p:grpSpPr>
        <p:sp>
          <p:nvSpPr>
            <p:cNvPr id="145" name="TextBox 18">
              <a:extLst>
                <a:ext uri="{FF2B5EF4-FFF2-40B4-BE49-F238E27FC236}">
                  <a16:creationId xmlns:a16="http://schemas.microsoft.com/office/drawing/2014/main" id="{CD2893DE-8D58-6FF2-F106-5C136B2B0B30}"/>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46" name="TextBox 19">
              <a:extLst>
                <a:ext uri="{FF2B5EF4-FFF2-40B4-BE49-F238E27FC236}">
                  <a16:creationId xmlns:a16="http://schemas.microsoft.com/office/drawing/2014/main" id="{0EA11276-D679-CBEB-E635-558550214738}"/>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12</a:t>
              </a:r>
            </a:p>
          </p:txBody>
        </p:sp>
        <p:sp>
          <p:nvSpPr>
            <p:cNvPr id="147" name="AutoShape 20">
              <a:extLst>
                <a:ext uri="{FF2B5EF4-FFF2-40B4-BE49-F238E27FC236}">
                  <a16:creationId xmlns:a16="http://schemas.microsoft.com/office/drawing/2014/main" id="{607812ED-4A3E-D01F-928D-05E09CD9802D}"/>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pic>
        <p:nvPicPr>
          <p:cNvPr id="4" name="Picture 3">
            <a:extLst>
              <a:ext uri="{FF2B5EF4-FFF2-40B4-BE49-F238E27FC236}">
                <a16:creationId xmlns:a16="http://schemas.microsoft.com/office/drawing/2014/main" id="{F13D167A-0B16-324C-4D71-F3683C304052}"/>
              </a:ext>
            </a:extLst>
          </p:cNvPr>
          <p:cNvPicPr>
            <a:picLocks noChangeAspect="1"/>
          </p:cNvPicPr>
          <p:nvPr/>
        </p:nvPicPr>
        <p:blipFill>
          <a:blip r:embed="rId3"/>
          <a:stretch>
            <a:fillRect/>
          </a:stretch>
        </p:blipFill>
        <p:spPr>
          <a:xfrm>
            <a:off x="7962166" y="3322236"/>
            <a:ext cx="9335234" cy="5631264"/>
          </a:xfrm>
          <a:prstGeom prst="rect">
            <a:avLst/>
          </a:prstGeom>
        </p:spPr>
      </p:pic>
    </p:spTree>
    <p:extLst>
      <p:ext uri="{BB962C8B-B14F-4D97-AF65-F5344CB8AC3E}">
        <p14:creationId xmlns:p14="http://schemas.microsoft.com/office/powerpoint/2010/main" val="3135009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EF47E-CDBC-C140-78D2-1A0F7B6F437B}"/>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DEEE745D-79B8-D679-82A8-F1B527EDDDFD}"/>
              </a:ext>
            </a:extLst>
          </p:cNvPr>
          <p:cNvGrpSpPr/>
          <p:nvPr/>
        </p:nvGrpSpPr>
        <p:grpSpPr>
          <a:xfrm>
            <a:off x="-772763" y="9925307"/>
            <a:ext cx="19685815" cy="801384"/>
            <a:chOff x="0" y="0"/>
            <a:chExt cx="5184741" cy="211064"/>
          </a:xfrm>
        </p:grpSpPr>
        <p:sp>
          <p:nvSpPr>
            <p:cNvPr id="6" name="Freeform 6">
              <a:extLst>
                <a:ext uri="{FF2B5EF4-FFF2-40B4-BE49-F238E27FC236}">
                  <a16:creationId xmlns:a16="http://schemas.microsoft.com/office/drawing/2014/main" id="{762951B7-145B-15BA-6A0C-7AA45239CB88}"/>
                </a:ext>
              </a:extLst>
            </p:cNvPr>
            <p:cNvSpPr/>
            <p:nvPr/>
          </p:nvSpPr>
          <p:spPr>
            <a:xfrm>
              <a:off x="0" y="0"/>
              <a:ext cx="5184742" cy="211064"/>
            </a:xfrm>
            <a:custGeom>
              <a:avLst/>
              <a:gdLst/>
              <a:ahLst/>
              <a:cxnLst/>
              <a:rect l="l" t="t" r="r" b="b"/>
              <a:pathLst>
                <a:path w="5184742" h="211064">
                  <a:moveTo>
                    <a:pt x="0" y="0"/>
                  </a:moveTo>
                  <a:lnTo>
                    <a:pt x="5184742" y="0"/>
                  </a:lnTo>
                  <a:lnTo>
                    <a:pt x="5184742" y="211064"/>
                  </a:lnTo>
                  <a:lnTo>
                    <a:pt x="0" y="211064"/>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79F6140F-FDFB-A868-30D8-A54C3DC7D75F}"/>
                </a:ext>
              </a:extLst>
            </p:cNvPr>
            <p:cNvSpPr txBox="1"/>
            <p:nvPr/>
          </p:nvSpPr>
          <p:spPr>
            <a:xfrm>
              <a:off x="0" y="-57150"/>
              <a:ext cx="5184741" cy="268214"/>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8" name="Group 8">
            <a:extLst>
              <a:ext uri="{FF2B5EF4-FFF2-40B4-BE49-F238E27FC236}">
                <a16:creationId xmlns:a16="http://schemas.microsoft.com/office/drawing/2014/main" id="{A330269C-8B09-6DE0-5A24-FC982BC2AD52}"/>
              </a:ext>
            </a:extLst>
          </p:cNvPr>
          <p:cNvGrpSpPr/>
          <p:nvPr/>
        </p:nvGrpSpPr>
        <p:grpSpPr>
          <a:xfrm>
            <a:off x="-698908" y="-450729"/>
            <a:ext cx="19685815" cy="812421"/>
            <a:chOff x="0" y="0"/>
            <a:chExt cx="5184741" cy="213971"/>
          </a:xfrm>
        </p:grpSpPr>
        <p:sp>
          <p:nvSpPr>
            <p:cNvPr id="9" name="Freeform 9">
              <a:extLst>
                <a:ext uri="{FF2B5EF4-FFF2-40B4-BE49-F238E27FC236}">
                  <a16:creationId xmlns:a16="http://schemas.microsoft.com/office/drawing/2014/main" id="{8CB5C2FE-2120-AAEA-7779-8A05CF8AC440}"/>
                </a:ext>
              </a:extLst>
            </p:cNvPr>
            <p:cNvSpPr/>
            <p:nvPr/>
          </p:nvSpPr>
          <p:spPr>
            <a:xfrm>
              <a:off x="0" y="0"/>
              <a:ext cx="5184742" cy="213971"/>
            </a:xfrm>
            <a:custGeom>
              <a:avLst/>
              <a:gdLst/>
              <a:ahLst/>
              <a:cxnLst/>
              <a:rect l="l" t="t" r="r" b="b"/>
              <a:pathLst>
                <a:path w="5184742" h="213971">
                  <a:moveTo>
                    <a:pt x="0" y="0"/>
                  </a:moveTo>
                  <a:lnTo>
                    <a:pt x="5184742" y="0"/>
                  </a:lnTo>
                  <a:lnTo>
                    <a:pt x="5184742" y="213971"/>
                  </a:lnTo>
                  <a:lnTo>
                    <a:pt x="0" y="213971"/>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A41F36F4-F5DF-CF2B-EFF7-7A62397765B9}"/>
                </a:ext>
              </a:extLst>
            </p:cNvPr>
            <p:cNvSpPr txBox="1"/>
            <p:nvPr/>
          </p:nvSpPr>
          <p:spPr>
            <a:xfrm>
              <a:off x="0" y="-57150"/>
              <a:ext cx="5184741" cy="271121"/>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a:extLst>
              <a:ext uri="{FF2B5EF4-FFF2-40B4-BE49-F238E27FC236}">
                <a16:creationId xmlns:a16="http://schemas.microsoft.com/office/drawing/2014/main" id="{C78EF3A4-8945-4046-4EC1-09818BC94738}"/>
              </a:ext>
            </a:extLst>
          </p:cNvPr>
          <p:cNvSpPr txBox="1"/>
          <p:nvPr/>
        </p:nvSpPr>
        <p:spPr>
          <a:xfrm>
            <a:off x="6573272" y="4126709"/>
            <a:ext cx="885576" cy="674957"/>
          </a:xfrm>
          <a:prstGeom prst="rect">
            <a:avLst/>
          </a:prstGeom>
        </p:spPr>
        <p:txBody>
          <a:bodyPr lIns="0" tIns="0" rIns="0" bIns="0" rtlCol="0" anchor="t">
            <a:spAutoFit/>
          </a:bodyPr>
          <a:lstStyle/>
          <a:p>
            <a:pPr algn="ctr">
              <a:lnSpc>
                <a:spcPts val="5322"/>
              </a:lnSpc>
            </a:pPr>
            <a:r>
              <a:rPr lang="en-US" sz="3801" b="1">
                <a:solidFill>
                  <a:srgbClr val="FFFFFF"/>
                </a:solidFill>
                <a:latin typeface="Coco Gothic Heavy"/>
                <a:ea typeface="Coco Gothic Heavy"/>
                <a:cs typeface="Coco Gothic Heavy"/>
                <a:sym typeface="Coco Gothic Heavy"/>
              </a:rPr>
              <a:t>01.</a:t>
            </a:r>
          </a:p>
        </p:txBody>
      </p:sp>
      <p:sp>
        <p:nvSpPr>
          <p:cNvPr id="34" name="TextBox 34">
            <a:extLst>
              <a:ext uri="{FF2B5EF4-FFF2-40B4-BE49-F238E27FC236}">
                <a16:creationId xmlns:a16="http://schemas.microsoft.com/office/drawing/2014/main" id="{F3F0964B-0685-BD7B-93E6-C06FD2682BEB}"/>
              </a:ext>
            </a:extLst>
          </p:cNvPr>
          <p:cNvSpPr txBox="1"/>
          <p:nvPr/>
        </p:nvSpPr>
        <p:spPr>
          <a:xfrm>
            <a:off x="3733800" y="1638300"/>
            <a:ext cx="10820399" cy="874278"/>
          </a:xfrm>
          <a:prstGeom prst="rect">
            <a:avLst/>
          </a:prstGeom>
        </p:spPr>
        <p:txBody>
          <a:bodyPr wrap="square" lIns="0" tIns="0" rIns="0" bIns="0" rtlCol="0" anchor="t">
            <a:spAutoFit/>
          </a:bodyPr>
          <a:lstStyle/>
          <a:p>
            <a:pPr algn="ctr">
              <a:lnSpc>
                <a:spcPts val="6660"/>
              </a:lnSpc>
            </a:pPr>
            <a:r>
              <a:rPr lang="en-US" sz="6000" b="1" dirty="0">
                <a:solidFill>
                  <a:srgbClr val="343434"/>
                </a:solidFill>
                <a:latin typeface="Coco Gothic Heavy"/>
                <a:ea typeface="Coco Gothic Heavy"/>
                <a:cs typeface="Coco Gothic Heavy"/>
                <a:sym typeface="Coco Gothic Heavy"/>
              </a:rPr>
              <a:t>Classifier Service (Part 3)</a:t>
            </a:r>
          </a:p>
        </p:txBody>
      </p:sp>
      <p:sp>
        <p:nvSpPr>
          <p:cNvPr id="35" name="TextBox 35">
            <a:extLst>
              <a:ext uri="{FF2B5EF4-FFF2-40B4-BE49-F238E27FC236}">
                <a16:creationId xmlns:a16="http://schemas.microsoft.com/office/drawing/2014/main" id="{556213F8-C9C2-64B9-8475-66438785E9D0}"/>
              </a:ext>
            </a:extLst>
          </p:cNvPr>
          <p:cNvSpPr txBox="1"/>
          <p:nvPr/>
        </p:nvSpPr>
        <p:spPr>
          <a:xfrm>
            <a:off x="1034654" y="3811781"/>
            <a:ext cx="16218692" cy="341119"/>
          </a:xfrm>
          <a:prstGeom prst="rect">
            <a:avLst/>
          </a:prstGeom>
        </p:spPr>
        <p:txBody>
          <a:bodyPr wrap="square" lIns="0" tIns="0" rIns="0" bIns="0" rtlCol="0" anchor="t">
            <a:spAutoFit/>
          </a:bodyPr>
          <a:lstStyle/>
          <a:p>
            <a:pPr>
              <a:lnSpc>
                <a:spcPts val="2800"/>
              </a:lnSpc>
            </a:pPr>
            <a:r>
              <a:rPr lang="en-US" sz="2000" dirty="0">
                <a:solidFill>
                  <a:srgbClr val="343434"/>
                </a:solidFill>
                <a:latin typeface="Poppins"/>
                <a:ea typeface="Poppins"/>
                <a:cs typeface="Poppins"/>
                <a:sym typeface="Poppins"/>
              </a:rPr>
              <a:t>This illustration shows the testing of the classifier model using the previously resulted ulc_model_weight.pth as a model weight.</a:t>
            </a:r>
            <a:endParaRPr lang="en-US" sz="1600" dirty="0">
              <a:solidFill>
                <a:srgbClr val="343434"/>
              </a:solidFill>
              <a:latin typeface="Poppins"/>
              <a:ea typeface="Poppins"/>
              <a:cs typeface="Poppins"/>
              <a:sym typeface="Poppins"/>
            </a:endParaRPr>
          </a:p>
        </p:txBody>
      </p:sp>
      <p:sp>
        <p:nvSpPr>
          <p:cNvPr id="38" name="TextBox 3">
            <a:extLst>
              <a:ext uri="{FF2B5EF4-FFF2-40B4-BE49-F238E27FC236}">
                <a16:creationId xmlns:a16="http://schemas.microsoft.com/office/drawing/2014/main" id="{A3E424CB-E27F-0001-F4F4-0F44A55BC080}"/>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9" name="TextBox 4">
            <a:extLst>
              <a:ext uri="{FF2B5EF4-FFF2-40B4-BE49-F238E27FC236}">
                <a16:creationId xmlns:a16="http://schemas.microsoft.com/office/drawing/2014/main" id="{EAEAA34F-882B-C5E9-435B-DACEFA608965}"/>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40" name="Picture 39">
            <a:extLst>
              <a:ext uri="{FF2B5EF4-FFF2-40B4-BE49-F238E27FC236}">
                <a16:creationId xmlns:a16="http://schemas.microsoft.com/office/drawing/2014/main" id="{4EDAABA4-D608-F567-EDE5-90C8467929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grpSp>
        <p:nvGrpSpPr>
          <p:cNvPr id="144" name="Group 17">
            <a:extLst>
              <a:ext uri="{FF2B5EF4-FFF2-40B4-BE49-F238E27FC236}">
                <a16:creationId xmlns:a16="http://schemas.microsoft.com/office/drawing/2014/main" id="{B441449B-E019-BEFE-0D76-D2F031E8E69D}"/>
              </a:ext>
            </a:extLst>
          </p:cNvPr>
          <p:cNvGrpSpPr/>
          <p:nvPr/>
        </p:nvGrpSpPr>
        <p:grpSpPr>
          <a:xfrm>
            <a:off x="13335000" y="9253126"/>
            <a:ext cx="3918346" cy="670011"/>
            <a:chOff x="0" y="-66675"/>
            <a:chExt cx="4327267" cy="893347"/>
          </a:xfrm>
        </p:grpSpPr>
        <p:sp>
          <p:nvSpPr>
            <p:cNvPr id="145" name="TextBox 18">
              <a:extLst>
                <a:ext uri="{FF2B5EF4-FFF2-40B4-BE49-F238E27FC236}">
                  <a16:creationId xmlns:a16="http://schemas.microsoft.com/office/drawing/2014/main" id="{1B3C2A69-D753-E4F4-7A0A-7E2A7D1A3F92}"/>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46" name="TextBox 19">
              <a:extLst>
                <a:ext uri="{FF2B5EF4-FFF2-40B4-BE49-F238E27FC236}">
                  <a16:creationId xmlns:a16="http://schemas.microsoft.com/office/drawing/2014/main" id="{0B2DC8A3-00C5-B2DC-5197-5C3DBE205EF8}"/>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13</a:t>
              </a:r>
            </a:p>
          </p:txBody>
        </p:sp>
        <p:sp>
          <p:nvSpPr>
            <p:cNvPr id="147" name="AutoShape 20">
              <a:extLst>
                <a:ext uri="{FF2B5EF4-FFF2-40B4-BE49-F238E27FC236}">
                  <a16:creationId xmlns:a16="http://schemas.microsoft.com/office/drawing/2014/main" id="{6DFF2460-1AD2-E6AB-829D-21F91F43766E}"/>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pic>
        <p:nvPicPr>
          <p:cNvPr id="3" name="Picture 2">
            <a:extLst>
              <a:ext uri="{FF2B5EF4-FFF2-40B4-BE49-F238E27FC236}">
                <a16:creationId xmlns:a16="http://schemas.microsoft.com/office/drawing/2014/main" id="{825A8750-78AD-C065-3DCF-F444B862892A}"/>
              </a:ext>
            </a:extLst>
          </p:cNvPr>
          <p:cNvPicPr>
            <a:picLocks noChangeAspect="1"/>
          </p:cNvPicPr>
          <p:nvPr/>
        </p:nvPicPr>
        <p:blipFill>
          <a:blip r:embed="rId3"/>
          <a:stretch>
            <a:fillRect/>
          </a:stretch>
        </p:blipFill>
        <p:spPr>
          <a:xfrm>
            <a:off x="1019414" y="4762500"/>
            <a:ext cx="16296999" cy="3236979"/>
          </a:xfrm>
          <a:prstGeom prst="rect">
            <a:avLst/>
          </a:prstGeom>
        </p:spPr>
      </p:pic>
    </p:spTree>
    <p:extLst>
      <p:ext uri="{BB962C8B-B14F-4D97-AF65-F5344CB8AC3E}">
        <p14:creationId xmlns:p14="http://schemas.microsoft.com/office/powerpoint/2010/main" val="1553613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9193E-A1B2-9D66-8266-045AACB825C0}"/>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0F094D19-8926-A170-532E-17CDD4D600BC}"/>
              </a:ext>
            </a:extLst>
          </p:cNvPr>
          <p:cNvGrpSpPr/>
          <p:nvPr/>
        </p:nvGrpSpPr>
        <p:grpSpPr>
          <a:xfrm>
            <a:off x="-772763" y="9925307"/>
            <a:ext cx="19685815" cy="801384"/>
            <a:chOff x="0" y="0"/>
            <a:chExt cx="5184741" cy="211064"/>
          </a:xfrm>
        </p:grpSpPr>
        <p:sp>
          <p:nvSpPr>
            <p:cNvPr id="6" name="Freeform 6">
              <a:extLst>
                <a:ext uri="{FF2B5EF4-FFF2-40B4-BE49-F238E27FC236}">
                  <a16:creationId xmlns:a16="http://schemas.microsoft.com/office/drawing/2014/main" id="{83AAE08A-D942-B01F-A19E-D9EDA86E067B}"/>
                </a:ext>
              </a:extLst>
            </p:cNvPr>
            <p:cNvSpPr/>
            <p:nvPr/>
          </p:nvSpPr>
          <p:spPr>
            <a:xfrm>
              <a:off x="0" y="0"/>
              <a:ext cx="5184742" cy="211064"/>
            </a:xfrm>
            <a:custGeom>
              <a:avLst/>
              <a:gdLst/>
              <a:ahLst/>
              <a:cxnLst/>
              <a:rect l="l" t="t" r="r" b="b"/>
              <a:pathLst>
                <a:path w="5184742" h="211064">
                  <a:moveTo>
                    <a:pt x="0" y="0"/>
                  </a:moveTo>
                  <a:lnTo>
                    <a:pt x="5184742" y="0"/>
                  </a:lnTo>
                  <a:lnTo>
                    <a:pt x="5184742" y="211064"/>
                  </a:lnTo>
                  <a:lnTo>
                    <a:pt x="0" y="211064"/>
                  </a:lnTo>
                  <a:close/>
                </a:path>
              </a:pathLst>
            </a:custGeom>
            <a:solidFill>
              <a:schemeClr val="tx2">
                <a:lumMod val="40000"/>
                <a:lumOff val="60000"/>
              </a:schemeClr>
            </a:solidFill>
          </p:spPr>
          <p:txBody>
            <a:bodyPr/>
            <a:lstStyle/>
            <a:p>
              <a:endParaRPr lang="en-ID" dirty="0"/>
            </a:p>
          </p:txBody>
        </p:sp>
        <p:sp>
          <p:nvSpPr>
            <p:cNvPr id="7" name="TextBox 7">
              <a:extLst>
                <a:ext uri="{FF2B5EF4-FFF2-40B4-BE49-F238E27FC236}">
                  <a16:creationId xmlns:a16="http://schemas.microsoft.com/office/drawing/2014/main" id="{ADD5471F-2E6C-FADE-E49C-AF778FEA8D5F}"/>
                </a:ext>
              </a:extLst>
            </p:cNvPr>
            <p:cNvSpPr txBox="1"/>
            <p:nvPr/>
          </p:nvSpPr>
          <p:spPr>
            <a:xfrm>
              <a:off x="0" y="-57150"/>
              <a:ext cx="5184741" cy="268214"/>
            </a:xfrm>
            <a:prstGeom prst="rect">
              <a:avLst/>
            </a:prstGeom>
          </p:spPr>
          <p:txBody>
            <a:bodyPr lIns="50800" tIns="50800" rIns="50800" bIns="50800" rtlCol="0" anchor="ctr"/>
            <a:lstStyle/>
            <a:p>
              <a:pPr algn="ctr">
                <a:lnSpc>
                  <a:spcPts val="2659"/>
                </a:lnSpc>
                <a:spcBef>
                  <a:spcPct val="0"/>
                </a:spcBef>
              </a:pPr>
              <a:endParaRPr dirty="0"/>
            </a:p>
          </p:txBody>
        </p:sp>
      </p:grpSp>
      <p:grpSp>
        <p:nvGrpSpPr>
          <p:cNvPr id="8" name="Group 8">
            <a:extLst>
              <a:ext uri="{FF2B5EF4-FFF2-40B4-BE49-F238E27FC236}">
                <a16:creationId xmlns:a16="http://schemas.microsoft.com/office/drawing/2014/main" id="{660C2A03-61B0-2179-880D-9A32C2AC4E3B}"/>
              </a:ext>
            </a:extLst>
          </p:cNvPr>
          <p:cNvGrpSpPr/>
          <p:nvPr/>
        </p:nvGrpSpPr>
        <p:grpSpPr>
          <a:xfrm>
            <a:off x="-698908" y="-450729"/>
            <a:ext cx="19685815" cy="812421"/>
            <a:chOff x="0" y="0"/>
            <a:chExt cx="5184741" cy="213971"/>
          </a:xfrm>
        </p:grpSpPr>
        <p:sp>
          <p:nvSpPr>
            <p:cNvPr id="9" name="Freeform 9">
              <a:extLst>
                <a:ext uri="{FF2B5EF4-FFF2-40B4-BE49-F238E27FC236}">
                  <a16:creationId xmlns:a16="http://schemas.microsoft.com/office/drawing/2014/main" id="{D96019E6-BAC9-D033-3D0C-5D97062BA4C2}"/>
                </a:ext>
              </a:extLst>
            </p:cNvPr>
            <p:cNvSpPr/>
            <p:nvPr/>
          </p:nvSpPr>
          <p:spPr>
            <a:xfrm>
              <a:off x="0" y="0"/>
              <a:ext cx="5184742" cy="213971"/>
            </a:xfrm>
            <a:custGeom>
              <a:avLst/>
              <a:gdLst/>
              <a:ahLst/>
              <a:cxnLst/>
              <a:rect l="l" t="t" r="r" b="b"/>
              <a:pathLst>
                <a:path w="5184742" h="213971">
                  <a:moveTo>
                    <a:pt x="0" y="0"/>
                  </a:moveTo>
                  <a:lnTo>
                    <a:pt x="5184742" y="0"/>
                  </a:lnTo>
                  <a:lnTo>
                    <a:pt x="5184742" y="213971"/>
                  </a:lnTo>
                  <a:lnTo>
                    <a:pt x="0" y="213971"/>
                  </a:lnTo>
                  <a:close/>
                </a:path>
              </a:pathLst>
            </a:custGeom>
            <a:solidFill>
              <a:schemeClr val="tx2">
                <a:lumMod val="20000"/>
                <a:lumOff val="80000"/>
              </a:schemeClr>
            </a:solidFill>
          </p:spPr>
          <p:txBody>
            <a:bodyPr/>
            <a:lstStyle/>
            <a:p>
              <a:endParaRPr lang="en-ID" dirty="0"/>
            </a:p>
          </p:txBody>
        </p:sp>
        <p:sp>
          <p:nvSpPr>
            <p:cNvPr id="10" name="TextBox 10">
              <a:extLst>
                <a:ext uri="{FF2B5EF4-FFF2-40B4-BE49-F238E27FC236}">
                  <a16:creationId xmlns:a16="http://schemas.microsoft.com/office/drawing/2014/main" id="{1409B3FA-4FA1-E321-EF85-588FE3DA2A14}"/>
                </a:ext>
              </a:extLst>
            </p:cNvPr>
            <p:cNvSpPr txBox="1"/>
            <p:nvPr/>
          </p:nvSpPr>
          <p:spPr>
            <a:xfrm>
              <a:off x="0" y="-57150"/>
              <a:ext cx="5184741" cy="271121"/>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9">
            <a:extLst>
              <a:ext uri="{FF2B5EF4-FFF2-40B4-BE49-F238E27FC236}">
                <a16:creationId xmlns:a16="http://schemas.microsoft.com/office/drawing/2014/main" id="{A9A0CF61-0B79-68DC-7A08-39346AAAD55A}"/>
              </a:ext>
            </a:extLst>
          </p:cNvPr>
          <p:cNvSpPr txBox="1"/>
          <p:nvPr/>
        </p:nvSpPr>
        <p:spPr>
          <a:xfrm>
            <a:off x="6573272" y="4126709"/>
            <a:ext cx="885576" cy="674957"/>
          </a:xfrm>
          <a:prstGeom prst="rect">
            <a:avLst/>
          </a:prstGeom>
        </p:spPr>
        <p:txBody>
          <a:bodyPr lIns="0" tIns="0" rIns="0" bIns="0" rtlCol="0" anchor="t">
            <a:spAutoFit/>
          </a:bodyPr>
          <a:lstStyle/>
          <a:p>
            <a:pPr algn="ctr">
              <a:lnSpc>
                <a:spcPts val="5322"/>
              </a:lnSpc>
            </a:pPr>
            <a:r>
              <a:rPr lang="en-US" sz="3801" b="1" dirty="0">
                <a:solidFill>
                  <a:srgbClr val="FFFFFF"/>
                </a:solidFill>
                <a:latin typeface="Coco Gothic Heavy"/>
                <a:ea typeface="Coco Gothic Heavy"/>
                <a:cs typeface="Coco Gothic Heavy"/>
                <a:sym typeface="Coco Gothic Heavy"/>
              </a:rPr>
              <a:t>01.</a:t>
            </a:r>
          </a:p>
        </p:txBody>
      </p:sp>
      <p:sp>
        <p:nvSpPr>
          <p:cNvPr id="34" name="TextBox 34">
            <a:extLst>
              <a:ext uri="{FF2B5EF4-FFF2-40B4-BE49-F238E27FC236}">
                <a16:creationId xmlns:a16="http://schemas.microsoft.com/office/drawing/2014/main" id="{2B873500-65DA-04E8-18A9-3BB40DE0ACAD}"/>
              </a:ext>
            </a:extLst>
          </p:cNvPr>
          <p:cNvSpPr txBox="1"/>
          <p:nvPr/>
        </p:nvSpPr>
        <p:spPr>
          <a:xfrm>
            <a:off x="3733800" y="1638300"/>
            <a:ext cx="10820399" cy="874278"/>
          </a:xfrm>
          <a:prstGeom prst="rect">
            <a:avLst/>
          </a:prstGeom>
        </p:spPr>
        <p:txBody>
          <a:bodyPr wrap="square" lIns="0" tIns="0" rIns="0" bIns="0" rtlCol="0" anchor="t">
            <a:spAutoFit/>
          </a:bodyPr>
          <a:lstStyle/>
          <a:p>
            <a:pPr algn="ctr">
              <a:lnSpc>
                <a:spcPts val="6660"/>
              </a:lnSpc>
            </a:pPr>
            <a:r>
              <a:rPr lang="en-US" sz="6000" b="1" dirty="0">
                <a:solidFill>
                  <a:srgbClr val="343434"/>
                </a:solidFill>
                <a:latin typeface="Coco Gothic Heavy"/>
                <a:ea typeface="Coco Gothic Heavy"/>
                <a:cs typeface="Coco Gothic Heavy"/>
                <a:sym typeface="Coco Gothic Heavy"/>
              </a:rPr>
              <a:t>Similarity Search</a:t>
            </a:r>
          </a:p>
        </p:txBody>
      </p:sp>
      <p:sp>
        <p:nvSpPr>
          <p:cNvPr id="35" name="TextBox 35">
            <a:extLst>
              <a:ext uri="{FF2B5EF4-FFF2-40B4-BE49-F238E27FC236}">
                <a16:creationId xmlns:a16="http://schemas.microsoft.com/office/drawing/2014/main" id="{3C701000-33FB-2C5F-B1F1-E008F3454CC4}"/>
              </a:ext>
            </a:extLst>
          </p:cNvPr>
          <p:cNvSpPr txBox="1"/>
          <p:nvPr/>
        </p:nvSpPr>
        <p:spPr>
          <a:xfrm>
            <a:off x="1034654" y="2933700"/>
            <a:ext cx="5618763" cy="1059264"/>
          </a:xfrm>
          <a:prstGeom prst="rect">
            <a:avLst/>
          </a:prstGeom>
        </p:spPr>
        <p:txBody>
          <a:bodyPr wrap="square"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Yinni App Product Service uses Standard Embedding-based Similarity Search which maps the prompt to the  </a:t>
            </a:r>
          </a:p>
        </p:txBody>
      </p:sp>
      <p:sp>
        <p:nvSpPr>
          <p:cNvPr id="38" name="TextBox 3">
            <a:extLst>
              <a:ext uri="{FF2B5EF4-FFF2-40B4-BE49-F238E27FC236}">
                <a16:creationId xmlns:a16="http://schemas.microsoft.com/office/drawing/2014/main" id="{6B719169-0360-2A43-E799-12CF9F19D1EE}"/>
              </a:ext>
            </a:extLst>
          </p:cNvPr>
          <p:cNvSpPr txBox="1"/>
          <p:nvPr/>
        </p:nvSpPr>
        <p:spPr>
          <a:xfrm>
            <a:off x="1395892" y="691659"/>
            <a:ext cx="1565938" cy="260841"/>
          </a:xfrm>
          <a:prstGeom prst="rect">
            <a:avLst/>
          </a:prstGeom>
        </p:spPr>
        <p:txBody>
          <a:bodyPr lIns="0" tIns="0" rIns="0" bIns="0" rtlCol="0" anchor="t">
            <a:spAutoFit/>
          </a:bodyPr>
          <a:lstStyle/>
          <a:p>
            <a:pPr>
              <a:lnSpc>
                <a:spcPts val="1652"/>
              </a:lnSpc>
            </a:pPr>
            <a:r>
              <a:rPr lang="en-US" sz="2800" b="1" dirty="0">
                <a:solidFill>
                  <a:srgbClr val="343434"/>
                </a:solidFill>
                <a:latin typeface="Coco Gothic"/>
                <a:ea typeface="Coco Gothic"/>
                <a:cs typeface="Coco Gothic"/>
                <a:sym typeface="Coco Gothic"/>
              </a:rPr>
              <a:t>Yinni</a:t>
            </a:r>
          </a:p>
        </p:txBody>
      </p:sp>
      <p:sp>
        <p:nvSpPr>
          <p:cNvPr id="39" name="TextBox 4">
            <a:extLst>
              <a:ext uri="{FF2B5EF4-FFF2-40B4-BE49-F238E27FC236}">
                <a16:creationId xmlns:a16="http://schemas.microsoft.com/office/drawing/2014/main" id="{E5C747FE-55CC-C9C9-9EAD-6CF8874DC858}"/>
              </a:ext>
            </a:extLst>
          </p:cNvPr>
          <p:cNvSpPr txBox="1"/>
          <p:nvPr/>
        </p:nvSpPr>
        <p:spPr>
          <a:xfrm>
            <a:off x="1394542" y="880543"/>
            <a:ext cx="3329858" cy="224357"/>
          </a:xfrm>
          <a:prstGeom prst="rect">
            <a:avLst/>
          </a:prstGeom>
        </p:spPr>
        <p:txBody>
          <a:bodyPr wrap="square" lIns="0" tIns="0" rIns="0" bIns="0" rtlCol="0" anchor="t">
            <a:spAutoFit/>
          </a:bodyPr>
          <a:lstStyle/>
          <a:p>
            <a:pPr>
              <a:lnSpc>
                <a:spcPts val="1654"/>
              </a:lnSpc>
            </a:pPr>
            <a:r>
              <a:rPr lang="en-US" sz="1654" b="1" spc="198" dirty="0">
                <a:solidFill>
                  <a:srgbClr val="343434"/>
                </a:solidFill>
                <a:latin typeface="Coco Gothic Bold"/>
                <a:ea typeface="Coco Gothic Bold"/>
                <a:cs typeface="Coco Gothic Bold"/>
                <a:sym typeface="Coco Gothic Bold"/>
              </a:rPr>
              <a:t>AI-Assisted Shopping</a:t>
            </a:r>
          </a:p>
        </p:txBody>
      </p:sp>
      <p:pic>
        <p:nvPicPr>
          <p:cNvPr id="40" name="Picture 39">
            <a:extLst>
              <a:ext uri="{FF2B5EF4-FFF2-40B4-BE49-F238E27FC236}">
                <a16:creationId xmlns:a16="http://schemas.microsoft.com/office/drawing/2014/main" id="{9DB67E02-57C6-D51A-2270-E597726294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350" y="397507"/>
            <a:ext cx="859793" cy="859793"/>
          </a:xfrm>
          <a:prstGeom prst="rect">
            <a:avLst/>
          </a:prstGeom>
        </p:spPr>
      </p:pic>
      <p:grpSp>
        <p:nvGrpSpPr>
          <p:cNvPr id="144" name="Group 17">
            <a:extLst>
              <a:ext uri="{FF2B5EF4-FFF2-40B4-BE49-F238E27FC236}">
                <a16:creationId xmlns:a16="http://schemas.microsoft.com/office/drawing/2014/main" id="{B98F582C-D7A9-1E64-2CED-E01A0DB0760F}"/>
              </a:ext>
            </a:extLst>
          </p:cNvPr>
          <p:cNvGrpSpPr/>
          <p:nvPr/>
        </p:nvGrpSpPr>
        <p:grpSpPr>
          <a:xfrm>
            <a:off x="13335000" y="9253126"/>
            <a:ext cx="3918346" cy="670011"/>
            <a:chOff x="0" y="-66675"/>
            <a:chExt cx="4327267" cy="893347"/>
          </a:xfrm>
        </p:grpSpPr>
        <p:sp>
          <p:nvSpPr>
            <p:cNvPr id="145" name="TextBox 18">
              <a:extLst>
                <a:ext uri="{FF2B5EF4-FFF2-40B4-BE49-F238E27FC236}">
                  <a16:creationId xmlns:a16="http://schemas.microsoft.com/office/drawing/2014/main" id="{844D38F6-BD51-BF99-C635-D94432A7A3B2}"/>
                </a:ext>
              </a:extLst>
            </p:cNvPr>
            <p:cNvSpPr txBox="1"/>
            <p:nvPr/>
          </p:nvSpPr>
          <p:spPr>
            <a:xfrm>
              <a:off x="0" y="20383"/>
              <a:ext cx="3493131" cy="806289"/>
            </a:xfrm>
            <a:prstGeom prst="rect">
              <a:avLst/>
            </a:prstGeom>
          </p:spPr>
          <p:txBody>
            <a:bodyPr lIns="0" tIns="0" rIns="0" bIns="0" rtlCol="0" anchor="t">
              <a:spAutoFit/>
            </a:bodyPr>
            <a:lstStyle/>
            <a:p>
              <a:pPr algn="l">
                <a:lnSpc>
                  <a:spcPts val="2416"/>
                </a:lnSpc>
              </a:pPr>
              <a:r>
                <a:rPr lang="en-US" sz="1726" b="1" dirty="0">
                  <a:solidFill>
                    <a:srgbClr val="343434"/>
                  </a:solidFill>
                  <a:latin typeface="Coco Gothic Heavy"/>
                  <a:ea typeface="Coco Gothic Heavy"/>
                  <a:cs typeface="Coco Gothic Heavy"/>
                  <a:sym typeface="Coco Gothic Heavy"/>
                </a:rPr>
                <a:t>APPLICATION PROPOSAL</a:t>
              </a:r>
            </a:p>
          </p:txBody>
        </p:sp>
        <p:sp>
          <p:nvSpPr>
            <p:cNvPr id="146" name="TextBox 19">
              <a:extLst>
                <a:ext uri="{FF2B5EF4-FFF2-40B4-BE49-F238E27FC236}">
                  <a16:creationId xmlns:a16="http://schemas.microsoft.com/office/drawing/2014/main" id="{E8D32376-EBC6-1740-1225-62700BEE5A5A}"/>
                </a:ext>
              </a:extLst>
            </p:cNvPr>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dirty="0">
                  <a:solidFill>
                    <a:srgbClr val="343434"/>
                  </a:solidFill>
                  <a:latin typeface="Coco Gothic Heavy"/>
                  <a:ea typeface="Coco Gothic Heavy"/>
                  <a:cs typeface="Coco Gothic Heavy"/>
                  <a:sym typeface="Coco Gothic Heavy"/>
                </a:rPr>
                <a:t>14</a:t>
              </a:r>
            </a:p>
          </p:txBody>
        </p:sp>
        <p:sp>
          <p:nvSpPr>
            <p:cNvPr id="147" name="AutoShape 20">
              <a:extLst>
                <a:ext uri="{FF2B5EF4-FFF2-40B4-BE49-F238E27FC236}">
                  <a16:creationId xmlns:a16="http://schemas.microsoft.com/office/drawing/2014/main" id="{172B5A3F-323A-424B-9336-A010B8EFCF64}"/>
                </a:ext>
              </a:extLst>
            </p:cNvPr>
            <p:cNvSpPr/>
            <p:nvPr/>
          </p:nvSpPr>
          <p:spPr>
            <a:xfrm>
              <a:off x="3493131" y="20147"/>
              <a:ext cx="0" cy="405967"/>
            </a:xfrm>
            <a:prstGeom prst="line">
              <a:avLst/>
            </a:prstGeom>
            <a:ln w="50800" cap="flat">
              <a:solidFill>
                <a:schemeClr val="tx2">
                  <a:lumMod val="40000"/>
                  <a:lumOff val="60000"/>
                </a:schemeClr>
              </a:solidFill>
              <a:prstDash val="solid"/>
              <a:headEnd type="none" w="sm" len="sm"/>
              <a:tailEnd type="none" w="sm" len="sm"/>
            </a:ln>
          </p:spPr>
          <p:txBody>
            <a:bodyPr/>
            <a:lstStyle/>
            <a:p>
              <a:endParaRPr lang="en-ID"/>
            </a:p>
          </p:txBody>
        </p:sp>
      </p:grpSp>
      <p:pic>
        <p:nvPicPr>
          <p:cNvPr id="4" name="Picture 3">
            <a:extLst>
              <a:ext uri="{FF2B5EF4-FFF2-40B4-BE49-F238E27FC236}">
                <a16:creationId xmlns:a16="http://schemas.microsoft.com/office/drawing/2014/main" id="{9486ED01-97B6-8518-507D-FC10524C28CE}"/>
              </a:ext>
            </a:extLst>
          </p:cNvPr>
          <p:cNvPicPr>
            <a:picLocks noChangeAspect="1"/>
          </p:cNvPicPr>
          <p:nvPr/>
        </p:nvPicPr>
        <p:blipFill>
          <a:blip r:embed="rId3"/>
          <a:stretch>
            <a:fillRect/>
          </a:stretch>
        </p:blipFill>
        <p:spPr>
          <a:xfrm>
            <a:off x="8229005" y="2933700"/>
            <a:ext cx="8663809" cy="6129145"/>
          </a:xfrm>
          <a:prstGeom prst="rect">
            <a:avLst/>
          </a:prstGeom>
        </p:spPr>
      </p:pic>
    </p:spTree>
    <p:extLst>
      <p:ext uri="{BB962C8B-B14F-4D97-AF65-F5344CB8AC3E}">
        <p14:creationId xmlns:p14="http://schemas.microsoft.com/office/powerpoint/2010/main" val="988540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sp>
        <p:nvSpPr>
          <p:cNvPr id="3" name="TextBox 3"/>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343434"/>
                </a:solidFill>
                <a:latin typeface="Coco Gothic"/>
                <a:ea typeface="Coco Gothic"/>
                <a:cs typeface="Coco Gothic"/>
                <a:sym typeface="Coco Gothic"/>
              </a:rPr>
              <a:t>UNIVERSITAS </a:t>
            </a:r>
          </a:p>
        </p:txBody>
      </p:sp>
      <p:sp>
        <p:nvSpPr>
          <p:cNvPr id="4" name="TextBox 4"/>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343434"/>
                </a:solidFill>
                <a:latin typeface="Coco Gothic Bold"/>
                <a:ea typeface="Coco Gothic Bold"/>
                <a:cs typeface="Coco Gothic Bold"/>
                <a:sym typeface="Coco Gothic Bold"/>
              </a:rPr>
              <a:t>KEITHSTON</a:t>
            </a:r>
          </a:p>
        </p:txBody>
      </p:sp>
      <p:grpSp>
        <p:nvGrpSpPr>
          <p:cNvPr id="5" name="Group 5"/>
          <p:cNvGrpSpPr/>
          <p:nvPr/>
        </p:nvGrpSpPr>
        <p:grpSpPr>
          <a:xfrm>
            <a:off x="-772763" y="9925307"/>
            <a:ext cx="19685815" cy="793780"/>
            <a:chOff x="0" y="0"/>
            <a:chExt cx="5184741" cy="209061"/>
          </a:xfrm>
        </p:grpSpPr>
        <p:sp>
          <p:nvSpPr>
            <p:cNvPr id="6" name="Freeform 6"/>
            <p:cNvSpPr/>
            <p:nvPr/>
          </p:nvSpPr>
          <p:spPr>
            <a:xfrm>
              <a:off x="0" y="0"/>
              <a:ext cx="5184742" cy="209061"/>
            </a:xfrm>
            <a:custGeom>
              <a:avLst/>
              <a:gdLst/>
              <a:ahLst/>
              <a:cxnLst/>
              <a:rect l="l" t="t" r="r" b="b"/>
              <a:pathLst>
                <a:path w="5184742" h="209061">
                  <a:moveTo>
                    <a:pt x="0" y="0"/>
                  </a:moveTo>
                  <a:lnTo>
                    <a:pt x="5184742" y="0"/>
                  </a:lnTo>
                  <a:lnTo>
                    <a:pt x="5184742" y="209061"/>
                  </a:lnTo>
                  <a:lnTo>
                    <a:pt x="0" y="209061"/>
                  </a:lnTo>
                  <a:close/>
                </a:path>
              </a:pathLst>
            </a:custGeom>
            <a:solidFill>
              <a:srgbClr val="9E8E7E"/>
            </a:solidFill>
          </p:spPr>
          <p:txBody>
            <a:bodyPr/>
            <a:lstStyle/>
            <a:p>
              <a:endParaRPr lang="en-ID"/>
            </a:p>
          </p:txBody>
        </p:sp>
        <p:sp>
          <p:nvSpPr>
            <p:cNvPr id="7" name="TextBox 7"/>
            <p:cNvSpPr txBox="1"/>
            <p:nvPr/>
          </p:nvSpPr>
          <p:spPr>
            <a:xfrm>
              <a:off x="0" y="-57150"/>
              <a:ext cx="5184741" cy="26621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98908" y="-653626"/>
            <a:ext cx="19685815" cy="1015318"/>
            <a:chOff x="0" y="0"/>
            <a:chExt cx="5184741" cy="267409"/>
          </a:xfrm>
        </p:grpSpPr>
        <p:sp>
          <p:nvSpPr>
            <p:cNvPr id="9" name="Freeform 9"/>
            <p:cNvSpPr/>
            <p:nvPr/>
          </p:nvSpPr>
          <p:spPr>
            <a:xfrm>
              <a:off x="0" y="0"/>
              <a:ext cx="5184742" cy="267409"/>
            </a:xfrm>
            <a:custGeom>
              <a:avLst/>
              <a:gdLst/>
              <a:ahLst/>
              <a:cxnLst/>
              <a:rect l="l" t="t" r="r" b="b"/>
              <a:pathLst>
                <a:path w="5184742" h="267409">
                  <a:moveTo>
                    <a:pt x="0" y="0"/>
                  </a:moveTo>
                  <a:lnTo>
                    <a:pt x="5184742" y="0"/>
                  </a:lnTo>
                  <a:lnTo>
                    <a:pt x="5184742" y="267409"/>
                  </a:lnTo>
                  <a:lnTo>
                    <a:pt x="0" y="267409"/>
                  </a:lnTo>
                  <a:close/>
                </a:path>
              </a:pathLst>
            </a:custGeom>
            <a:solidFill>
              <a:srgbClr val="DCD0C0"/>
            </a:solidFill>
          </p:spPr>
          <p:txBody>
            <a:bodyPr/>
            <a:lstStyle/>
            <a:p>
              <a:endParaRPr lang="en-ID"/>
            </a:p>
          </p:txBody>
        </p:sp>
        <p:sp>
          <p:nvSpPr>
            <p:cNvPr id="10" name="TextBox 10"/>
            <p:cNvSpPr txBox="1"/>
            <p:nvPr/>
          </p:nvSpPr>
          <p:spPr>
            <a:xfrm>
              <a:off x="0" y="-57150"/>
              <a:ext cx="5184741" cy="324559"/>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4007896" y="9303132"/>
            <a:ext cx="3245450" cy="378460"/>
            <a:chOff x="0" y="0"/>
            <a:chExt cx="4327267" cy="504613"/>
          </a:xfrm>
        </p:grpSpPr>
        <p:sp>
          <p:nvSpPr>
            <p:cNvPr id="12" name="TextBox 12"/>
            <p:cNvSpPr txBox="1"/>
            <p:nvPr/>
          </p:nvSpPr>
          <p:spPr>
            <a:xfrm>
              <a:off x="0" y="20382"/>
              <a:ext cx="3493131" cy="406699"/>
            </a:xfrm>
            <a:prstGeom prst="rect">
              <a:avLst/>
            </a:prstGeom>
          </p:spPr>
          <p:txBody>
            <a:bodyPr lIns="0" tIns="0" rIns="0" bIns="0" rtlCol="0" anchor="t">
              <a:spAutoFit/>
            </a:bodyPr>
            <a:lstStyle/>
            <a:p>
              <a:pPr algn="l">
                <a:lnSpc>
                  <a:spcPts val="2416"/>
                </a:lnSpc>
              </a:pPr>
              <a:r>
                <a:rPr lang="en-US" sz="1726" b="1">
                  <a:solidFill>
                    <a:srgbClr val="343434"/>
                  </a:solidFill>
                  <a:latin typeface="Coco Gothic Heavy"/>
                  <a:ea typeface="Coco Gothic Heavy"/>
                  <a:cs typeface="Coco Gothic Heavy"/>
                  <a:sym typeface="Coco Gothic Heavy"/>
                </a:rPr>
                <a:t>SEMINAR PROPOSAL</a:t>
              </a:r>
            </a:p>
          </p:txBody>
        </p:sp>
        <p:sp>
          <p:nvSpPr>
            <p:cNvPr id="13" name="TextBox 13"/>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a:solidFill>
                    <a:srgbClr val="343434"/>
                  </a:solidFill>
                  <a:latin typeface="Coco Gothic Heavy"/>
                  <a:ea typeface="Coco Gothic Heavy"/>
                  <a:cs typeface="Coco Gothic Heavy"/>
                  <a:sym typeface="Coco Gothic Heavy"/>
                </a:rPr>
                <a:t>08</a:t>
              </a:r>
            </a:p>
          </p:txBody>
        </p:sp>
        <p:sp>
          <p:nvSpPr>
            <p:cNvPr id="14" name="AutoShape 14"/>
            <p:cNvSpPr/>
            <p:nvPr/>
          </p:nvSpPr>
          <p:spPr>
            <a:xfrm>
              <a:off x="3493131" y="20147"/>
              <a:ext cx="0" cy="405967"/>
            </a:xfrm>
            <a:prstGeom prst="line">
              <a:avLst/>
            </a:prstGeom>
            <a:ln w="50800" cap="flat">
              <a:solidFill>
                <a:srgbClr val="DCD0C0"/>
              </a:solidFill>
              <a:prstDash val="solid"/>
              <a:headEnd type="none" w="sm" len="sm"/>
              <a:tailEnd type="none" w="sm" len="sm"/>
            </a:ln>
          </p:spPr>
          <p:txBody>
            <a:bodyPr/>
            <a:lstStyle/>
            <a:p>
              <a:endParaRPr lang="en-ID"/>
            </a:p>
          </p:txBody>
        </p:sp>
      </p:grpSp>
      <p:sp>
        <p:nvSpPr>
          <p:cNvPr id="16" name="Freeform 16"/>
          <p:cNvSpPr/>
          <p:nvPr/>
        </p:nvSpPr>
        <p:spPr>
          <a:xfrm rot="-10800000">
            <a:off x="15877735" y="6756411"/>
            <a:ext cx="2763130" cy="2501889"/>
          </a:xfrm>
          <a:custGeom>
            <a:avLst/>
            <a:gdLst/>
            <a:ahLst/>
            <a:cxnLst/>
            <a:rect l="l" t="t" r="r" b="b"/>
            <a:pathLst>
              <a:path w="2763130" h="2501889">
                <a:moveTo>
                  <a:pt x="0" y="0"/>
                </a:moveTo>
                <a:lnTo>
                  <a:pt x="2763130" y="0"/>
                </a:lnTo>
                <a:lnTo>
                  <a:pt x="2763130" y="2501889"/>
                </a:lnTo>
                <a:lnTo>
                  <a:pt x="0" y="2501889"/>
                </a:lnTo>
                <a:lnTo>
                  <a:pt x="0" y="0"/>
                </a:lnTo>
                <a:close/>
              </a:path>
            </a:pathLst>
          </a:custGeom>
          <a:blipFill>
            <a:blip r:embed="rId4">
              <a:alphaModFix amt="36000"/>
              <a:extLst>
                <a:ext uri="{96DAC541-7B7A-43D3-8B79-37D633B846F1}">
                  <asvg:svgBlip xmlns:asvg="http://schemas.microsoft.com/office/drawing/2016/SVG/main" r:embed="rId5"/>
                </a:ext>
              </a:extLst>
            </a:blip>
            <a:stretch>
              <a:fillRect/>
            </a:stretch>
          </a:blipFill>
        </p:spPr>
        <p:txBody>
          <a:bodyPr/>
          <a:lstStyle/>
          <a:p>
            <a:endParaRPr lang="en-ID"/>
          </a:p>
        </p:txBody>
      </p:sp>
      <p:sp>
        <p:nvSpPr>
          <p:cNvPr id="19" name="TextBox 19"/>
          <p:cNvSpPr txBox="1"/>
          <p:nvPr/>
        </p:nvSpPr>
        <p:spPr>
          <a:xfrm>
            <a:off x="13168197" y="4356238"/>
            <a:ext cx="3846870" cy="349250"/>
          </a:xfrm>
          <a:prstGeom prst="rect">
            <a:avLst/>
          </a:prstGeom>
        </p:spPr>
        <p:txBody>
          <a:bodyPr lIns="0" tIns="0" rIns="0" bIns="0" rtlCol="0" anchor="t">
            <a:spAutoFit/>
          </a:bodyPr>
          <a:lstStyle/>
          <a:p>
            <a:pPr algn="ctr">
              <a:lnSpc>
                <a:spcPts val="2499"/>
              </a:lnSpc>
            </a:pPr>
            <a:r>
              <a:rPr lang="en-US" sz="2499" b="1">
                <a:solidFill>
                  <a:srgbClr val="FFFFFF"/>
                </a:solidFill>
                <a:latin typeface="Coco Gothic Bold"/>
                <a:ea typeface="Coco Gothic Bold"/>
                <a:cs typeface="Coco Gothic Bold"/>
                <a:sym typeface="Coco Gothic Bold"/>
              </a:rPr>
              <a:t>METODE SATU</a:t>
            </a:r>
          </a:p>
        </p:txBody>
      </p:sp>
      <p:sp>
        <p:nvSpPr>
          <p:cNvPr id="20" name="TextBox 20"/>
          <p:cNvSpPr txBox="1"/>
          <p:nvPr/>
        </p:nvSpPr>
        <p:spPr>
          <a:xfrm>
            <a:off x="2531067" y="1724057"/>
            <a:ext cx="13078155" cy="897255"/>
          </a:xfrm>
          <a:prstGeom prst="rect">
            <a:avLst/>
          </a:prstGeom>
        </p:spPr>
        <p:txBody>
          <a:bodyPr lIns="0" tIns="0" rIns="0" bIns="0" rtlCol="0" anchor="t">
            <a:spAutoFit/>
          </a:bodyPr>
          <a:lstStyle/>
          <a:p>
            <a:pPr algn="ctr">
              <a:lnSpc>
                <a:spcPts val="6660"/>
              </a:lnSpc>
            </a:pPr>
            <a:r>
              <a:rPr lang="en-US" sz="6000" b="1">
                <a:solidFill>
                  <a:srgbClr val="343434"/>
                </a:solidFill>
                <a:latin typeface="Coco Gothic Heavy"/>
                <a:ea typeface="Coco Gothic Heavy"/>
                <a:cs typeface="Coco Gothic Heavy"/>
                <a:sym typeface="Coco Gothic Heavy"/>
              </a:rPr>
              <a:t>Proses Penelitian</a:t>
            </a:r>
          </a:p>
        </p:txBody>
      </p:sp>
      <p:sp>
        <p:nvSpPr>
          <p:cNvPr id="22" name="TextBox 22"/>
          <p:cNvSpPr txBox="1"/>
          <p:nvPr/>
        </p:nvSpPr>
        <p:spPr>
          <a:xfrm>
            <a:off x="1195567" y="2821437"/>
            <a:ext cx="3928129" cy="2482850"/>
          </a:xfrm>
          <a:prstGeom prst="rect">
            <a:avLst/>
          </a:prstGeom>
        </p:spPr>
        <p:txBody>
          <a:bodyPr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Lorem ipsum dolor sit </a:t>
            </a:r>
            <a:r>
              <a:rPr lang="en-US" sz="2000" dirty="0" err="1">
                <a:solidFill>
                  <a:srgbClr val="343434"/>
                </a:solidFill>
                <a:latin typeface="Poppins"/>
                <a:ea typeface="Poppins"/>
                <a:cs typeface="Poppins"/>
                <a:sym typeface="Poppins"/>
              </a:rPr>
              <a:t>amet</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consectetur</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adipiscing</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elit</a:t>
            </a:r>
            <a:r>
              <a:rPr lang="en-US" sz="2000" dirty="0">
                <a:solidFill>
                  <a:srgbClr val="343434"/>
                </a:solidFill>
                <a:latin typeface="Poppins"/>
                <a:ea typeface="Poppins"/>
                <a:cs typeface="Poppins"/>
                <a:sym typeface="Poppins"/>
              </a:rPr>
              <a:t>. Ut </a:t>
            </a:r>
            <a:r>
              <a:rPr lang="en-US" sz="2000" dirty="0" err="1">
                <a:solidFill>
                  <a:srgbClr val="343434"/>
                </a:solidFill>
                <a:latin typeface="Poppins"/>
                <a:ea typeface="Poppins"/>
                <a:cs typeface="Poppins"/>
                <a:sym typeface="Poppins"/>
              </a:rPr>
              <a:t>nibh</a:t>
            </a:r>
            <a:r>
              <a:rPr lang="en-US" sz="2000" dirty="0">
                <a:solidFill>
                  <a:srgbClr val="343434"/>
                </a:solidFill>
                <a:latin typeface="Poppins"/>
                <a:ea typeface="Poppins"/>
                <a:cs typeface="Poppins"/>
                <a:sym typeface="Poppins"/>
              </a:rPr>
              <a:t> diam, </a:t>
            </a:r>
            <a:r>
              <a:rPr lang="en-US" sz="2000" dirty="0" err="1">
                <a:solidFill>
                  <a:srgbClr val="343434"/>
                </a:solidFill>
                <a:latin typeface="Poppins"/>
                <a:ea typeface="Poppins"/>
                <a:cs typeface="Poppins"/>
                <a:sym typeface="Poppins"/>
              </a:rPr>
              <a:t>sollicitudin</a:t>
            </a:r>
            <a:r>
              <a:rPr lang="en-US" sz="2000" dirty="0">
                <a:solidFill>
                  <a:srgbClr val="343434"/>
                </a:solidFill>
                <a:latin typeface="Poppins"/>
                <a:ea typeface="Poppins"/>
                <a:cs typeface="Poppins"/>
                <a:sym typeface="Poppins"/>
              </a:rPr>
              <a:t> at </a:t>
            </a:r>
            <a:r>
              <a:rPr lang="en-US" sz="2000" dirty="0" err="1">
                <a:solidFill>
                  <a:srgbClr val="343434"/>
                </a:solidFill>
                <a:latin typeface="Poppins"/>
                <a:ea typeface="Poppins"/>
                <a:cs typeface="Poppins"/>
                <a:sym typeface="Poppins"/>
              </a:rPr>
              <a:t>velit</a:t>
            </a:r>
            <a:r>
              <a:rPr lang="en-US" sz="2000" dirty="0">
                <a:solidFill>
                  <a:srgbClr val="343434"/>
                </a:solidFill>
                <a:latin typeface="Poppins"/>
                <a:ea typeface="Poppins"/>
                <a:cs typeface="Poppins"/>
                <a:sym typeface="Poppins"/>
              </a:rPr>
              <a:t> id, </a:t>
            </a:r>
            <a:r>
              <a:rPr lang="en-US" sz="2000" dirty="0" err="1">
                <a:solidFill>
                  <a:srgbClr val="343434"/>
                </a:solidFill>
                <a:latin typeface="Poppins"/>
                <a:ea typeface="Poppins"/>
                <a:cs typeface="Poppins"/>
                <a:sym typeface="Poppins"/>
              </a:rPr>
              <a:t>dapibus</a:t>
            </a:r>
            <a:r>
              <a:rPr lang="en-US" sz="2000" dirty="0">
                <a:solidFill>
                  <a:srgbClr val="343434"/>
                </a:solidFill>
                <a:latin typeface="Poppins"/>
                <a:ea typeface="Poppins"/>
                <a:cs typeface="Poppins"/>
                <a:sym typeface="Poppins"/>
              </a:rPr>
              <a:t> dictum </a:t>
            </a:r>
            <a:r>
              <a:rPr lang="en-US" sz="2000" dirty="0" err="1">
                <a:solidFill>
                  <a:srgbClr val="343434"/>
                </a:solidFill>
                <a:latin typeface="Poppins"/>
                <a:ea typeface="Poppins"/>
                <a:cs typeface="Poppins"/>
                <a:sym typeface="Poppins"/>
              </a:rPr>
              <a:t>neque</a:t>
            </a:r>
            <a:r>
              <a:rPr lang="en-US" sz="2000" dirty="0">
                <a:solidFill>
                  <a:srgbClr val="343434"/>
                </a:solidFill>
                <a:latin typeface="Poppins"/>
                <a:ea typeface="Poppins"/>
                <a:cs typeface="Poppins"/>
                <a:sym typeface="Poppins"/>
              </a:rPr>
              <a:t>. In </a:t>
            </a:r>
            <a:r>
              <a:rPr lang="en-US" sz="2000" dirty="0" err="1">
                <a:solidFill>
                  <a:srgbClr val="343434"/>
                </a:solidFill>
                <a:latin typeface="Poppins"/>
                <a:ea typeface="Poppins"/>
                <a:cs typeface="Poppins"/>
                <a:sym typeface="Poppins"/>
              </a:rPr>
              <a:t>iaculis</a:t>
            </a:r>
            <a:r>
              <a:rPr lang="en-US" sz="2000" dirty="0">
                <a:solidFill>
                  <a:srgbClr val="343434"/>
                </a:solidFill>
                <a:latin typeface="Poppins"/>
                <a:ea typeface="Poppins"/>
                <a:cs typeface="Poppins"/>
                <a:sym typeface="Poppins"/>
              </a:rPr>
              <a:t> ipsum et </a:t>
            </a:r>
            <a:r>
              <a:rPr lang="en-US" sz="2000" dirty="0" err="1">
                <a:solidFill>
                  <a:srgbClr val="343434"/>
                </a:solidFill>
                <a:latin typeface="Poppins"/>
                <a:ea typeface="Poppins"/>
                <a:cs typeface="Poppins"/>
                <a:sym typeface="Poppins"/>
              </a:rPr>
              <a:t>tortor</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viverra</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imperdiet</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molestie</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neque</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accumsan</a:t>
            </a:r>
            <a:r>
              <a:rPr lang="en-US" sz="2000" dirty="0">
                <a:solidFill>
                  <a:srgbClr val="343434"/>
                </a:solidFill>
                <a:latin typeface="Poppins"/>
                <a:ea typeface="Poppins"/>
                <a:cs typeface="Poppins"/>
                <a:sym typeface="Poppins"/>
              </a:rPr>
              <a:t>.</a:t>
            </a:r>
          </a:p>
        </p:txBody>
      </p:sp>
      <p:sp>
        <p:nvSpPr>
          <p:cNvPr id="23" name="TextBox 23"/>
          <p:cNvSpPr txBox="1"/>
          <p:nvPr/>
        </p:nvSpPr>
        <p:spPr>
          <a:xfrm>
            <a:off x="13164304" y="3052900"/>
            <a:ext cx="3813483" cy="2482850"/>
          </a:xfrm>
          <a:prstGeom prst="rect">
            <a:avLst/>
          </a:prstGeom>
        </p:spPr>
        <p:txBody>
          <a:bodyPr lIns="0" tIns="0" rIns="0" bIns="0" rtlCol="0" anchor="t">
            <a:spAutoFit/>
          </a:bodyPr>
          <a:lstStyle/>
          <a:p>
            <a:pPr algn="just">
              <a:lnSpc>
                <a:spcPts val="2800"/>
              </a:lnSpc>
            </a:pPr>
            <a:r>
              <a:rPr lang="en-US" sz="2000" dirty="0">
                <a:solidFill>
                  <a:srgbClr val="343434"/>
                </a:solidFill>
                <a:latin typeface="Poppins"/>
                <a:ea typeface="Poppins"/>
                <a:cs typeface="Poppins"/>
                <a:sym typeface="Poppins"/>
              </a:rPr>
              <a:t>Lorem ipsum dolor sit </a:t>
            </a:r>
            <a:r>
              <a:rPr lang="en-US" sz="2000" dirty="0" err="1">
                <a:solidFill>
                  <a:srgbClr val="343434"/>
                </a:solidFill>
                <a:latin typeface="Poppins"/>
                <a:ea typeface="Poppins"/>
                <a:cs typeface="Poppins"/>
                <a:sym typeface="Poppins"/>
              </a:rPr>
              <a:t>amet</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consectetur</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adipiscing</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elit</a:t>
            </a:r>
            <a:r>
              <a:rPr lang="en-US" sz="2000" dirty="0">
                <a:solidFill>
                  <a:srgbClr val="343434"/>
                </a:solidFill>
                <a:latin typeface="Poppins"/>
                <a:ea typeface="Poppins"/>
                <a:cs typeface="Poppins"/>
                <a:sym typeface="Poppins"/>
              </a:rPr>
              <a:t>. Ut </a:t>
            </a:r>
            <a:r>
              <a:rPr lang="en-US" sz="2000" dirty="0" err="1">
                <a:solidFill>
                  <a:srgbClr val="343434"/>
                </a:solidFill>
                <a:latin typeface="Poppins"/>
                <a:ea typeface="Poppins"/>
                <a:cs typeface="Poppins"/>
                <a:sym typeface="Poppins"/>
              </a:rPr>
              <a:t>nibh</a:t>
            </a:r>
            <a:r>
              <a:rPr lang="en-US" sz="2000" dirty="0">
                <a:solidFill>
                  <a:srgbClr val="343434"/>
                </a:solidFill>
                <a:latin typeface="Poppins"/>
                <a:ea typeface="Poppins"/>
                <a:cs typeface="Poppins"/>
                <a:sym typeface="Poppins"/>
              </a:rPr>
              <a:t> diam, </a:t>
            </a:r>
            <a:r>
              <a:rPr lang="en-US" sz="2000" dirty="0" err="1">
                <a:solidFill>
                  <a:srgbClr val="343434"/>
                </a:solidFill>
                <a:latin typeface="Poppins"/>
                <a:ea typeface="Poppins"/>
                <a:cs typeface="Poppins"/>
                <a:sym typeface="Poppins"/>
              </a:rPr>
              <a:t>sollicitudin</a:t>
            </a:r>
            <a:r>
              <a:rPr lang="en-US" sz="2000" dirty="0">
                <a:solidFill>
                  <a:srgbClr val="343434"/>
                </a:solidFill>
                <a:latin typeface="Poppins"/>
                <a:ea typeface="Poppins"/>
                <a:cs typeface="Poppins"/>
                <a:sym typeface="Poppins"/>
              </a:rPr>
              <a:t> at </a:t>
            </a:r>
            <a:r>
              <a:rPr lang="en-US" sz="2000" dirty="0" err="1">
                <a:solidFill>
                  <a:srgbClr val="343434"/>
                </a:solidFill>
                <a:latin typeface="Poppins"/>
                <a:ea typeface="Poppins"/>
                <a:cs typeface="Poppins"/>
                <a:sym typeface="Poppins"/>
              </a:rPr>
              <a:t>velit</a:t>
            </a:r>
            <a:r>
              <a:rPr lang="en-US" sz="2000" dirty="0">
                <a:solidFill>
                  <a:srgbClr val="343434"/>
                </a:solidFill>
                <a:latin typeface="Poppins"/>
                <a:ea typeface="Poppins"/>
                <a:cs typeface="Poppins"/>
                <a:sym typeface="Poppins"/>
              </a:rPr>
              <a:t> id, </a:t>
            </a:r>
            <a:r>
              <a:rPr lang="en-US" sz="2000" dirty="0" err="1">
                <a:solidFill>
                  <a:srgbClr val="343434"/>
                </a:solidFill>
                <a:latin typeface="Poppins"/>
                <a:ea typeface="Poppins"/>
                <a:cs typeface="Poppins"/>
                <a:sym typeface="Poppins"/>
              </a:rPr>
              <a:t>dapibus</a:t>
            </a:r>
            <a:r>
              <a:rPr lang="en-US" sz="2000" dirty="0">
                <a:solidFill>
                  <a:srgbClr val="343434"/>
                </a:solidFill>
                <a:latin typeface="Poppins"/>
                <a:ea typeface="Poppins"/>
                <a:cs typeface="Poppins"/>
                <a:sym typeface="Poppins"/>
              </a:rPr>
              <a:t> dictum </a:t>
            </a:r>
            <a:r>
              <a:rPr lang="en-US" sz="2000" dirty="0" err="1">
                <a:solidFill>
                  <a:srgbClr val="343434"/>
                </a:solidFill>
                <a:latin typeface="Poppins"/>
                <a:ea typeface="Poppins"/>
                <a:cs typeface="Poppins"/>
                <a:sym typeface="Poppins"/>
              </a:rPr>
              <a:t>neque</a:t>
            </a:r>
            <a:r>
              <a:rPr lang="en-US" sz="2000" dirty="0">
                <a:solidFill>
                  <a:srgbClr val="343434"/>
                </a:solidFill>
                <a:latin typeface="Poppins"/>
                <a:ea typeface="Poppins"/>
                <a:cs typeface="Poppins"/>
                <a:sym typeface="Poppins"/>
              </a:rPr>
              <a:t>. In </a:t>
            </a:r>
            <a:r>
              <a:rPr lang="en-US" sz="2000" dirty="0" err="1">
                <a:solidFill>
                  <a:srgbClr val="343434"/>
                </a:solidFill>
                <a:latin typeface="Poppins"/>
                <a:ea typeface="Poppins"/>
                <a:cs typeface="Poppins"/>
                <a:sym typeface="Poppins"/>
              </a:rPr>
              <a:t>iaculis</a:t>
            </a:r>
            <a:r>
              <a:rPr lang="en-US" sz="2000" dirty="0">
                <a:solidFill>
                  <a:srgbClr val="343434"/>
                </a:solidFill>
                <a:latin typeface="Poppins"/>
                <a:ea typeface="Poppins"/>
                <a:cs typeface="Poppins"/>
                <a:sym typeface="Poppins"/>
              </a:rPr>
              <a:t> ipsum et </a:t>
            </a:r>
            <a:r>
              <a:rPr lang="en-US" sz="2000" dirty="0" err="1">
                <a:solidFill>
                  <a:srgbClr val="343434"/>
                </a:solidFill>
                <a:latin typeface="Poppins"/>
                <a:ea typeface="Poppins"/>
                <a:cs typeface="Poppins"/>
                <a:sym typeface="Poppins"/>
              </a:rPr>
              <a:t>tortor</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viverra</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imperdiet</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molestie</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neque</a:t>
            </a:r>
            <a:r>
              <a:rPr lang="en-US" sz="2000" dirty="0">
                <a:solidFill>
                  <a:srgbClr val="343434"/>
                </a:solidFill>
                <a:latin typeface="Poppins"/>
                <a:ea typeface="Poppins"/>
                <a:cs typeface="Poppins"/>
                <a:sym typeface="Poppins"/>
              </a:rPr>
              <a:t> </a:t>
            </a:r>
            <a:r>
              <a:rPr lang="en-US" sz="2000" dirty="0" err="1">
                <a:solidFill>
                  <a:srgbClr val="343434"/>
                </a:solidFill>
                <a:latin typeface="Poppins"/>
                <a:ea typeface="Poppins"/>
                <a:cs typeface="Poppins"/>
                <a:sym typeface="Poppins"/>
              </a:rPr>
              <a:t>accumsan</a:t>
            </a:r>
            <a:r>
              <a:rPr lang="en-US" sz="2000" dirty="0">
                <a:solidFill>
                  <a:srgbClr val="343434"/>
                </a:solidFill>
                <a:latin typeface="Poppins"/>
                <a:ea typeface="Poppins"/>
                <a:cs typeface="Poppins"/>
                <a:sym typeface="Poppins"/>
              </a:rPr>
              <a:t>.</a:t>
            </a:r>
          </a:p>
        </p:txBody>
      </p:sp>
      <p:sp>
        <p:nvSpPr>
          <p:cNvPr id="25" name="TextBox 25"/>
          <p:cNvSpPr txBox="1"/>
          <p:nvPr/>
        </p:nvSpPr>
        <p:spPr>
          <a:xfrm>
            <a:off x="1195567" y="5593177"/>
            <a:ext cx="3890029" cy="2482850"/>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
        <p:nvSpPr>
          <p:cNvPr id="26" name="TextBox 26"/>
          <p:cNvSpPr txBox="1"/>
          <p:nvPr/>
        </p:nvSpPr>
        <p:spPr>
          <a:xfrm>
            <a:off x="13164304" y="6040635"/>
            <a:ext cx="3813483" cy="2482850"/>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
        <p:nvSpPr>
          <p:cNvPr id="27" name="TextBox 27"/>
          <p:cNvSpPr txBox="1"/>
          <p:nvPr/>
        </p:nvSpPr>
        <p:spPr>
          <a:xfrm>
            <a:off x="7270016" y="6203723"/>
            <a:ext cx="2826973" cy="1010968"/>
          </a:xfrm>
          <a:prstGeom prst="rect">
            <a:avLst/>
          </a:prstGeom>
        </p:spPr>
        <p:txBody>
          <a:bodyPr lIns="0" tIns="0" rIns="0" bIns="0" rtlCol="0" anchor="t">
            <a:spAutoFit/>
          </a:bodyPr>
          <a:lstStyle/>
          <a:p>
            <a:pPr algn="ctr">
              <a:lnSpc>
                <a:spcPts val="3801"/>
              </a:lnSpc>
            </a:pPr>
            <a:r>
              <a:rPr lang="en-US" sz="3801" b="1">
                <a:solidFill>
                  <a:srgbClr val="FFFFFF"/>
                </a:solidFill>
                <a:latin typeface="Coco Gothic Bold"/>
                <a:ea typeface="Coco Gothic Bold"/>
                <a:cs typeface="Coco Gothic Bold"/>
                <a:sym typeface="Coco Gothic Bold"/>
              </a:rPr>
              <a:t>Proses Ketiga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sp>
        <p:nvSpPr>
          <p:cNvPr id="3" name="TextBox 3"/>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343434"/>
                </a:solidFill>
                <a:latin typeface="Coco Gothic"/>
                <a:ea typeface="Coco Gothic"/>
                <a:cs typeface="Coco Gothic"/>
                <a:sym typeface="Coco Gothic"/>
              </a:rPr>
              <a:t>UNIVERSITAS </a:t>
            </a:r>
          </a:p>
        </p:txBody>
      </p:sp>
      <p:sp>
        <p:nvSpPr>
          <p:cNvPr id="4" name="TextBox 4"/>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343434"/>
                </a:solidFill>
                <a:latin typeface="Coco Gothic Bold"/>
                <a:ea typeface="Coco Gothic Bold"/>
                <a:cs typeface="Coco Gothic Bold"/>
                <a:sym typeface="Coco Gothic Bold"/>
              </a:rPr>
              <a:t>KEITHSTON</a:t>
            </a:r>
          </a:p>
        </p:txBody>
      </p:sp>
      <p:grpSp>
        <p:nvGrpSpPr>
          <p:cNvPr id="5" name="Group 5"/>
          <p:cNvGrpSpPr/>
          <p:nvPr/>
        </p:nvGrpSpPr>
        <p:grpSpPr>
          <a:xfrm>
            <a:off x="-772763" y="9925307"/>
            <a:ext cx="19685815" cy="759926"/>
            <a:chOff x="0" y="0"/>
            <a:chExt cx="5184741" cy="200145"/>
          </a:xfrm>
        </p:grpSpPr>
        <p:sp>
          <p:nvSpPr>
            <p:cNvPr id="6" name="Freeform 6"/>
            <p:cNvSpPr/>
            <p:nvPr/>
          </p:nvSpPr>
          <p:spPr>
            <a:xfrm>
              <a:off x="0" y="0"/>
              <a:ext cx="5184742" cy="200145"/>
            </a:xfrm>
            <a:custGeom>
              <a:avLst/>
              <a:gdLst/>
              <a:ahLst/>
              <a:cxnLst/>
              <a:rect l="l" t="t" r="r" b="b"/>
              <a:pathLst>
                <a:path w="5184742" h="200145">
                  <a:moveTo>
                    <a:pt x="0" y="0"/>
                  </a:moveTo>
                  <a:lnTo>
                    <a:pt x="5184742" y="0"/>
                  </a:lnTo>
                  <a:lnTo>
                    <a:pt x="5184742" y="200145"/>
                  </a:lnTo>
                  <a:lnTo>
                    <a:pt x="0" y="200145"/>
                  </a:lnTo>
                  <a:close/>
                </a:path>
              </a:pathLst>
            </a:custGeom>
            <a:solidFill>
              <a:srgbClr val="9E8E7E"/>
            </a:solidFill>
          </p:spPr>
          <p:txBody>
            <a:bodyPr/>
            <a:lstStyle/>
            <a:p>
              <a:endParaRPr lang="en-ID"/>
            </a:p>
          </p:txBody>
        </p:sp>
        <p:sp>
          <p:nvSpPr>
            <p:cNvPr id="7" name="TextBox 7"/>
            <p:cNvSpPr txBox="1"/>
            <p:nvPr/>
          </p:nvSpPr>
          <p:spPr>
            <a:xfrm>
              <a:off x="0" y="-57150"/>
              <a:ext cx="5184741" cy="257295"/>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98908" y="-624065"/>
            <a:ext cx="19685815" cy="985757"/>
            <a:chOff x="0" y="0"/>
            <a:chExt cx="5184741" cy="259623"/>
          </a:xfrm>
        </p:grpSpPr>
        <p:sp>
          <p:nvSpPr>
            <p:cNvPr id="9" name="Freeform 9"/>
            <p:cNvSpPr/>
            <p:nvPr/>
          </p:nvSpPr>
          <p:spPr>
            <a:xfrm>
              <a:off x="0" y="0"/>
              <a:ext cx="5184742" cy="259623"/>
            </a:xfrm>
            <a:custGeom>
              <a:avLst/>
              <a:gdLst/>
              <a:ahLst/>
              <a:cxnLst/>
              <a:rect l="l" t="t" r="r" b="b"/>
              <a:pathLst>
                <a:path w="5184742" h="259623">
                  <a:moveTo>
                    <a:pt x="0" y="0"/>
                  </a:moveTo>
                  <a:lnTo>
                    <a:pt x="5184742" y="0"/>
                  </a:lnTo>
                  <a:lnTo>
                    <a:pt x="5184742" y="259623"/>
                  </a:lnTo>
                  <a:lnTo>
                    <a:pt x="0" y="259623"/>
                  </a:lnTo>
                  <a:close/>
                </a:path>
              </a:pathLst>
            </a:custGeom>
            <a:solidFill>
              <a:srgbClr val="DCD0C0"/>
            </a:solidFill>
          </p:spPr>
          <p:txBody>
            <a:bodyPr/>
            <a:lstStyle/>
            <a:p>
              <a:endParaRPr lang="en-ID"/>
            </a:p>
          </p:txBody>
        </p:sp>
        <p:sp>
          <p:nvSpPr>
            <p:cNvPr id="10" name="TextBox 10"/>
            <p:cNvSpPr txBox="1"/>
            <p:nvPr/>
          </p:nvSpPr>
          <p:spPr>
            <a:xfrm>
              <a:off x="0" y="-57150"/>
              <a:ext cx="5184741" cy="316773"/>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4007896" y="9303132"/>
            <a:ext cx="3245450" cy="378460"/>
            <a:chOff x="0" y="0"/>
            <a:chExt cx="4327267" cy="504613"/>
          </a:xfrm>
        </p:grpSpPr>
        <p:sp>
          <p:nvSpPr>
            <p:cNvPr id="12" name="TextBox 12"/>
            <p:cNvSpPr txBox="1"/>
            <p:nvPr/>
          </p:nvSpPr>
          <p:spPr>
            <a:xfrm>
              <a:off x="0" y="20382"/>
              <a:ext cx="3493131" cy="406699"/>
            </a:xfrm>
            <a:prstGeom prst="rect">
              <a:avLst/>
            </a:prstGeom>
          </p:spPr>
          <p:txBody>
            <a:bodyPr lIns="0" tIns="0" rIns="0" bIns="0" rtlCol="0" anchor="t">
              <a:spAutoFit/>
            </a:bodyPr>
            <a:lstStyle/>
            <a:p>
              <a:pPr algn="l">
                <a:lnSpc>
                  <a:spcPts val="2416"/>
                </a:lnSpc>
              </a:pPr>
              <a:r>
                <a:rPr lang="en-US" sz="1726" b="1">
                  <a:solidFill>
                    <a:srgbClr val="343434"/>
                  </a:solidFill>
                  <a:latin typeface="Coco Gothic Heavy"/>
                  <a:ea typeface="Coco Gothic Heavy"/>
                  <a:cs typeface="Coco Gothic Heavy"/>
                  <a:sym typeface="Coco Gothic Heavy"/>
                </a:rPr>
                <a:t>SEMINAR PROPOSAL</a:t>
              </a:r>
            </a:p>
          </p:txBody>
        </p:sp>
        <p:sp>
          <p:nvSpPr>
            <p:cNvPr id="13" name="TextBox 13"/>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a:solidFill>
                    <a:srgbClr val="343434"/>
                  </a:solidFill>
                  <a:latin typeface="Coco Gothic Heavy"/>
                  <a:ea typeface="Coco Gothic Heavy"/>
                  <a:cs typeface="Coco Gothic Heavy"/>
                  <a:sym typeface="Coco Gothic Heavy"/>
                </a:rPr>
                <a:t>09</a:t>
              </a:r>
            </a:p>
          </p:txBody>
        </p:sp>
        <p:sp>
          <p:nvSpPr>
            <p:cNvPr id="14" name="AutoShape 14"/>
            <p:cNvSpPr/>
            <p:nvPr/>
          </p:nvSpPr>
          <p:spPr>
            <a:xfrm>
              <a:off x="3493131" y="20147"/>
              <a:ext cx="0" cy="405967"/>
            </a:xfrm>
            <a:prstGeom prst="line">
              <a:avLst/>
            </a:prstGeom>
            <a:ln w="50800" cap="flat">
              <a:solidFill>
                <a:srgbClr val="DCD0C0"/>
              </a:solidFill>
              <a:prstDash val="solid"/>
              <a:headEnd type="none" w="sm" len="sm"/>
              <a:tailEnd type="none" w="sm" len="sm"/>
            </a:ln>
          </p:spPr>
          <p:txBody>
            <a:bodyPr/>
            <a:lstStyle/>
            <a:p>
              <a:endParaRPr lang="en-ID"/>
            </a:p>
          </p:txBody>
        </p:sp>
      </p:grpSp>
      <p:sp>
        <p:nvSpPr>
          <p:cNvPr id="15" name="Freeform 15"/>
          <p:cNvSpPr/>
          <p:nvPr/>
        </p:nvSpPr>
        <p:spPr>
          <a:xfrm>
            <a:off x="3458360" y="3478350"/>
            <a:ext cx="4167845" cy="4114800"/>
          </a:xfrm>
          <a:custGeom>
            <a:avLst/>
            <a:gdLst/>
            <a:ahLst/>
            <a:cxnLst/>
            <a:rect l="l" t="t" r="r" b="b"/>
            <a:pathLst>
              <a:path w="4167845" h="4114800">
                <a:moveTo>
                  <a:pt x="0" y="0"/>
                </a:moveTo>
                <a:lnTo>
                  <a:pt x="4167846" y="0"/>
                </a:lnTo>
                <a:lnTo>
                  <a:pt x="416784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D"/>
          </a:p>
        </p:txBody>
      </p:sp>
      <p:sp>
        <p:nvSpPr>
          <p:cNvPr id="16" name="Freeform 16"/>
          <p:cNvSpPr/>
          <p:nvPr/>
        </p:nvSpPr>
        <p:spPr>
          <a:xfrm rot="-5400000" flipH="1" flipV="1">
            <a:off x="-1617330" y="5621870"/>
            <a:ext cx="4354233" cy="3942560"/>
          </a:xfrm>
          <a:custGeom>
            <a:avLst/>
            <a:gdLst/>
            <a:ahLst/>
            <a:cxnLst/>
            <a:rect l="l" t="t" r="r" b="b"/>
            <a:pathLst>
              <a:path w="4354233" h="3942560">
                <a:moveTo>
                  <a:pt x="4354234" y="3942560"/>
                </a:moveTo>
                <a:lnTo>
                  <a:pt x="0" y="3942560"/>
                </a:lnTo>
                <a:lnTo>
                  <a:pt x="0" y="0"/>
                </a:lnTo>
                <a:lnTo>
                  <a:pt x="4354234" y="0"/>
                </a:lnTo>
                <a:lnTo>
                  <a:pt x="4354234" y="394256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D"/>
          </a:p>
        </p:txBody>
      </p:sp>
      <p:sp>
        <p:nvSpPr>
          <p:cNvPr id="17" name="Freeform 17"/>
          <p:cNvSpPr/>
          <p:nvPr/>
        </p:nvSpPr>
        <p:spPr>
          <a:xfrm rot="-5400000">
            <a:off x="14425952" y="1270434"/>
            <a:ext cx="4903398" cy="3387802"/>
          </a:xfrm>
          <a:custGeom>
            <a:avLst/>
            <a:gdLst/>
            <a:ahLst/>
            <a:cxnLst/>
            <a:rect l="l" t="t" r="r" b="b"/>
            <a:pathLst>
              <a:path w="4903398" h="3387802">
                <a:moveTo>
                  <a:pt x="0" y="0"/>
                </a:moveTo>
                <a:lnTo>
                  <a:pt x="4903398" y="0"/>
                </a:lnTo>
                <a:lnTo>
                  <a:pt x="4903398" y="3387802"/>
                </a:lnTo>
                <a:lnTo>
                  <a:pt x="0" y="33878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D"/>
          </a:p>
        </p:txBody>
      </p:sp>
      <p:sp>
        <p:nvSpPr>
          <p:cNvPr id="18" name="TextBox 18"/>
          <p:cNvSpPr txBox="1"/>
          <p:nvPr/>
        </p:nvSpPr>
        <p:spPr>
          <a:xfrm>
            <a:off x="2531067" y="1724057"/>
            <a:ext cx="13078155" cy="897255"/>
          </a:xfrm>
          <a:prstGeom prst="rect">
            <a:avLst/>
          </a:prstGeom>
        </p:spPr>
        <p:txBody>
          <a:bodyPr lIns="0" tIns="0" rIns="0" bIns="0" rtlCol="0" anchor="t">
            <a:spAutoFit/>
          </a:bodyPr>
          <a:lstStyle/>
          <a:p>
            <a:pPr algn="ctr">
              <a:lnSpc>
                <a:spcPts val="6660"/>
              </a:lnSpc>
            </a:pPr>
            <a:r>
              <a:rPr lang="en-US" sz="6000" b="1">
                <a:solidFill>
                  <a:srgbClr val="343434"/>
                </a:solidFill>
                <a:latin typeface="Coco Gothic Heavy"/>
                <a:ea typeface="Coco Gothic Heavy"/>
                <a:cs typeface="Coco Gothic Heavy"/>
                <a:sym typeface="Coco Gothic Heavy"/>
              </a:rPr>
              <a:t>Hasil Penelitian</a:t>
            </a:r>
          </a:p>
        </p:txBody>
      </p:sp>
      <p:sp>
        <p:nvSpPr>
          <p:cNvPr id="19" name="TextBox 19"/>
          <p:cNvSpPr txBox="1"/>
          <p:nvPr/>
        </p:nvSpPr>
        <p:spPr>
          <a:xfrm>
            <a:off x="9107072" y="3581538"/>
            <a:ext cx="6560476" cy="1425575"/>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
        <p:nvSpPr>
          <p:cNvPr id="20" name="TextBox 20"/>
          <p:cNvSpPr txBox="1"/>
          <p:nvPr/>
        </p:nvSpPr>
        <p:spPr>
          <a:xfrm>
            <a:off x="9107072" y="5627825"/>
            <a:ext cx="6486621" cy="1425575"/>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sp>
        <p:nvSpPr>
          <p:cNvPr id="3" name="TextBox 3"/>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343434"/>
                </a:solidFill>
                <a:latin typeface="Coco Gothic"/>
                <a:ea typeface="Coco Gothic"/>
                <a:cs typeface="Coco Gothic"/>
                <a:sym typeface="Coco Gothic"/>
              </a:rPr>
              <a:t>UNIVERSITAS </a:t>
            </a:r>
          </a:p>
        </p:txBody>
      </p:sp>
      <p:sp>
        <p:nvSpPr>
          <p:cNvPr id="4" name="TextBox 4"/>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343434"/>
                </a:solidFill>
                <a:latin typeface="Coco Gothic Bold"/>
                <a:ea typeface="Coco Gothic Bold"/>
                <a:cs typeface="Coco Gothic Bold"/>
                <a:sym typeface="Coco Gothic Bold"/>
              </a:rPr>
              <a:t>KEITHSTON</a:t>
            </a:r>
          </a:p>
        </p:txBody>
      </p:sp>
      <p:grpSp>
        <p:nvGrpSpPr>
          <p:cNvPr id="5" name="Group 5"/>
          <p:cNvGrpSpPr/>
          <p:nvPr/>
        </p:nvGrpSpPr>
        <p:grpSpPr>
          <a:xfrm>
            <a:off x="-772763" y="9925307"/>
            <a:ext cx="19685815" cy="764942"/>
            <a:chOff x="0" y="0"/>
            <a:chExt cx="5184741" cy="201466"/>
          </a:xfrm>
        </p:grpSpPr>
        <p:sp>
          <p:nvSpPr>
            <p:cNvPr id="6" name="Freeform 6"/>
            <p:cNvSpPr/>
            <p:nvPr/>
          </p:nvSpPr>
          <p:spPr>
            <a:xfrm>
              <a:off x="0" y="0"/>
              <a:ext cx="5184742" cy="201466"/>
            </a:xfrm>
            <a:custGeom>
              <a:avLst/>
              <a:gdLst/>
              <a:ahLst/>
              <a:cxnLst/>
              <a:rect l="l" t="t" r="r" b="b"/>
              <a:pathLst>
                <a:path w="5184742" h="201466">
                  <a:moveTo>
                    <a:pt x="0" y="0"/>
                  </a:moveTo>
                  <a:lnTo>
                    <a:pt x="5184742" y="0"/>
                  </a:lnTo>
                  <a:lnTo>
                    <a:pt x="5184742" y="201466"/>
                  </a:lnTo>
                  <a:lnTo>
                    <a:pt x="0" y="201466"/>
                  </a:lnTo>
                  <a:close/>
                </a:path>
              </a:pathLst>
            </a:custGeom>
            <a:solidFill>
              <a:srgbClr val="9E8E7E"/>
            </a:solidFill>
          </p:spPr>
          <p:txBody>
            <a:bodyPr/>
            <a:lstStyle/>
            <a:p>
              <a:endParaRPr lang="en-ID"/>
            </a:p>
          </p:txBody>
        </p:sp>
        <p:sp>
          <p:nvSpPr>
            <p:cNvPr id="7" name="TextBox 7"/>
            <p:cNvSpPr txBox="1"/>
            <p:nvPr/>
          </p:nvSpPr>
          <p:spPr>
            <a:xfrm>
              <a:off x="0" y="-57150"/>
              <a:ext cx="5184741" cy="25861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98908" y="-602373"/>
            <a:ext cx="19685815" cy="964066"/>
            <a:chOff x="0" y="0"/>
            <a:chExt cx="5184741" cy="253910"/>
          </a:xfrm>
        </p:grpSpPr>
        <p:sp>
          <p:nvSpPr>
            <p:cNvPr id="9" name="Freeform 9"/>
            <p:cNvSpPr/>
            <p:nvPr/>
          </p:nvSpPr>
          <p:spPr>
            <a:xfrm>
              <a:off x="0" y="0"/>
              <a:ext cx="5184742" cy="253910"/>
            </a:xfrm>
            <a:custGeom>
              <a:avLst/>
              <a:gdLst/>
              <a:ahLst/>
              <a:cxnLst/>
              <a:rect l="l" t="t" r="r" b="b"/>
              <a:pathLst>
                <a:path w="5184742" h="253910">
                  <a:moveTo>
                    <a:pt x="0" y="0"/>
                  </a:moveTo>
                  <a:lnTo>
                    <a:pt x="5184742" y="0"/>
                  </a:lnTo>
                  <a:lnTo>
                    <a:pt x="5184742" y="253910"/>
                  </a:lnTo>
                  <a:lnTo>
                    <a:pt x="0" y="253910"/>
                  </a:lnTo>
                  <a:close/>
                </a:path>
              </a:pathLst>
            </a:custGeom>
            <a:solidFill>
              <a:srgbClr val="DCD0C0"/>
            </a:solidFill>
          </p:spPr>
          <p:txBody>
            <a:bodyPr/>
            <a:lstStyle/>
            <a:p>
              <a:endParaRPr lang="en-ID"/>
            </a:p>
          </p:txBody>
        </p:sp>
        <p:sp>
          <p:nvSpPr>
            <p:cNvPr id="10" name="TextBox 10"/>
            <p:cNvSpPr txBox="1"/>
            <p:nvPr/>
          </p:nvSpPr>
          <p:spPr>
            <a:xfrm>
              <a:off x="0" y="-57150"/>
              <a:ext cx="5184741" cy="311060"/>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4007896" y="9303132"/>
            <a:ext cx="3245450" cy="378460"/>
            <a:chOff x="0" y="0"/>
            <a:chExt cx="4327267" cy="504613"/>
          </a:xfrm>
        </p:grpSpPr>
        <p:sp>
          <p:nvSpPr>
            <p:cNvPr id="12" name="TextBox 12"/>
            <p:cNvSpPr txBox="1"/>
            <p:nvPr/>
          </p:nvSpPr>
          <p:spPr>
            <a:xfrm>
              <a:off x="0" y="20382"/>
              <a:ext cx="3493131" cy="406699"/>
            </a:xfrm>
            <a:prstGeom prst="rect">
              <a:avLst/>
            </a:prstGeom>
          </p:spPr>
          <p:txBody>
            <a:bodyPr lIns="0" tIns="0" rIns="0" bIns="0" rtlCol="0" anchor="t">
              <a:spAutoFit/>
            </a:bodyPr>
            <a:lstStyle/>
            <a:p>
              <a:pPr algn="l">
                <a:lnSpc>
                  <a:spcPts val="2416"/>
                </a:lnSpc>
              </a:pPr>
              <a:r>
                <a:rPr lang="en-US" sz="1726" b="1">
                  <a:solidFill>
                    <a:srgbClr val="343434"/>
                  </a:solidFill>
                  <a:latin typeface="Coco Gothic Heavy"/>
                  <a:ea typeface="Coco Gothic Heavy"/>
                  <a:cs typeface="Coco Gothic Heavy"/>
                  <a:sym typeface="Coco Gothic Heavy"/>
                </a:rPr>
                <a:t>SEMINAR PROPOSAL</a:t>
              </a:r>
            </a:p>
          </p:txBody>
        </p:sp>
        <p:sp>
          <p:nvSpPr>
            <p:cNvPr id="13" name="TextBox 13"/>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a:solidFill>
                    <a:srgbClr val="343434"/>
                  </a:solidFill>
                  <a:latin typeface="Coco Gothic Heavy"/>
                  <a:ea typeface="Coco Gothic Heavy"/>
                  <a:cs typeface="Coco Gothic Heavy"/>
                  <a:sym typeface="Coco Gothic Heavy"/>
                </a:rPr>
                <a:t>10</a:t>
              </a:r>
            </a:p>
          </p:txBody>
        </p:sp>
        <p:sp>
          <p:nvSpPr>
            <p:cNvPr id="14" name="AutoShape 14"/>
            <p:cNvSpPr/>
            <p:nvPr/>
          </p:nvSpPr>
          <p:spPr>
            <a:xfrm>
              <a:off x="3493131" y="20147"/>
              <a:ext cx="0" cy="405967"/>
            </a:xfrm>
            <a:prstGeom prst="line">
              <a:avLst/>
            </a:prstGeom>
            <a:ln w="50800" cap="flat">
              <a:solidFill>
                <a:srgbClr val="DCD0C0"/>
              </a:solidFill>
              <a:prstDash val="solid"/>
              <a:headEnd type="none" w="sm" len="sm"/>
              <a:tailEnd type="none" w="sm" len="sm"/>
            </a:ln>
          </p:spPr>
          <p:txBody>
            <a:bodyPr/>
            <a:lstStyle/>
            <a:p>
              <a:endParaRPr lang="en-ID"/>
            </a:p>
          </p:txBody>
        </p:sp>
      </p:grpSp>
      <p:pic>
        <p:nvPicPr>
          <p:cNvPr id="15" name="Picture 15"/>
          <p:cNvPicPr>
            <a:picLocks noChangeAspect="1"/>
          </p:cNvPicPr>
          <p:nvPr/>
        </p:nvPicPr>
        <p:blipFill>
          <a:blip r:embed="rId4"/>
          <a:stretch>
            <a:fillRect/>
          </a:stretch>
        </p:blipFill>
        <p:spPr>
          <a:xfrm>
            <a:off x="813044" y="1567763"/>
            <a:ext cx="9007746" cy="7151474"/>
          </a:xfrm>
          <a:prstGeom prst="rect">
            <a:avLst/>
          </a:prstGeom>
        </p:spPr>
      </p:pic>
      <p:sp>
        <p:nvSpPr>
          <p:cNvPr id="16" name="Freeform 16"/>
          <p:cNvSpPr/>
          <p:nvPr/>
        </p:nvSpPr>
        <p:spPr>
          <a:xfrm flipH="1" flipV="1">
            <a:off x="14911714" y="770668"/>
            <a:ext cx="3642219" cy="2138976"/>
          </a:xfrm>
          <a:custGeom>
            <a:avLst/>
            <a:gdLst/>
            <a:ahLst/>
            <a:cxnLst/>
            <a:rect l="l" t="t" r="r" b="b"/>
            <a:pathLst>
              <a:path w="3642219" h="2138976">
                <a:moveTo>
                  <a:pt x="3642219" y="2138976"/>
                </a:moveTo>
                <a:lnTo>
                  <a:pt x="0" y="2138976"/>
                </a:lnTo>
                <a:lnTo>
                  <a:pt x="0" y="0"/>
                </a:lnTo>
                <a:lnTo>
                  <a:pt x="3642219" y="0"/>
                </a:lnTo>
                <a:lnTo>
                  <a:pt x="3642219" y="2138976"/>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17" name="Freeform 17"/>
          <p:cNvSpPr/>
          <p:nvPr/>
        </p:nvSpPr>
        <p:spPr>
          <a:xfrm>
            <a:off x="-539357" y="7324710"/>
            <a:ext cx="2520216" cy="2600598"/>
          </a:xfrm>
          <a:custGeom>
            <a:avLst/>
            <a:gdLst/>
            <a:ahLst/>
            <a:cxnLst/>
            <a:rect l="l" t="t" r="r" b="b"/>
            <a:pathLst>
              <a:path w="2520216" h="2600598">
                <a:moveTo>
                  <a:pt x="0" y="0"/>
                </a:moveTo>
                <a:lnTo>
                  <a:pt x="2520216" y="0"/>
                </a:lnTo>
                <a:lnTo>
                  <a:pt x="2520216" y="2600597"/>
                </a:lnTo>
                <a:lnTo>
                  <a:pt x="0" y="260059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D"/>
          </a:p>
        </p:txBody>
      </p:sp>
      <p:sp>
        <p:nvSpPr>
          <p:cNvPr id="18" name="Freeform 18"/>
          <p:cNvSpPr/>
          <p:nvPr/>
        </p:nvSpPr>
        <p:spPr>
          <a:xfrm>
            <a:off x="11327969" y="8384928"/>
            <a:ext cx="3583745" cy="1296664"/>
          </a:xfrm>
          <a:custGeom>
            <a:avLst/>
            <a:gdLst/>
            <a:ahLst/>
            <a:cxnLst/>
            <a:rect l="l" t="t" r="r" b="b"/>
            <a:pathLst>
              <a:path w="3583745" h="1296664">
                <a:moveTo>
                  <a:pt x="0" y="0"/>
                </a:moveTo>
                <a:lnTo>
                  <a:pt x="3583745" y="0"/>
                </a:lnTo>
                <a:lnTo>
                  <a:pt x="3583745" y="1296664"/>
                </a:lnTo>
                <a:lnTo>
                  <a:pt x="0" y="129666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ID"/>
          </a:p>
        </p:txBody>
      </p:sp>
      <p:sp>
        <p:nvSpPr>
          <p:cNvPr id="19" name="TextBox 19"/>
          <p:cNvSpPr txBox="1"/>
          <p:nvPr/>
        </p:nvSpPr>
        <p:spPr>
          <a:xfrm>
            <a:off x="13168197" y="4356238"/>
            <a:ext cx="3846870" cy="349250"/>
          </a:xfrm>
          <a:prstGeom prst="rect">
            <a:avLst/>
          </a:prstGeom>
        </p:spPr>
        <p:txBody>
          <a:bodyPr lIns="0" tIns="0" rIns="0" bIns="0" rtlCol="0" anchor="t">
            <a:spAutoFit/>
          </a:bodyPr>
          <a:lstStyle/>
          <a:p>
            <a:pPr algn="ctr">
              <a:lnSpc>
                <a:spcPts val="2499"/>
              </a:lnSpc>
            </a:pPr>
            <a:r>
              <a:rPr lang="en-US" sz="2499" b="1">
                <a:solidFill>
                  <a:srgbClr val="FFFFFF"/>
                </a:solidFill>
                <a:latin typeface="Coco Gothic Bold"/>
                <a:ea typeface="Coco Gothic Bold"/>
                <a:cs typeface="Coco Gothic Bold"/>
                <a:sym typeface="Coco Gothic Bold"/>
              </a:rPr>
              <a:t>METODE SATU</a:t>
            </a:r>
          </a:p>
        </p:txBody>
      </p:sp>
      <p:grpSp>
        <p:nvGrpSpPr>
          <p:cNvPr id="20" name="Group 20"/>
          <p:cNvGrpSpPr/>
          <p:nvPr/>
        </p:nvGrpSpPr>
        <p:grpSpPr>
          <a:xfrm>
            <a:off x="9887959" y="3777471"/>
            <a:ext cx="6560476" cy="3547239"/>
            <a:chOff x="0" y="0"/>
            <a:chExt cx="8747302" cy="4729651"/>
          </a:xfrm>
        </p:grpSpPr>
        <p:sp>
          <p:nvSpPr>
            <p:cNvPr id="21" name="TextBox 21"/>
            <p:cNvSpPr txBox="1"/>
            <p:nvPr/>
          </p:nvSpPr>
          <p:spPr>
            <a:xfrm>
              <a:off x="0" y="-66675"/>
              <a:ext cx="8747302" cy="1878541"/>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
          <p:nvSpPr>
            <p:cNvPr id="22" name="TextBox 22"/>
            <p:cNvSpPr txBox="1"/>
            <p:nvPr/>
          </p:nvSpPr>
          <p:spPr>
            <a:xfrm>
              <a:off x="0" y="2851110"/>
              <a:ext cx="8747302" cy="1878541"/>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sp>
        <p:nvSpPr>
          <p:cNvPr id="3" name="TextBox 3"/>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343434"/>
                </a:solidFill>
                <a:latin typeface="Coco Gothic"/>
                <a:ea typeface="Coco Gothic"/>
                <a:cs typeface="Coco Gothic"/>
                <a:sym typeface="Coco Gothic"/>
              </a:rPr>
              <a:t>UNIVERSITAS </a:t>
            </a:r>
          </a:p>
        </p:txBody>
      </p:sp>
      <p:sp>
        <p:nvSpPr>
          <p:cNvPr id="4" name="TextBox 4"/>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343434"/>
                </a:solidFill>
                <a:latin typeface="Coco Gothic Bold"/>
                <a:ea typeface="Coco Gothic Bold"/>
                <a:cs typeface="Coco Gothic Bold"/>
                <a:sym typeface="Coco Gothic Bold"/>
              </a:rPr>
              <a:t>KEITHSTON</a:t>
            </a:r>
          </a:p>
        </p:txBody>
      </p:sp>
      <p:grpSp>
        <p:nvGrpSpPr>
          <p:cNvPr id="5" name="Group 5"/>
          <p:cNvGrpSpPr/>
          <p:nvPr/>
        </p:nvGrpSpPr>
        <p:grpSpPr>
          <a:xfrm>
            <a:off x="-772763" y="9925307"/>
            <a:ext cx="19685815" cy="758963"/>
            <a:chOff x="0" y="0"/>
            <a:chExt cx="5184741" cy="199891"/>
          </a:xfrm>
        </p:grpSpPr>
        <p:sp>
          <p:nvSpPr>
            <p:cNvPr id="6" name="Freeform 6"/>
            <p:cNvSpPr/>
            <p:nvPr/>
          </p:nvSpPr>
          <p:spPr>
            <a:xfrm>
              <a:off x="0" y="0"/>
              <a:ext cx="5184742" cy="199891"/>
            </a:xfrm>
            <a:custGeom>
              <a:avLst/>
              <a:gdLst/>
              <a:ahLst/>
              <a:cxnLst/>
              <a:rect l="l" t="t" r="r" b="b"/>
              <a:pathLst>
                <a:path w="5184742" h="199891">
                  <a:moveTo>
                    <a:pt x="0" y="0"/>
                  </a:moveTo>
                  <a:lnTo>
                    <a:pt x="5184742" y="0"/>
                  </a:lnTo>
                  <a:lnTo>
                    <a:pt x="5184742" y="199891"/>
                  </a:lnTo>
                  <a:lnTo>
                    <a:pt x="0" y="199891"/>
                  </a:lnTo>
                  <a:close/>
                </a:path>
              </a:pathLst>
            </a:custGeom>
            <a:solidFill>
              <a:srgbClr val="9E8E7E"/>
            </a:solidFill>
          </p:spPr>
          <p:txBody>
            <a:bodyPr/>
            <a:lstStyle/>
            <a:p>
              <a:endParaRPr lang="en-ID"/>
            </a:p>
          </p:txBody>
        </p:sp>
        <p:sp>
          <p:nvSpPr>
            <p:cNvPr id="7" name="TextBox 7"/>
            <p:cNvSpPr txBox="1"/>
            <p:nvPr/>
          </p:nvSpPr>
          <p:spPr>
            <a:xfrm>
              <a:off x="0" y="-57150"/>
              <a:ext cx="5184741" cy="257041"/>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698908" y="-534367"/>
            <a:ext cx="19685815" cy="896059"/>
            <a:chOff x="0" y="0"/>
            <a:chExt cx="5184741" cy="235999"/>
          </a:xfrm>
        </p:grpSpPr>
        <p:sp>
          <p:nvSpPr>
            <p:cNvPr id="9" name="Freeform 9"/>
            <p:cNvSpPr/>
            <p:nvPr/>
          </p:nvSpPr>
          <p:spPr>
            <a:xfrm>
              <a:off x="0" y="0"/>
              <a:ext cx="5184742" cy="235999"/>
            </a:xfrm>
            <a:custGeom>
              <a:avLst/>
              <a:gdLst/>
              <a:ahLst/>
              <a:cxnLst/>
              <a:rect l="l" t="t" r="r" b="b"/>
              <a:pathLst>
                <a:path w="5184742" h="235999">
                  <a:moveTo>
                    <a:pt x="0" y="0"/>
                  </a:moveTo>
                  <a:lnTo>
                    <a:pt x="5184742" y="0"/>
                  </a:lnTo>
                  <a:lnTo>
                    <a:pt x="5184742" y="235999"/>
                  </a:lnTo>
                  <a:lnTo>
                    <a:pt x="0" y="235999"/>
                  </a:lnTo>
                  <a:close/>
                </a:path>
              </a:pathLst>
            </a:custGeom>
            <a:solidFill>
              <a:srgbClr val="DCD0C0"/>
            </a:solidFill>
          </p:spPr>
          <p:txBody>
            <a:bodyPr/>
            <a:lstStyle/>
            <a:p>
              <a:endParaRPr lang="en-ID"/>
            </a:p>
          </p:txBody>
        </p:sp>
        <p:sp>
          <p:nvSpPr>
            <p:cNvPr id="10" name="TextBox 10"/>
            <p:cNvSpPr txBox="1"/>
            <p:nvPr/>
          </p:nvSpPr>
          <p:spPr>
            <a:xfrm>
              <a:off x="0" y="-57150"/>
              <a:ext cx="5184741" cy="293149"/>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4007896" y="9303132"/>
            <a:ext cx="3245450" cy="378460"/>
            <a:chOff x="0" y="0"/>
            <a:chExt cx="4327267" cy="504613"/>
          </a:xfrm>
        </p:grpSpPr>
        <p:sp>
          <p:nvSpPr>
            <p:cNvPr id="12" name="TextBox 12"/>
            <p:cNvSpPr txBox="1"/>
            <p:nvPr/>
          </p:nvSpPr>
          <p:spPr>
            <a:xfrm>
              <a:off x="0" y="20382"/>
              <a:ext cx="3493131" cy="406699"/>
            </a:xfrm>
            <a:prstGeom prst="rect">
              <a:avLst/>
            </a:prstGeom>
          </p:spPr>
          <p:txBody>
            <a:bodyPr lIns="0" tIns="0" rIns="0" bIns="0" rtlCol="0" anchor="t">
              <a:spAutoFit/>
            </a:bodyPr>
            <a:lstStyle/>
            <a:p>
              <a:pPr algn="l">
                <a:lnSpc>
                  <a:spcPts val="2416"/>
                </a:lnSpc>
              </a:pPr>
              <a:r>
                <a:rPr lang="en-US" sz="1726" b="1">
                  <a:solidFill>
                    <a:srgbClr val="343434"/>
                  </a:solidFill>
                  <a:latin typeface="Coco Gothic Heavy"/>
                  <a:ea typeface="Coco Gothic Heavy"/>
                  <a:cs typeface="Coco Gothic Heavy"/>
                  <a:sym typeface="Coco Gothic Heavy"/>
                </a:rPr>
                <a:t>SEMINAR PROPOSAL</a:t>
              </a:r>
            </a:p>
          </p:txBody>
        </p:sp>
        <p:sp>
          <p:nvSpPr>
            <p:cNvPr id="13" name="TextBox 13"/>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a:solidFill>
                    <a:srgbClr val="343434"/>
                  </a:solidFill>
                  <a:latin typeface="Coco Gothic Heavy"/>
                  <a:ea typeface="Coco Gothic Heavy"/>
                  <a:cs typeface="Coco Gothic Heavy"/>
                  <a:sym typeface="Coco Gothic Heavy"/>
                </a:rPr>
                <a:t>11</a:t>
              </a:r>
            </a:p>
          </p:txBody>
        </p:sp>
        <p:sp>
          <p:nvSpPr>
            <p:cNvPr id="14" name="AutoShape 14"/>
            <p:cNvSpPr/>
            <p:nvPr/>
          </p:nvSpPr>
          <p:spPr>
            <a:xfrm>
              <a:off x="3493131" y="20147"/>
              <a:ext cx="0" cy="405967"/>
            </a:xfrm>
            <a:prstGeom prst="line">
              <a:avLst/>
            </a:prstGeom>
            <a:ln w="50800" cap="flat">
              <a:solidFill>
                <a:srgbClr val="DCD0C0"/>
              </a:solidFill>
              <a:prstDash val="solid"/>
              <a:headEnd type="none" w="sm" len="sm"/>
              <a:tailEnd type="none" w="sm" len="sm"/>
            </a:ln>
          </p:spPr>
          <p:txBody>
            <a:bodyPr/>
            <a:lstStyle/>
            <a:p>
              <a:endParaRPr lang="en-ID"/>
            </a:p>
          </p:txBody>
        </p:sp>
      </p:grpSp>
      <p:pic>
        <p:nvPicPr>
          <p:cNvPr id="15" name="Picture 15"/>
          <p:cNvPicPr>
            <a:picLocks noChangeAspect="1"/>
          </p:cNvPicPr>
          <p:nvPr/>
        </p:nvPicPr>
        <p:blipFill>
          <a:blip r:embed="rId4"/>
          <a:stretch>
            <a:fillRect/>
          </a:stretch>
        </p:blipFill>
        <p:spPr>
          <a:xfrm>
            <a:off x="1954804" y="2320179"/>
            <a:ext cx="6777295" cy="6481525"/>
          </a:xfrm>
          <a:prstGeom prst="rect">
            <a:avLst/>
          </a:prstGeom>
        </p:spPr>
      </p:pic>
      <p:sp>
        <p:nvSpPr>
          <p:cNvPr id="16" name="Freeform 16"/>
          <p:cNvSpPr/>
          <p:nvPr/>
        </p:nvSpPr>
        <p:spPr>
          <a:xfrm rot="5400000" flipH="1">
            <a:off x="-193886" y="2322565"/>
            <a:ext cx="2445171" cy="1124779"/>
          </a:xfrm>
          <a:custGeom>
            <a:avLst/>
            <a:gdLst/>
            <a:ahLst/>
            <a:cxnLst/>
            <a:rect l="l" t="t" r="r" b="b"/>
            <a:pathLst>
              <a:path w="2445171" h="1124779">
                <a:moveTo>
                  <a:pt x="2445172" y="0"/>
                </a:moveTo>
                <a:lnTo>
                  <a:pt x="0" y="0"/>
                </a:lnTo>
                <a:lnTo>
                  <a:pt x="0" y="1124779"/>
                </a:lnTo>
                <a:lnTo>
                  <a:pt x="2445172" y="1124779"/>
                </a:lnTo>
                <a:lnTo>
                  <a:pt x="2445172"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D"/>
          </a:p>
        </p:txBody>
      </p:sp>
      <p:sp>
        <p:nvSpPr>
          <p:cNvPr id="17" name="Freeform 17"/>
          <p:cNvSpPr/>
          <p:nvPr/>
        </p:nvSpPr>
        <p:spPr>
          <a:xfrm rot="-5400000" flipH="1">
            <a:off x="15253905" y="6135352"/>
            <a:ext cx="4087306" cy="1471430"/>
          </a:xfrm>
          <a:custGeom>
            <a:avLst/>
            <a:gdLst/>
            <a:ahLst/>
            <a:cxnLst/>
            <a:rect l="l" t="t" r="r" b="b"/>
            <a:pathLst>
              <a:path w="4087306" h="1471430">
                <a:moveTo>
                  <a:pt x="4087306" y="0"/>
                </a:moveTo>
                <a:lnTo>
                  <a:pt x="0" y="0"/>
                </a:lnTo>
                <a:lnTo>
                  <a:pt x="0" y="1471430"/>
                </a:lnTo>
                <a:lnTo>
                  <a:pt x="4087306" y="1471430"/>
                </a:lnTo>
                <a:lnTo>
                  <a:pt x="4087306"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ID"/>
          </a:p>
        </p:txBody>
      </p:sp>
      <p:sp>
        <p:nvSpPr>
          <p:cNvPr id="18" name="TextBox 18"/>
          <p:cNvSpPr txBox="1"/>
          <p:nvPr/>
        </p:nvSpPr>
        <p:spPr>
          <a:xfrm>
            <a:off x="9428812" y="2369646"/>
            <a:ext cx="6560476" cy="1425575"/>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
        <p:nvSpPr>
          <p:cNvPr id="19" name="TextBox 19"/>
          <p:cNvSpPr txBox="1"/>
          <p:nvPr/>
        </p:nvSpPr>
        <p:spPr>
          <a:xfrm>
            <a:off x="9428812" y="2003263"/>
            <a:ext cx="3846870" cy="353060"/>
          </a:xfrm>
          <a:prstGeom prst="rect">
            <a:avLst/>
          </a:prstGeom>
        </p:spPr>
        <p:txBody>
          <a:bodyPr lIns="0" tIns="0" rIns="0" bIns="0" rtlCol="0" anchor="t">
            <a:spAutoFit/>
          </a:bodyPr>
          <a:lstStyle/>
          <a:p>
            <a:pPr algn="just">
              <a:lnSpc>
                <a:spcPts val="2499"/>
              </a:lnSpc>
            </a:pPr>
            <a:r>
              <a:rPr lang="en-US" sz="2499" b="1">
                <a:solidFill>
                  <a:srgbClr val="343434"/>
                </a:solidFill>
                <a:latin typeface="Coco Gothic Heavy"/>
                <a:ea typeface="Coco Gothic Heavy"/>
                <a:cs typeface="Coco Gothic Heavy"/>
                <a:sym typeface="Coco Gothic Heavy"/>
              </a:rPr>
              <a:t>HASIL A</a:t>
            </a:r>
          </a:p>
        </p:txBody>
      </p:sp>
      <p:sp>
        <p:nvSpPr>
          <p:cNvPr id="20" name="TextBox 20"/>
          <p:cNvSpPr txBox="1"/>
          <p:nvPr/>
        </p:nvSpPr>
        <p:spPr>
          <a:xfrm>
            <a:off x="9428812" y="4628192"/>
            <a:ext cx="6560476" cy="1425575"/>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
        <p:nvSpPr>
          <p:cNvPr id="21" name="TextBox 21"/>
          <p:cNvSpPr txBox="1"/>
          <p:nvPr/>
        </p:nvSpPr>
        <p:spPr>
          <a:xfrm>
            <a:off x="9428812" y="4261808"/>
            <a:ext cx="3846870" cy="353060"/>
          </a:xfrm>
          <a:prstGeom prst="rect">
            <a:avLst/>
          </a:prstGeom>
        </p:spPr>
        <p:txBody>
          <a:bodyPr lIns="0" tIns="0" rIns="0" bIns="0" rtlCol="0" anchor="t">
            <a:spAutoFit/>
          </a:bodyPr>
          <a:lstStyle/>
          <a:p>
            <a:pPr algn="just">
              <a:lnSpc>
                <a:spcPts val="2499"/>
              </a:lnSpc>
            </a:pPr>
            <a:r>
              <a:rPr lang="en-US" sz="2499" b="1">
                <a:solidFill>
                  <a:srgbClr val="343434"/>
                </a:solidFill>
                <a:latin typeface="Coco Gothic Heavy"/>
                <a:ea typeface="Coco Gothic Heavy"/>
                <a:cs typeface="Coco Gothic Heavy"/>
                <a:sym typeface="Coco Gothic Heavy"/>
              </a:rPr>
              <a:t>HASIL B</a:t>
            </a:r>
          </a:p>
        </p:txBody>
      </p:sp>
      <p:sp>
        <p:nvSpPr>
          <p:cNvPr id="22" name="TextBox 22"/>
          <p:cNvSpPr txBox="1"/>
          <p:nvPr/>
        </p:nvSpPr>
        <p:spPr>
          <a:xfrm>
            <a:off x="9428812" y="6886738"/>
            <a:ext cx="6560476" cy="1425575"/>
          </a:xfrm>
          <a:prstGeom prst="rect">
            <a:avLst/>
          </a:prstGeom>
        </p:spPr>
        <p:txBody>
          <a:bodyPr lIns="0" tIns="0" rIns="0" bIns="0" rtlCol="0" anchor="t">
            <a:spAutoFit/>
          </a:bodyPr>
          <a:lstStyle/>
          <a:p>
            <a:pPr algn="just">
              <a:lnSpc>
                <a:spcPts val="2800"/>
              </a:lnSpc>
            </a:pPr>
            <a:r>
              <a:rPr lang="en-US" sz="2000">
                <a:solidFill>
                  <a:srgbClr val="343434"/>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a:t>
            </a:r>
          </a:p>
        </p:txBody>
      </p:sp>
      <p:sp>
        <p:nvSpPr>
          <p:cNvPr id="23" name="TextBox 23"/>
          <p:cNvSpPr txBox="1"/>
          <p:nvPr/>
        </p:nvSpPr>
        <p:spPr>
          <a:xfrm>
            <a:off x="9428812" y="6520354"/>
            <a:ext cx="3846870" cy="353060"/>
          </a:xfrm>
          <a:prstGeom prst="rect">
            <a:avLst/>
          </a:prstGeom>
        </p:spPr>
        <p:txBody>
          <a:bodyPr lIns="0" tIns="0" rIns="0" bIns="0" rtlCol="0" anchor="t">
            <a:spAutoFit/>
          </a:bodyPr>
          <a:lstStyle/>
          <a:p>
            <a:pPr algn="just">
              <a:lnSpc>
                <a:spcPts val="2499"/>
              </a:lnSpc>
            </a:pPr>
            <a:r>
              <a:rPr lang="en-US" sz="2499" b="1">
                <a:solidFill>
                  <a:srgbClr val="343434"/>
                </a:solidFill>
                <a:latin typeface="Coco Gothic Heavy"/>
                <a:ea typeface="Coco Gothic Heavy"/>
                <a:cs typeface="Coco Gothic Heavy"/>
                <a:sym typeface="Coco Gothic Heavy"/>
              </a:rPr>
              <a:t>HASIL 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9E8E7E"/>
        </a:solidFill>
        <a:effectLst/>
      </p:bgPr>
    </p:bg>
    <p:spTree>
      <p:nvGrpSpPr>
        <p:cNvPr id="1" name=""/>
        <p:cNvGrpSpPr/>
        <p:nvPr/>
      </p:nvGrpSpPr>
      <p:grpSpPr>
        <a:xfrm>
          <a:off x="0" y="0"/>
          <a:ext cx="0" cy="0"/>
          <a:chOff x="0" y="0"/>
          <a:chExt cx="0" cy="0"/>
        </a:xfrm>
      </p:grpSpPr>
      <p:sp>
        <p:nvSpPr>
          <p:cNvPr id="2" name="Freeform 2"/>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sp>
        <p:nvSpPr>
          <p:cNvPr id="3" name="TextBox 3"/>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FFFFFF"/>
                </a:solidFill>
                <a:latin typeface="Coco Gothic"/>
                <a:ea typeface="Coco Gothic"/>
                <a:cs typeface="Coco Gothic"/>
                <a:sym typeface="Coco Gothic"/>
              </a:rPr>
              <a:t>UNIVERSITAS </a:t>
            </a:r>
          </a:p>
        </p:txBody>
      </p:sp>
      <p:sp>
        <p:nvSpPr>
          <p:cNvPr id="4" name="TextBox 4"/>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FFFFFF"/>
                </a:solidFill>
                <a:latin typeface="Coco Gothic Bold"/>
                <a:ea typeface="Coco Gothic Bold"/>
                <a:cs typeface="Coco Gothic Bold"/>
                <a:sym typeface="Coco Gothic Bold"/>
              </a:rPr>
              <a:t>KEITHSTON</a:t>
            </a:r>
          </a:p>
        </p:txBody>
      </p:sp>
      <p:grpSp>
        <p:nvGrpSpPr>
          <p:cNvPr id="5" name="Group 5"/>
          <p:cNvGrpSpPr/>
          <p:nvPr/>
        </p:nvGrpSpPr>
        <p:grpSpPr>
          <a:xfrm>
            <a:off x="14007896" y="9303132"/>
            <a:ext cx="3245450" cy="378460"/>
            <a:chOff x="0" y="0"/>
            <a:chExt cx="4327267" cy="504613"/>
          </a:xfrm>
        </p:grpSpPr>
        <p:sp>
          <p:nvSpPr>
            <p:cNvPr id="6" name="TextBox 6"/>
            <p:cNvSpPr txBox="1"/>
            <p:nvPr/>
          </p:nvSpPr>
          <p:spPr>
            <a:xfrm>
              <a:off x="0" y="20382"/>
              <a:ext cx="3493131" cy="406699"/>
            </a:xfrm>
            <a:prstGeom prst="rect">
              <a:avLst/>
            </a:prstGeom>
          </p:spPr>
          <p:txBody>
            <a:bodyPr lIns="0" tIns="0" rIns="0" bIns="0" rtlCol="0" anchor="t">
              <a:spAutoFit/>
            </a:bodyPr>
            <a:lstStyle/>
            <a:p>
              <a:pPr algn="l">
                <a:lnSpc>
                  <a:spcPts val="2416"/>
                </a:lnSpc>
              </a:pPr>
              <a:r>
                <a:rPr lang="en-US" sz="1726" b="1">
                  <a:solidFill>
                    <a:srgbClr val="FFFFFF"/>
                  </a:solidFill>
                  <a:latin typeface="Coco Gothic Heavy"/>
                  <a:ea typeface="Coco Gothic Heavy"/>
                  <a:cs typeface="Coco Gothic Heavy"/>
                  <a:sym typeface="Coco Gothic Heavy"/>
                </a:rPr>
                <a:t>SEMINAR PROPOSAL</a:t>
              </a:r>
            </a:p>
          </p:txBody>
        </p:sp>
        <p:sp>
          <p:nvSpPr>
            <p:cNvPr id="7" name="TextBox 7"/>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a:solidFill>
                    <a:srgbClr val="FFFFFF"/>
                  </a:solidFill>
                  <a:latin typeface="Coco Gothic Heavy"/>
                  <a:ea typeface="Coco Gothic Heavy"/>
                  <a:cs typeface="Coco Gothic Heavy"/>
                  <a:sym typeface="Coco Gothic Heavy"/>
                </a:rPr>
                <a:t>12</a:t>
              </a:r>
            </a:p>
          </p:txBody>
        </p:sp>
        <p:sp>
          <p:nvSpPr>
            <p:cNvPr id="8" name="AutoShape 8"/>
            <p:cNvSpPr/>
            <p:nvPr/>
          </p:nvSpPr>
          <p:spPr>
            <a:xfrm>
              <a:off x="3493131" y="20147"/>
              <a:ext cx="0" cy="405967"/>
            </a:xfrm>
            <a:prstGeom prst="line">
              <a:avLst/>
            </a:prstGeom>
            <a:ln w="50800" cap="flat">
              <a:solidFill>
                <a:srgbClr val="FFFFFF"/>
              </a:solidFill>
              <a:prstDash val="solid"/>
              <a:headEnd type="none" w="sm" len="sm"/>
              <a:tailEnd type="none" w="sm" len="sm"/>
            </a:ln>
          </p:spPr>
          <p:txBody>
            <a:bodyPr/>
            <a:lstStyle/>
            <a:p>
              <a:endParaRPr lang="en-ID"/>
            </a:p>
          </p:txBody>
        </p:sp>
      </p:grpSp>
      <p:grpSp>
        <p:nvGrpSpPr>
          <p:cNvPr id="9" name="Group 9"/>
          <p:cNvGrpSpPr/>
          <p:nvPr/>
        </p:nvGrpSpPr>
        <p:grpSpPr>
          <a:xfrm>
            <a:off x="7470309" y="3432372"/>
            <a:ext cx="63671" cy="3422255"/>
            <a:chOff x="0" y="0"/>
            <a:chExt cx="16769" cy="901335"/>
          </a:xfrm>
        </p:grpSpPr>
        <p:sp>
          <p:nvSpPr>
            <p:cNvPr id="10" name="Freeform 10"/>
            <p:cNvSpPr/>
            <p:nvPr/>
          </p:nvSpPr>
          <p:spPr>
            <a:xfrm>
              <a:off x="0" y="0"/>
              <a:ext cx="16769" cy="901335"/>
            </a:xfrm>
            <a:custGeom>
              <a:avLst/>
              <a:gdLst/>
              <a:ahLst/>
              <a:cxnLst/>
              <a:rect l="l" t="t" r="r" b="b"/>
              <a:pathLst>
                <a:path w="16769" h="901335">
                  <a:moveTo>
                    <a:pt x="0" y="0"/>
                  </a:moveTo>
                  <a:lnTo>
                    <a:pt x="16769" y="0"/>
                  </a:lnTo>
                  <a:lnTo>
                    <a:pt x="16769" y="901335"/>
                  </a:lnTo>
                  <a:lnTo>
                    <a:pt x="0" y="901335"/>
                  </a:lnTo>
                  <a:close/>
                </a:path>
              </a:pathLst>
            </a:custGeom>
            <a:solidFill>
              <a:srgbClr val="FFFFFF"/>
            </a:solidFill>
          </p:spPr>
          <p:txBody>
            <a:bodyPr/>
            <a:lstStyle/>
            <a:p>
              <a:endParaRPr lang="en-ID"/>
            </a:p>
          </p:txBody>
        </p:sp>
        <p:sp>
          <p:nvSpPr>
            <p:cNvPr id="11" name="TextBox 11"/>
            <p:cNvSpPr txBox="1"/>
            <p:nvPr/>
          </p:nvSpPr>
          <p:spPr>
            <a:xfrm>
              <a:off x="0" y="-57150"/>
              <a:ext cx="16769" cy="95848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299501" y="8580145"/>
            <a:ext cx="3711297" cy="1356310"/>
          </a:xfrm>
          <a:custGeom>
            <a:avLst/>
            <a:gdLst/>
            <a:ahLst/>
            <a:cxnLst/>
            <a:rect l="l" t="t" r="r" b="b"/>
            <a:pathLst>
              <a:path w="3711297" h="1356310">
                <a:moveTo>
                  <a:pt x="0" y="0"/>
                </a:moveTo>
                <a:lnTo>
                  <a:pt x="3711297" y="0"/>
                </a:lnTo>
                <a:lnTo>
                  <a:pt x="3711297" y="1356310"/>
                </a:lnTo>
                <a:lnTo>
                  <a:pt x="0" y="13563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D"/>
          </a:p>
        </p:txBody>
      </p:sp>
      <p:sp>
        <p:nvSpPr>
          <p:cNvPr id="13" name="Freeform 13"/>
          <p:cNvSpPr/>
          <p:nvPr/>
        </p:nvSpPr>
        <p:spPr>
          <a:xfrm>
            <a:off x="14874375" y="350545"/>
            <a:ext cx="3711297" cy="1356310"/>
          </a:xfrm>
          <a:custGeom>
            <a:avLst/>
            <a:gdLst/>
            <a:ahLst/>
            <a:cxnLst/>
            <a:rect l="l" t="t" r="r" b="b"/>
            <a:pathLst>
              <a:path w="3711297" h="1356310">
                <a:moveTo>
                  <a:pt x="0" y="0"/>
                </a:moveTo>
                <a:lnTo>
                  <a:pt x="3711297" y="0"/>
                </a:lnTo>
                <a:lnTo>
                  <a:pt x="3711297" y="1356310"/>
                </a:lnTo>
                <a:lnTo>
                  <a:pt x="0" y="13563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D"/>
          </a:p>
        </p:txBody>
      </p:sp>
      <p:sp>
        <p:nvSpPr>
          <p:cNvPr id="14" name="Freeform 14"/>
          <p:cNvSpPr/>
          <p:nvPr/>
        </p:nvSpPr>
        <p:spPr>
          <a:xfrm>
            <a:off x="1578616" y="6526482"/>
            <a:ext cx="3666360" cy="2486459"/>
          </a:xfrm>
          <a:custGeom>
            <a:avLst/>
            <a:gdLst/>
            <a:ahLst/>
            <a:cxnLst/>
            <a:rect l="l" t="t" r="r" b="b"/>
            <a:pathLst>
              <a:path w="3666360" h="2486459">
                <a:moveTo>
                  <a:pt x="0" y="0"/>
                </a:moveTo>
                <a:lnTo>
                  <a:pt x="3666360" y="0"/>
                </a:lnTo>
                <a:lnTo>
                  <a:pt x="3666360" y="2486458"/>
                </a:lnTo>
                <a:lnTo>
                  <a:pt x="0" y="248645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D"/>
          </a:p>
        </p:txBody>
      </p:sp>
      <p:sp>
        <p:nvSpPr>
          <p:cNvPr id="15" name="TextBox 15"/>
          <p:cNvSpPr txBox="1"/>
          <p:nvPr/>
        </p:nvSpPr>
        <p:spPr>
          <a:xfrm>
            <a:off x="1828447" y="4699635"/>
            <a:ext cx="5485491" cy="897255"/>
          </a:xfrm>
          <a:prstGeom prst="rect">
            <a:avLst/>
          </a:prstGeom>
        </p:spPr>
        <p:txBody>
          <a:bodyPr lIns="0" tIns="0" rIns="0" bIns="0" rtlCol="0" anchor="t">
            <a:spAutoFit/>
          </a:bodyPr>
          <a:lstStyle/>
          <a:p>
            <a:pPr algn="ctr">
              <a:lnSpc>
                <a:spcPts val="6660"/>
              </a:lnSpc>
            </a:pPr>
            <a:r>
              <a:rPr lang="en-US" sz="6000" b="1">
                <a:solidFill>
                  <a:srgbClr val="FFFFFF"/>
                </a:solidFill>
                <a:latin typeface="Coco Gothic Heavy"/>
                <a:ea typeface="Coco Gothic Heavy"/>
                <a:cs typeface="Coco Gothic Heavy"/>
                <a:sym typeface="Coco Gothic Heavy"/>
              </a:rPr>
              <a:t>Kesimpulan</a:t>
            </a:r>
          </a:p>
        </p:txBody>
      </p:sp>
      <p:sp>
        <p:nvSpPr>
          <p:cNvPr id="16" name="TextBox 16"/>
          <p:cNvSpPr txBox="1"/>
          <p:nvPr/>
        </p:nvSpPr>
        <p:spPr>
          <a:xfrm>
            <a:off x="8164249" y="3516313"/>
            <a:ext cx="7894928" cy="3187700"/>
          </a:xfrm>
          <a:prstGeom prst="rect">
            <a:avLst/>
          </a:prstGeom>
        </p:spPr>
        <p:txBody>
          <a:bodyPr lIns="0" tIns="0" rIns="0" bIns="0" rtlCol="0" anchor="t">
            <a:spAutoFit/>
          </a:bodyPr>
          <a:lstStyle/>
          <a:p>
            <a:pPr algn="just">
              <a:lnSpc>
                <a:spcPts val="2800"/>
              </a:lnSpc>
            </a:pPr>
            <a:r>
              <a:rPr lang="en-US" sz="2000">
                <a:solidFill>
                  <a:srgbClr val="FFFFFF"/>
                </a:solidFill>
                <a:latin typeface="Poppins"/>
                <a:ea typeface="Poppins"/>
                <a:cs typeface="Poppins"/>
                <a:sym typeface="Poppins"/>
              </a:rPr>
              <a:t>Lorem ipsum dolor sit amet, consectetur adipiscing elit. Ut nibh diam, sollicitudin at velit id, dapibus dictum neque. In iaculis ipsum et tortor viverra, imperdiet molestie neque accumsan. Etiam suscipit facilisis urna a iaculis. Curabitur aliquam nisl quis elit sodales, ut consectetur elit sodales. In erat erat, facilisis ac est vel, malesuada sagittis dolor. Maecenas in mauris egestas, feugiat massa non, egestas risus. Quisque vel fermentum dolor. Sed at felis aliquet, venenatis ipsum quis, vehicula elit.</a:t>
            </a:r>
          </a:p>
        </p:txBody>
      </p:sp>
      <p:sp>
        <p:nvSpPr>
          <p:cNvPr id="17" name="Freeform 17"/>
          <p:cNvSpPr/>
          <p:nvPr/>
        </p:nvSpPr>
        <p:spPr>
          <a:xfrm rot="-10800000">
            <a:off x="13665094" y="1209693"/>
            <a:ext cx="2418563" cy="1640225"/>
          </a:xfrm>
          <a:custGeom>
            <a:avLst/>
            <a:gdLst/>
            <a:ahLst/>
            <a:cxnLst/>
            <a:rect l="l" t="t" r="r" b="b"/>
            <a:pathLst>
              <a:path w="2418563" h="1640225">
                <a:moveTo>
                  <a:pt x="0" y="0"/>
                </a:moveTo>
                <a:lnTo>
                  <a:pt x="2418563" y="0"/>
                </a:lnTo>
                <a:lnTo>
                  <a:pt x="2418563" y="1640225"/>
                </a:lnTo>
                <a:lnTo>
                  <a:pt x="0" y="164022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D"/>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98908" y="-537547"/>
            <a:ext cx="19685815" cy="5681047"/>
            <a:chOff x="0" y="0"/>
            <a:chExt cx="5184741" cy="1496243"/>
          </a:xfrm>
        </p:grpSpPr>
        <p:sp>
          <p:nvSpPr>
            <p:cNvPr id="3" name="Freeform 3"/>
            <p:cNvSpPr/>
            <p:nvPr/>
          </p:nvSpPr>
          <p:spPr>
            <a:xfrm>
              <a:off x="0" y="0"/>
              <a:ext cx="5184742" cy="1496243"/>
            </a:xfrm>
            <a:custGeom>
              <a:avLst/>
              <a:gdLst/>
              <a:ahLst/>
              <a:cxnLst/>
              <a:rect l="l" t="t" r="r" b="b"/>
              <a:pathLst>
                <a:path w="5184742" h="1496243">
                  <a:moveTo>
                    <a:pt x="0" y="0"/>
                  </a:moveTo>
                  <a:lnTo>
                    <a:pt x="5184742" y="0"/>
                  </a:lnTo>
                  <a:lnTo>
                    <a:pt x="5184742" y="1496243"/>
                  </a:lnTo>
                  <a:lnTo>
                    <a:pt x="0" y="1496243"/>
                  </a:lnTo>
                  <a:close/>
                </a:path>
              </a:pathLst>
            </a:custGeom>
            <a:solidFill>
              <a:srgbClr val="9E8E7E"/>
            </a:solidFill>
          </p:spPr>
          <p:txBody>
            <a:bodyPr/>
            <a:lstStyle/>
            <a:p>
              <a:endParaRPr lang="en-ID"/>
            </a:p>
          </p:txBody>
        </p:sp>
        <p:sp>
          <p:nvSpPr>
            <p:cNvPr id="4" name="TextBox 4"/>
            <p:cNvSpPr txBox="1"/>
            <p:nvPr/>
          </p:nvSpPr>
          <p:spPr>
            <a:xfrm>
              <a:off x="0" y="-57150"/>
              <a:ext cx="5184741" cy="1553393"/>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1611975" y="-3537174"/>
            <a:ext cx="7074348" cy="7074348"/>
          </a:xfrm>
          <a:custGeom>
            <a:avLst/>
            <a:gdLst/>
            <a:ahLst/>
            <a:cxnLst/>
            <a:rect l="l" t="t" r="r" b="b"/>
            <a:pathLst>
              <a:path w="7074348" h="7074348">
                <a:moveTo>
                  <a:pt x="0" y="0"/>
                </a:moveTo>
                <a:lnTo>
                  <a:pt x="7074348" y="0"/>
                </a:lnTo>
                <a:lnTo>
                  <a:pt x="7074348" y="7074348"/>
                </a:lnTo>
                <a:lnTo>
                  <a:pt x="0" y="70743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sp>
        <p:nvSpPr>
          <p:cNvPr id="6" name="Freeform 6"/>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D"/>
          </a:p>
        </p:txBody>
      </p:sp>
      <p:sp>
        <p:nvSpPr>
          <p:cNvPr id="7" name="TextBox 7"/>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FFFFFF"/>
                </a:solidFill>
                <a:latin typeface="Coco Gothic"/>
                <a:ea typeface="Coco Gothic"/>
                <a:cs typeface="Coco Gothic"/>
                <a:sym typeface="Coco Gothic"/>
              </a:rPr>
              <a:t>UNIVERSITAS </a:t>
            </a:r>
          </a:p>
        </p:txBody>
      </p:sp>
      <p:sp>
        <p:nvSpPr>
          <p:cNvPr id="8" name="TextBox 8"/>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FFFFFF"/>
                </a:solidFill>
                <a:latin typeface="Coco Gothic Bold"/>
                <a:ea typeface="Coco Gothic Bold"/>
                <a:cs typeface="Coco Gothic Bold"/>
                <a:sym typeface="Coco Gothic Bold"/>
              </a:rPr>
              <a:t>KEITHSTON</a:t>
            </a:r>
          </a:p>
        </p:txBody>
      </p:sp>
      <p:grpSp>
        <p:nvGrpSpPr>
          <p:cNvPr id="9" name="Group 9"/>
          <p:cNvGrpSpPr/>
          <p:nvPr/>
        </p:nvGrpSpPr>
        <p:grpSpPr>
          <a:xfrm>
            <a:off x="14007896" y="9303132"/>
            <a:ext cx="3245450" cy="378460"/>
            <a:chOff x="0" y="0"/>
            <a:chExt cx="4327267" cy="504613"/>
          </a:xfrm>
        </p:grpSpPr>
        <p:sp>
          <p:nvSpPr>
            <p:cNvPr id="10" name="TextBox 10"/>
            <p:cNvSpPr txBox="1"/>
            <p:nvPr/>
          </p:nvSpPr>
          <p:spPr>
            <a:xfrm>
              <a:off x="0" y="20382"/>
              <a:ext cx="3493131" cy="406699"/>
            </a:xfrm>
            <a:prstGeom prst="rect">
              <a:avLst/>
            </a:prstGeom>
          </p:spPr>
          <p:txBody>
            <a:bodyPr lIns="0" tIns="0" rIns="0" bIns="0" rtlCol="0" anchor="t">
              <a:spAutoFit/>
            </a:bodyPr>
            <a:lstStyle/>
            <a:p>
              <a:pPr algn="l">
                <a:lnSpc>
                  <a:spcPts val="2416"/>
                </a:lnSpc>
              </a:pPr>
              <a:r>
                <a:rPr lang="en-US" sz="1726" b="1">
                  <a:solidFill>
                    <a:srgbClr val="343434"/>
                  </a:solidFill>
                  <a:latin typeface="Coco Gothic Heavy"/>
                  <a:ea typeface="Coco Gothic Heavy"/>
                  <a:cs typeface="Coco Gothic Heavy"/>
                  <a:sym typeface="Coco Gothic Heavy"/>
                </a:rPr>
                <a:t>SEMINAR PROPOSAL</a:t>
              </a:r>
            </a:p>
          </p:txBody>
        </p:sp>
        <p:sp>
          <p:nvSpPr>
            <p:cNvPr id="11" name="TextBox 11"/>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a:solidFill>
                    <a:srgbClr val="343434"/>
                  </a:solidFill>
                  <a:latin typeface="Coco Gothic Heavy"/>
                  <a:ea typeface="Coco Gothic Heavy"/>
                  <a:cs typeface="Coco Gothic Heavy"/>
                  <a:sym typeface="Coco Gothic Heavy"/>
                </a:rPr>
                <a:t>13</a:t>
              </a:r>
            </a:p>
          </p:txBody>
        </p:sp>
        <p:sp>
          <p:nvSpPr>
            <p:cNvPr id="12" name="AutoShape 12"/>
            <p:cNvSpPr/>
            <p:nvPr/>
          </p:nvSpPr>
          <p:spPr>
            <a:xfrm>
              <a:off x="3493131" y="20147"/>
              <a:ext cx="0" cy="405967"/>
            </a:xfrm>
            <a:prstGeom prst="line">
              <a:avLst/>
            </a:prstGeom>
            <a:ln w="50800" cap="flat">
              <a:solidFill>
                <a:srgbClr val="343434"/>
              </a:solidFill>
              <a:prstDash val="solid"/>
              <a:headEnd type="none" w="sm" len="sm"/>
              <a:tailEnd type="none" w="sm" len="sm"/>
            </a:ln>
          </p:spPr>
          <p:txBody>
            <a:bodyPr/>
            <a:lstStyle/>
            <a:p>
              <a:endParaRPr lang="en-ID"/>
            </a:p>
          </p:txBody>
        </p:sp>
      </p:grpSp>
      <p:grpSp>
        <p:nvGrpSpPr>
          <p:cNvPr id="13" name="Group 13"/>
          <p:cNvGrpSpPr/>
          <p:nvPr/>
        </p:nvGrpSpPr>
        <p:grpSpPr>
          <a:xfrm>
            <a:off x="-772763" y="9925307"/>
            <a:ext cx="19685815" cy="727383"/>
            <a:chOff x="0" y="0"/>
            <a:chExt cx="5184741" cy="191574"/>
          </a:xfrm>
        </p:grpSpPr>
        <p:sp>
          <p:nvSpPr>
            <p:cNvPr id="14" name="Freeform 14"/>
            <p:cNvSpPr/>
            <p:nvPr/>
          </p:nvSpPr>
          <p:spPr>
            <a:xfrm>
              <a:off x="0" y="0"/>
              <a:ext cx="5184742" cy="191574"/>
            </a:xfrm>
            <a:custGeom>
              <a:avLst/>
              <a:gdLst/>
              <a:ahLst/>
              <a:cxnLst/>
              <a:rect l="l" t="t" r="r" b="b"/>
              <a:pathLst>
                <a:path w="5184742" h="191574">
                  <a:moveTo>
                    <a:pt x="0" y="0"/>
                  </a:moveTo>
                  <a:lnTo>
                    <a:pt x="5184742" y="0"/>
                  </a:lnTo>
                  <a:lnTo>
                    <a:pt x="5184742" y="191574"/>
                  </a:lnTo>
                  <a:lnTo>
                    <a:pt x="0" y="191574"/>
                  </a:lnTo>
                  <a:close/>
                </a:path>
              </a:pathLst>
            </a:custGeom>
            <a:solidFill>
              <a:srgbClr val="9E8E7E"/>
            </a:solidFill>
          </p:spPr>
          <p:txBody>
            <a:bodyPr/>
            <a:lstStyle/>
            <a:p>
              <a:endParaRPr lang="en-ID"/>
            </a:p>
          </p:txBody>
        </p:sp>
        <p:sp>
          <p:nvSpPr>
            <p:cNvPr id="15" name="TextBox 15"/>
            <p:cNvSpPr txBox="1"/>
            <p:nvPr/>
          </p:nvSpPr>
          <p:spPr>
            <a:xfrm>
              <a:off x="0" y="-57150"/>
              <a:ext cx="5184741" cy="248724"/>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2205525" y="5341675"/>
            <a:ext cx="6938475" cy="1763356"/>
            <a:chOff x="0" y="0"/>
            <a:chExt cx="9251300" cy="2351141"/>
          </a:xfrm>
        </p:grpSpPr>
        <p:sp>
          <p:nvSpPr>
            <p:cNvPr id="17" name="TextBox 17"/>
            <p:cNvSpPr txBox="1"/>
            <p:nvPr/>
          </p:nvSpPr>
          <p:spPr>
            <a:xfrm>
              <a:off x="0" y="42223"/>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Link Name</a:t>
              </a:r>
            </a:p>
          </p:txBody>
        </p:sp>
        <p:grpSp>
          <p:nvGrpSpPr>
            <p:cNvPr id="18" name="Group 18"/>
            <p:cNvGrpSpPr/>
            <p:nvPr/>
          </p:nvGrpSpPr>
          <p:grpSpPr>
            <a:xfrm>
              <a:off x="3042815" y="0"/>
              <a:ext cx="6208486" cy="641706"/>
              <a:chOff x="0" y="0"/>
              <a:chExt cx="1226368" cy="126757"/>
            </a:xfrm>
          </p:grpSpPr>
          <p:sp>
            <p:nvSpPr>
              <p:cNvPr id="19" name="Freeform 19"/>
              <p:cNvSpPr/>
              <p:nvPr/>
            </p:nvSpPr>
            <p:spPr>
              <a:xfrm>
                <a:off x="0" y="0"/>
                <a:ext cx="1226368" cy="126757"/>
              </a:xfrm>
              <a:custGeom>
                <a:avLst/>
                <a:gdLst/>
                <a:ahLst/>
                <a:cxnLst/>
                <a:rect l="l" t="t" r="r" b="b"/>
                <a:pathLst>
                  <a:path w="1226368" h="126757">
                    <a:moveTo>
                      <a:pt x="0" y="0"/>
                    </a:moveTo>
                    <a:lnTo>
                      <a:pt x="1226368" y="0"/>
                    </a:lnTo>
                    <a:lnTo>
                      <a:pt x="1226368" y="126757"/>
                    </a:lnTo>
                    <a:lnTo>
                      <a:pt x="0" y="126757"/>
                    </a:lnTo>
                    <a:close/>
                  </a:path>
                </a:pathLst>
              </a:custGeom>
              <a:solidFill>
                <a:srgbClr val="DCD0C0"/>
              </a:solidFill>
            </p:spPr>
            <p:txBody>
              <a:bodyPr/>
              <a:lstStyle/>
              <a:p>
                <a:endParaRPr lang="en-ID"/>
              </a:p>
            </p:txBody>
          </p:sp>
          <p:sp>
            <p:nvSpPr>
              <p:cNvPr id="20" name="TextBox 20"/>
              <p:cNvSpPr txBox="1"/>
              <p:nvPr/>
            </p:nvSpPr>
            <p:spPr>
              <a:xfrm>
                <a:off x="0" y="-57150"/>
                <a:ext cx="1226368" cy="183907"/>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0" y="823454"/>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Brief Description</a:t>
              </a:r>
            </a:p>
          </p:txBody>
        </p:sp>
        <p:grpSp>
          <p:nvGrpSpPr>
            <p:cNvPr id="22" name="Group 22"/>
            <p:cNvGrpSpPr/>
            <p:nvPr/>
          </p:nvGrpSpPr>
          <p:grpSpPr>
            <a:xfrm>
              <a:off x="3042815" y="770360"/>
              <a:ext cx="6208486" cy="1580782"/>
              <a:chOff x="0" y="0"/>
              <a:chExt cx="1226368" cy="312253"/>
            </a:xfrm>
          </p:grpSpPr>
          <p:sp>
            <p:nvSpPr>
              <p:cNvPr id="23" name="Freeform 23"/>
              <p:cNvSpPr/>
              <p:nvPr/>
            </p:nvSpPr>
            <p:spPr>
              <a:xfrm>
                <a:off x="0" y="0"/>
                <a:ext cx="1226368" cy="312253"/>
              </a:xfrm>
              <a:custGeom>
                <a:avLst/>
                <a:gdLst/>
                <a:ahLst/>
                <a:cxnLst/>
                <a:rect l="l" t="t" r="r" b="b"/>
                <a:pathLst>
                  <a:path w="1226368" h="312253">
                    <a:moveTo>
                      <a:pt x="0" y="0"/>
                    </a:moveTo>
                    <a:lnTo>
                      <a:pt x="1226368" y="0"/>
                    </a:lnTo>
                    <a:lnTo>
                      <a:pt x="1226368" y="312253"/>
                    </a:lnTo>
                    <a:lnTo>
                      <a:pt x="0" y="312253"/>
                    </a:lnTo>
                    <a:close/>
                  </a:path>
                </a:pathLst>
              </a:custGeom>
              <a:solidFill>
                <a:srgbClr val="DCD0C0"/>
              </a:solidFill>
            </p:spPr>
            <p:txBody>
              <a:bodyPr/>
              <a:lstStyle/>
              <a:p>
                <a:endParaRPr lang="en-ID"/>
              </a:p>
            </p:txBody>
          </p:sp>
          <p:sp>
            <p:nvSpPr>
              <p:cNvPr id="24" name="TextBox 24"/>
              <p:cNvSpPr txBox="1"/>
              <p:nvPr/>
            </p:nvSpPr>
            <p:spPr>
              <a:xfrm>
                <a:off x="0" y="-57150"/>
                <a:ext cx="1226368" cy="369403"/>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25" name="Group 25"/>
          <p:cNvGrpSpPr/>
          <p:nvPr/>
        </p:nvGrpSpPr>
        <p:grpSpPr>
          <a:xfrm>
            <a:off x="2205525" y="7305056"/>
            <a:ext cx="6938475" cy="1763356"/>
            <a:chOff x="0" y="0"/>
            <a:chExt cx="9251300" cy="2351141"/>
          </a:xfrm>
        </p:grpSpPr>
        <p:sp>
          <p:nvSpPr>
            <p:cNvPr id="26" name="TextBox 26"/>
            <p:cNvSpPr txBox="1"/>
            <p:nvPr/>
          </p:nvSpPr>
          <p:spPr>
            <a:xfrm>
              <a:off x="0" y="42223"/>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Link Name</a:t>
              </a:r>
            </a:p>
          </p:txBody>
        </p:sp>
        <p:grpSp>
          <p:nvGrpSpPr>
            <p:cNvPr id="27" name="Group 27"/>
            <p:cNvGrpSpPr/>
            <p:nvPr/>
          </p:nvGrpSpPr>
          <p:grpSpPr>
            <a:xfrm>
              <a:off x="3042815" y="0"/>
              <a:ext cx="6208486" cy="641706"/>
              <a:chOff x="0" y="0"/>
              <a:chExt cx="1226368" cy="126757"/>
            </a:xfrm>
          </p:grpSpPr>
          <p:sp>
            <p:nvSpPr>
              <p:cNvPr id="28" name="Freeform 28"/>
              <p:cNvSpPr/>
              <p:nvPr/>
            </p:nvSpPr>
            <p:spPr>
              <a:xfrm>
                <a:off x="0" y="0"/>
                <a:ext cx="1226368" cy="126757"/>
              </a:xfrm>
              <a:custGeom>
                <a:avLst/>
                <a:gdLst/>
                <a:ahLst/>
                <a:cxnLst/>
                <a:rect l="l" t="t" r="r" b="b"/>
                <a:pathLst>
                  <a:path w="1226368" h="126757">
                    <a:moveTo>
                      <a:pt x="0" y="0"/>
                    </a:moveTo>
                    <a:lnTo>
                      <a:pt x="1226368" y="0"/>
                    </a:lnTo>
                    <a:lnTo>
                      <a:pt x="1226368" y="126757"/>
                    </a:lnTo>
                    <a:lnTo>
                      <a:pt x="0" y="126757"/>
                    </a:lnTo>
                    <a:close/>
                  </a:path>
                </a:pathLst>
              </a:custGeom>
              <a:solidFill>
                <a:srgbClr val="DCD0C0"/>
              </a:solidFill>
            </p:spPr>
            <p:txBody>
              <a:bodyPr/>
              <a:lstStyle/>
              <a:p>
                <a:endParaRPr lang="en-ID"/>
              </a:p>
            </p:txBody>
          </p:sp>
          <p:sp>
            <p:nvSpPr>
              <p:cNvPr id="29" name="TextBox 29"/>
              <p:cNvSpPr txBox="1"/>
              <p:nvPr/>
            </p:nvSpPr>
            <p:spPr>
              <a:xfrm>
                <a:off x="0" y="-57150"/>
                <a:ext cx="1226368" cy="183907"/>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30"/>
            <p:cNvSpPr txBox="1"/>
            <p:nvPr/>
          </p:nvSpPr>
          <p:spPr>
            <a:xfrm>
              <a:off x="0" y="823454"/>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Brief Description</a:t>
              </a:r>
            </a:p>
          </p:txBody>
        </p:sp>
        <p:grpSp>
          <p:nvGrpSpPr>
            <p:cNvPr id="31" name="Group 31"/>
            <p:cNvGrpSpPr/>
            <p:nvPr/>
          </p:nvGrpSpPr>
          <p:grpSpPr>
            <a:xfrm>
              <a:off x="3042815" y="770360"/>
              <a:ext cx="6208486" cy="1580782"/>
              <a:chOff x="0" y="0"/>
              <a:chExt cx="1226368" cy="312253"/>
            </a:xfrm>
          </p:grpSpPr>
          <p:sp>
            <p:nvSpPr>
              <p:cNvPr id="32" name="Freeform 32"/>
              <p:cNvSpPr/>
              <p:nvPr/>
            </p:nvSpPr>
            <p:spPr>
              <a:xfrm>
                <a:off x="0" y="0"/>
                <a:ext cx="1226368" cy="312253"/>
              </a:xfrm>
              <a:custGeom>
                <a:avLst/>
                <a:gdLst/>
                <a:ahLst/>
                <a:cxnLst/>
                <a:rect l="l" t="t" r="r" b="b"/>
                <a:pathLst>
                  <a:path w="1226368" h="312253">
                    <a:moveTo>
                      <a:pt x="0" y="0"/>
                    </a:moveTo>
                    <a:lnTo>
                      <a:pt x="1226368" y="0"/>
                    </a:lnTo>
                    <a:lnTo>
                      <a:pt x="1226368" y="312253"/>
                    </a:lnTo>
                    <a:lnTo>
                      <a:pt x="0" y="312253"/>
                    </a:lnTo>
                    <a:close/>
                  </a:path>
                </a:pathLst>
              </a:custGeom>
              <a:solidFill>
                <a:srgbClr val="DCD0C0"/>
              </a:solidFill>
            </p:spPr>
            <p:txBody>
              <a:bodyPr/>
              <a:lstStyle/>
              <a:p>
                <a:endParaRPr lang="en-ID"/>
              </a:p>
            </p:txBody>
          </p:sp>
          <p:sp>
            <p:nvSpPr>
              <p:cNvPr id="33" name="TextBox 33"/>
              <p:cNvSpPr txBox="1"/>
              <p:nvPr/>
            </p:nvSpPr>
            <p:spPr>
              <a:xfrm>
                <a:off x="0" y="-57150"/>
                <a:ext cx="1226368" cy="369403"/>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34" name="Group 34"/>
          <p:cNvGrpSpPr/>
          <p:nvPr/>
        </p:nvGrpSpPr>
        <p:grpSpPr>
          <a:xfrm>
            <a:off x="10014911" y="5341675"/>
            <a:ext cx="6938475" cy="1763356"/>
            <a:chOff x="0" y="0"/>
            <a:chExt cx="9251300" cy="2351141"/>
          </a:xfrm>
        </p:grpSpPr>
        <p:sp>
          <p:nvSpPr>
            <p:cNvPr id="35" name="TextBox 35"/>
            <p:cNvSpPr txBox="1"/>
            <p:nvPr/>
          </p:nvSpPr>
          <p:spPr>
            <a:xfrm>
              <a:off x="0" y="42223"/>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Link Name</a:t>
              </a:r>
            </a:p>
          </p:txBody>
        </p:sp>
        <p:grpSp>
          <p:nvGrpSpPr>
            <p:cNvPr id="36" name="Group 36"/>
            <p:cNvGrpSpPr/>
            <p:nvPr/>
          </p:nvGrpSpPr>
          <p:grpSpPr>
            <a:xfrm>
              <a:off x="3042815" y="0"/>
              <a:ext cx="6208486" cy="641706"/>
              <a:chOff x="0" y="0"/>
              <a:chExt cx="1226368" cy="126757"/>
            </a:xfrm>
          </p:grpSpPr>
          <p:sp>
            <p:nvSpPr>
              <p:cNvPr id="37" name="Freeform 37"/>
              <p:cNvSpPr/>
              <p:nvPr/>
            </p:nvSpPr>
            <p:spPr>
              <a:xfrm>
                <a:off x="0" y="0"/>
                <a:ext cx="1226368" cy="126757"/>
              </a:xfrm>
              <a:custGeom>
                <a:avLst/>
                <a:gdLst/>
                <a:ahLst/>
                <a:cxnLst/>
                <a:rect l="l" t="t" r="r" b="b"/>
                <a:pathLst>
                  <a:path w="1226368" h="126757">
                    <a:moveTo>
                      <a:pt x="0" y="0"/>
                    </a:moveTo>
                    <a:lnTo>
                      <a:pt x="1226368" y="0"/>
                    </a:lnTo>
                    <a:lnTo>
                      <a:pt x="1226368" y="126757"/>
                    </a:lnTo>
                    <a:lnTo>
                      <a:pt x="0" y="126757"/>
                    </a:lnTo>
                    <a:close/>
                  </a:path>
                </a:pathLst>
              </a:custGeom>
              <a:solidFill>
                <a:srgbClr val="DCD0C0"/>
              </a:solidFill>
            </p:spPr>
            <p:txBody>
              <a:bodyPr/>
              <a:lstStyle/>
              <a:p>
                <a:endParaRPr lang="en-ID"/>
              </a:p>
            </p:txBody>
          </p:sp>
          <p:sp>
            <p:nvSpPr>
              <p:cNvPr id="38" name="TextBox 38"/>
              <p:cNvSpPr txBox="1"/>
              <p:nvPr/>
            </p:nvSpPr>
            <p:spPr>
              <a:xfrm>
                <a:off x="0" y="-57150"/>
                <a:ext cx="1226368" cy="183907"/>
              </a:xfrm>
              <a:prstGeom prst="rect">
                <a:avLst/>
              </a:prstGeom>
            </p:spPr>
            <p:txBody>
              <a:bodyPr lIns="50800" tIns="50800" rIns="50800" bIns="50800" rtlCol="0" anchor="ctr"/>
              <a:lstStyle/>
              <a:p>
                <a:pPr algn="ctr">
                  <a:lnSpc>
                    <a:spcPts val="2659"/>
                  </a:lnSpc>
                  <a:spcBef>
                    <a:spcPct val="0"/>
                  </a:spcBef>
                </a:pPr>
                <a:endParaRPr/>
              </a:p>
            </p:txBody>
          </p:sp>
        </p:grpSp>
        <p:sp>
          <p:nvSpPr>
            <p:cNvPr id="39" name="TextBox 39"/>
            <p:cNvSpPr txBox="1"/>
            <p:nvPr/>
          </p:nvSpPr>
          <p:spPr>
            <a:xfrm>
              <a:off x="0" y="823454"/>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Brief Description</a:t>
              </a:r>
            </a:p>
          </p:txBody>
        </p:sp>
        <p:grpSp>
          <p:nvGrpSpPr>
            <p:cNvPr id="40" name="Group 40"/>
            <p:cNvGrpSpPr/>
            <p:nvPr/>
          </p:nvGrpSpPr>
          <p:grpSpPr>
            <a:xfrm>
              <a:off x="3042815" y="770360"/>
              <a:ext cx="6208486" cy="1580782"/>
              <a:chOff x="0" y="0"/>
              <a:chExt cx="1226368" cy="312253"/>
            </a:xfrm>
          </p:grpSpPr>
          <p:sp>
            <p:nvSpPr>
              <p:cNvPr id="41" name="Freeform 41"/>
              <p:cNvSpPr/>
              <p:nvPr/>
            </p:nvSpPr>
            <p:spPr>
              <a:xfrm>
                <a:off x="0" y="0"/>
                <a:ext cx="1226368" cy="312253"/>
              </a:xfrm>
              <a:custGeom>
                <a:avLst/>
                <a:gdLst/>
                <a:ahLst/>
                <a:cxnLst/>
                <a:rect l="l" t="t" r="r" b="b"/>
                <a:pathLst>
                  <a:path w="1226368" h="312253">
                    <a:moveTo>
                      <a:pt x="0" y="0"/>
                    </a:moveTo>
                    <a:lnTo>
                      <a:pt x="1226368" y="0"/>
                    </a:lnTo>
                    <a:lnTo>
                      <a:pt x="1226368" y="312253"/>
                    </a:lnTo>
                    <a:lnTo>
                      <a:pt x="0" y="312253"/>
                    </a:lnTo>
                    <a:close/>
                  </a:path>
                </a:pathLst>
              </a:custGeom>
              <a:solidFill>
                <a:srgbClr val="DCD0C0"/>
              </a:solidFill>
            </p:spPr>
            <p:txBody>
              <a:bodyPr/>
              <a:lstStyle/>
              <a:p>
                <a:endParaRPr lang="en-ID"/>
              </a:p>
            </p:txBody>
          </p:sp>
          <p:sp>
            <p:nvSpPr>
              <p:cNvPr id="42" name="TextBox 42"/>
              <p:cNvSpPr txBox="1"/>
              <p:nvPr/>
            </p:nvSpPr>
            <p:spPr>
              <a:xfrm>
                <a:off x="0" y="-57150"/>
                <a:ext cx="1226368" cy="369403"/>
              </a:xfrm>
              <a:prstGeom prst="rect">
                <a:avLst/>
              </a:prstGeom>
            </p:spPr>
            <p:txBody>
              <a:bodyPr lIns="50800" tIns="50800" rIns="50800" bIns="50800" rtlCol="0" anchor="ctr"/>
              <a:lstStyle/>
              <a:p>
                <a:pPr algn="ctr">
                  <a:lnSpc>
                    <a:spcPts val="2659"/>
                  </a:lnSpc>
                  <a:spcBef>
                    <a:spcPct val="0"/>
                  </a:spcBef>
                </a:pPr>
                <a:endParaRPr/>
              </a:p>
            </p:txBody>
          </p:sp>
        </p:grpSp>
      </p:grpSp>
      <p:grpSp>
        <p:nvGrpSpPr>
          <p:cNvPr id="43" name="Group 43"/>
          <p:cNvGrpSpPr/>
          <p:nvPr/>
        </p:nvGrpSpPr>
        <p:grpSpPr>
          <a:xfrm>
            <a:off x="10014911" y="7305056"/>
            <a:ext cx="6938475" cy="1763356"/>
            <a:chOff x="0" y="0"/>
            <a:chExt cx="9251300" cy="2351141"/>
          </a:xfrm>
        </p:grpSpPr>
        <p:sp>
          <p:nvSpPr>
            <p:cNvPr id="44" name="TextBox 44"/>
            <p:cNvSpPr txBox="1"/>
            <p:nvPr/>
          </p:nvSpPr>
          <p:spPr>
            <a:xfrm>
              <a:off x="0" y="42223"/>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Link Name</a:t>
              </a:r>
            </a:p>
          </p:txBody>
        </p:sp>
        <p:grpSp>
          <p:nvGrpSpPr>
            <p:cNvPr id="45" name="Group 45"/>
            <p:cNvGrpSpPr/>
            <p:nvPr/>
          </p:nvGrpSpPr>
          <p:grpSpPr>
            <a:xfrm>
              <a:off x="3042815" y="0"/>
              <a:ext cx="6208486" cy="641706"/>
              <a:chOff x="0" y="0"/>
              <a:chExt cx="1226368" cy="126757"/>
            </a:xfrm>
          </p:grpSpPr>
          <p:sp>
            <p:nvSpPr>
              <p:cNvPr id="46" name="Freeform 46"/>
              <p:cNvSpPr/>
              <p:nvPr/>
            </p:nvSpPr>
            <p:spPr>
              <a:xfrm>
                <a:off x="0" y="0"/>
                <a:ext cx="1226368" cy="126757"/>
              </a:xfrm>
              <a:custGeom>
                <a:avLst/>
                <a:gdLst/>
                <a:ahLst/>
                <a:cxnLst/>
                <a:rect l="l" t="t" r="r" b="b"/>
                <a:pathLst>
                  <a:path w="1226368" h="126757">
                    <a:moveTo>
                      <a:pt x="0" y="0"/>
                    </a:moveTo>
                    <a:lnTo>
                      <a:pt x="1226368" y="0"/>
                    </a:lnTo>
                    <a:lnTo>
                      <a:pt x="1226368" y="126757"/>
                    </a:lnTo>
                    <a:lnTo>
                      <a:pt x="0" y="126757"/>
                    </a:lnTo>
                    <a:close/>
                  </a:path>
                </a:pathLst>
              </a:custGeom>
              <a:solidFill>
                <a:srgbClr val="DCD0C0"/>
              </a:solidFill>
            </p:spPr>
            <p:txBody>
              <a:bodyPr/>
              <a:lstStyle/>
              <a:p>
                <a:endParaRPr lang="en-ID"/>
              </a:p>
            </p:txBody>
          </p:sp>
          <p:sp>
            <p:nvSpPr>
              <p:cNvPr id="47" name="TextBox 47"/>
              <p:cNvSpPr txBox="1"/>
              <p:nvPr/>
            </p:nvSpPr>
            <p:spPr>
              <a:xfrm>
                <a:off x="0" y="-57150"/>
                <a:ext cx="1226368" cy="183907"/>
              </a:xfrm>
              <a:prstGeom prst="rect">
                <a:avLst/>
              </a:prstGeom>
            </p:spPr>
            <p:txBody>
              <a:bodyPr lIns="50800" tIns="50800" rIns="50800" bIns="50800" rtlCol="0" anchor="ctr"/>
              <a:lstStyle/>
              <a:p>
                <a:pPr algn="ctr">
                  <a:lnSpc>
                    <a:spcPts val="2659"/>
                  </a:lnSpc>
                  <a:spcBef>
                    <a:spcPct val="0"/>
                  </a:spcBef>
                </a:pPr>
                <a:endParaRPr/>
              </a:p>
            </p:txBody>
          </p:sp>
        </p:grpSp>
        <p:sp>
          <p:nvSpPr>
            <p:cNvPr id="48" name="TextBox 48"/>
            <p:cNvSpPr txBox="1"/>
            <p:nvPr/>
          </p:nvSpPr>
          <p:spPr>
            <a:xfrm>
              <a:off x="0" y="823454"/>
              <a:ext cx="3378890" cy="468841"/>
            </a:xfrm>
            <a:prstGeom prst="rect">
              <a:avLst/>
            </a:prstGeom>
          </p:spPr>
          <p:txBody>
            <a:bodyPr lIns="0" tIns="0" rIns="0" bIns="0" rtlCol="0" anchor="t">
              <a:spAutoFit/>
            </a:bodyPr>
            <a:lstStyle/>
            <a:p>
              <a:pPr algn="l">
                <a:lnSpc>
                  <a:spcPts val="2800"/>
                </a:lnSpc>
              </a:pPr>
              <a:r>
                <a:rPr lang="en-US" sz="2000">
                  <a:solidFill>
                    <a:srgbClr val="343434"/>
                  </a:solidFill>
                  <a:latin typeface="Poppins"/>
                  <a:ea typeface="Poppins"/>
                  <a:cs typeface="Poppins"/>
                  <a:sym typeface="Poppins"/>
                </a:rPr>
                <a:t>Brief Description</a:t>
              </a:r>
            </a:p>
          </p:txBody>
        </p:sp>
        <p:grpSp>
          <p:nvGrpSpPr>
            <p:cNvPr id="49" name="Group 49"/>
            <p:cNvGrpSpPr/>
            <p:nvPr/>
          </p:nvGrpSpPr>
          <p:grpSpPr>
            <a:xfrm>
              <a:off x="3042815" y="770360"/>
              <a:ext cx="6208486" cy="1580782"/>
              <a:chOff x="0" y="0"/>
              <a:chExt cx="1226368" cy="312253"/>
            </a:xfrm>
          </p:grpSpPr>
          <p:sp>
            <p:nvSpPr>
              <p:cNvPr id="50" name="Freeform 50"/>
              <p:cNvSpPr/>
              <p:nvPr/>
            </p:nvSpPr>
            <p:spPr>
              <a:xfrm>
                <a:off x="0" y="0"/>
                <a:ext cx="1226368" cy="312253"/>
              </a:xfrm>
              <a:custGeom>
                <a:avLst/>
                <a:gdLst/>
                <a:ahLst/>
                <a:cxnLst/>
                <a:rect l="l" t="t" r="r" b="b"/>
                <a:pathLst>
                  <a:path w="1226368" h="312253">
                    <a:moveTo>
                      <a:pt x="0" y="0"/>
                    </a:moveTo>
                    <a:lnTo>
                      <a:pt x="1226368" y="0"/>
                    </a:lnTo>
                    <a:lnTo>
                      <a:pt x="1226368" y="312253"/>
                    </a:lnTo>
                    <a:lnTo>
                      <a:pt x="0" y="312253"/>
                    </a:lnTo>
                    <a:close/>
                  </a:path>
                </a:pathLst>
              </a:custGeom>
              <a:solidFill>
                <a:srgbClr val="DCD0C0"/>
              </a:solidFill>
            </p:spPr>
            <p:txBody>
              <a:bodyPr/>
              <a:lstStyle/>
              <a:p>
                <a:endParaRPr lang="en-ID"/>
              </a:p>
            </p:txBody>
          </p:sp>
          <p:sp>
            <p:nvSpPr>
              <p:cNvPr id="51" name="TextBox 51"/>
              <p:cNvSpPr txBox="1"/>
              <p:nvPr/>
            </p:nvSpPr>
            <p:spPr>
              <a:xfrm>
                <a:off x="0" y="-57150"/>
                <a:ext cx="1226368" cy="369403"/>
              </a:xfrm>
              <a:prstGeom prst="rect">
                <a:avLst/>
              </a:prstGeom>
            </p:spPr>
            <p:txBody>
              <a:bodyPr lIns="50800" tIns="50800" rIns="50800" bIns="50800" rtlCol="0" anchor="ctr"/>
              <a:lstStyle/>
              <a:p>
                <a:pPr algn="ctr">
                  <a:lnSpc>
                    <a:spcPts val="2659"/>
                  </a:lnSpc>
                  <a:spcBef>
                    <a:spcPct val="0"/>
                  </a:spcBef>
                </a:pPr>
                <a:endParaRPr/>
              </a:p>
            </p:txBody>
          </p:sp>
        </p:grpSp>
      </p:grpSp>
      <p:sp>
        <p:nvSpPr>
          <p:cNvPr id="52" name="Freeform 52"/>
          <p:cNvSpPr/>
          <p:nvPr/>
        </p:nvSpPr>
        <p:spPr>
          <a:xfrm>
            <a:off x="-129022" y="4317762"/>
            <a:ext cx="1645471" cy="1651477"/>
          </a:xfrm>
          <a:custGeom>
            <a:avLst/>
            <a:gdLst/>
            <a:ahLst/>
            <a:cxnLst/>
            <a:rect l="l" t="t" r="r" b="b"/>
            <a:pathLst>
              <a:path w="1645471" h="1651477">
                <a:moveTo>
                  <a:pt x="0" y="0"/>
                </a:moveTo>
                <a:lnTo>
                  <a:pt x="1645472" y="0"/>
                </a:lnTo>
                <a:lnTo>
                  <a:pt x="1645472" y="1651476"/>
                </a:lnTo>
                <a:lnTo>
                  <a:pt x="0" y="16514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D"/>
          </a:p>
        </p:txBody>
      </p:sp>
      <p:sp>
        <p:nvSpPr>
          <p:cNvPr id="53" name="Freeform 53"/>
          <p:cNvSpPr/>
          <p:nvPr/>
        </p:nvSpPr>
        <p:spPr>
          <a:xfrm flipV="1">
            <a:off x="126964" y="7559862"/>
            <a:ext cx="2249255" cy="2249255"/>
          </a:xfrm>
          <a:custGeom>
            <a:avLst/>
            <a:gdLst/>
            <a:ahLst/>
            <a:cxnLst/>
            <a:rect l="l" t="t" r="r" b="b"/>
            <a:pathLst>
              <a:path w="2249255" h="2249255">
                <a:moveTo>
                  <a:pt x="0" y="2249255"/>
                </a:moveTo>
                <a:lnTo>
                  <a:pt x="2249255" y="2249255"/>
                </a:lnTo>
                <a:lnTo>
                  <a:pt x="2249255" y="0"/>
                </a:lnTo>
                <a:lnTo>
                  <a:pt x="0" y="0"/>
                </a:lnTo>
                <a:lnTo>
                  <a:pt x="0" y="2249255"/>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D"/>
          </a:p>
        </p:txBody>
      </p:sp>
      <p:sp>
        <p:nvSpPr>
          <p:cNvPr id="54" name="TextBox 54"/>
          <p:cNvSpPr txBox="1"/>
          <p:nvPr/>
        </p:nvSpPr>
        <p:spPr>
          <a:xfrm>
            <a:off x="2205525" y="2032298"/>
            <a:ext cx="6116219" cy="2573655"/>
          </a:xfrm>
          <a:prstGeom prst="rect">
            <a:avLst/>
          </a:prstGeom>
        </p:spPr>
        <p:txBody>
          <a:bodyPr lIns="0" tIns="0" rIns="0" bIns="0" rtlCol="0" anchor="t">
            <a:spAutoFit/>
          </a:bodyPr>
          <a:lstStyle/>
          <a:p>
            <a:pPr algn="l">
              <a:lnSpc>
                <a:spcPts val="6660"/>
              </a:lnSpc>
            </a:pPr>
            <a:r>
              <a:rPr lang="en-US" sz="6000" b="1">
                <a:solidFill>
                  <a:srgbClr val="FFFFFF"/>
                </a:solidFill>
                <a:latin typeface="Coco Gothic Heavy"/>
                <a:ea typeface="Coco Gothic Heavy"/>
                <a:cs typeface="Coco Gothic Heavy"/>
                <a:sym typeface="Coco Gothic Heavy"/>
              </a:rPr>
              <a:t>Referensi Sumber Penelitian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grpSp>
        <p:nvGrpSpPr>
          <p:cNvPr id="3" name="Group 3"/>
          <p:cNvGrpSpPr/>
          <p:nvPr/>
        </p:nvGrpSpPr>
        <p:grpSpPr>
          <a:xfrm>
            <a:off x="-698908" y="-529800"/>
            <a:ext cx="19685815" cy="891492"/>
            <a:chOff x="0" y="0"/>
            <a:chExt cx="5184741" cy="234796"/>
          </a:xfrm>
        </p:grpSpPr>
        <p:sp>
          <p:nvSpPr>
            <p:cNvPr id="4" name="Freeform 4"/>
            <p:cNvSpPr/>
            <p:nvPr/>
          </p:nvSpPr>
          <p:spPr>
            <a:xfrm>
              <a:off x="0" y="0"/>
              <a:ext cx="5184742" cy="234796"/>
            </a:xfrm>
            <a:custGeom>
              <a:avLst/>
              <a:gdLst/>
              <a:ahLst/>
              <a:cxnLst/>
              <a:rect l="l" t="t" r="r" b="b"/>
              <a:pathLst>
                <a:path w="5184742" h="234796">
                  <a:moveTo>
                    <a:pt x="0" y="0"/>
                  </a:moveTo>
                  <a:lnTo>
                    <a:pt x="5184742" y="0"/>
                  </a:lnTo>
                  <a:lnTo>
                    <a:pt x="5184742" y="234796"/>
                  </a:lnTo>
                  <a:lnTo>
                    <a:pt x="0" y="234796"/>
                  </a:lnTo>
                  <a:close/>
                </a:path>
              </a:pathLst>
            </a:custGeom>
            <a:solidFill>
              <a:srgbClr val="DCD0C0"/>
            </a:solidFill>
          </p:spPr>
          <p:txBody>
            <a:bodyPr/>
            <a:lstStyle/>
            <a:p>
              <a:endParaRPr lang="en-ID"/>
            </a:p>
          </p:txBody>
        </p:sp>
        <p:sp>
          <p:nvSpPr>
            <p:cNvPr id="5" name="TextBox 5"/>
            <p:cNvSpPr txBox="1"/>
            <p:nvPr/>
          </p:nvSpPr>
          <p:spPr>
            <a:xfrm>
              <a:off x="0" y="-57150"/>
              <a:ext cx="5184741" cy="291946"/>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14007896" y="9303132"/>
            <a:ext cx="3245450" cy="378460"/>
            <a:chOff x="0" y="0"/>
            <a:chExt cx="4327267" cy="504613"/>
          </a:xfrm>
        </p:grpSpPr>
        <p:sp>
          <p:nvSpPr>
            <p:cNvPr id="7" name="TextBox 7"/>
            <p:cNvSpPr txBox="1"/>
            <p:nvPr/>
          </p:nvSpPr>
          <p:spPr>
            <a:xfrm>
              <a:off x="0" y="20382"/>
              <a:ext cx="3493131" cy="406699"/>
            </a:xfrm>
            <a:prstGeom prst="rect">
              <a:avLst/>
            </a:prstGeom>
          </p:spPr>
          <p:txBody>
            <a:bodyPr lIns="0" tIns="0" rIns="0" bIns="0" rtlCol="0" anchor="t">
              <a:spAutoFit/>
            </a:bodyPr>
            <a:lstStyle/>
            <a:p>
              <a:pPr algn="l">
                <a:lnSpc>
                  <a:spcPts val="2416"/>
                </a:lnSpc>
              </a:pPr>
              <a:r>
                <a:rPr lang="en-US" sz="1726" b="1">
                  <a:solidFill>
                    <a:srgbClr val="343434"/>
                  </a:solidFill>
                  <a:latin typeface="Coco Gothic Heavy"/>
                  <a:ea typeface="Coco Gothic Heavy"/>
                  <a:cs typeface="Coco Gothic Heavy"/>
                  <a:sym typeface="Coco Gothic Heavy"/>
                </a:rPr>
                <a:t>SEMINAR PROPOSAL</a:t>
              </a:r>
            </a:p>
          </p:txBody>
        </p:sp>
        <p:sp>
          <p:nvSpPr>
            <p:cNvPr id="8" name="TextBox 8"/>
            <p:cNvSpPr txBox="1"/>
            <p:nvPr/>
          </p:nvSpPr>
          <p:spPr>
            <a:xfrm>
              <a:off x="3530953" y="-66675"/>
              <a:ext cx="796314" cy="571288"/>
            </a:xfrm>
            <a:prstGeom prst="rect">
              <a:avLst/>
            </a:prstGeom>
          </p:spPr>
          <p:txBody>
            <a:bodyPr lIns="0" tIns="0" rIns="0" bIns="0" rtlCol="0" anchor="t">
              <a:spAutoFit/>
            </a:bodyPr>
            <a:lstStyle/>
            <a:p>
              <a:pPr algn="ctr">
                <a:lnSpc>
                  <a:spcPts val="3499"/>
                </a:lnSpc>
              </a:pPr>
              <a:r>
                <a:rPr lang="en-US" sz="2499" b="1">
                  <a:solidFill>
                    <a:srgbClr val="343434"/>
                  </a:solidFill>
                  <a:latin typeface="Coco Gothic Heavy"/>
                  <a:ea typeface="Coco Gothic Heavy"/>
                  <a:cs typeface="Coco Gothic Heavy"/>
                  <a:sym typeface="Coco Gothic Heavy"/>
                </a:rPr>
                <a:t>14</a:t>
              </a:r>
            </a:p>
          </p:txBody>
        </p:sp>
        <p:sp>
          <p:nvSpPr>
            <p:cNvPr id="9" name="AutoShape 9"/>
            <p:cNvSpPr/>
            <p:nvPr/>
          </p:nvSpPr>
          <p:spPr>
            <a:xfrm>
              <a:off x="3493131" y="20147"/>
              <a:ext cx="0" cy="405967"/>
            </a:xfrm>
            <a:prstGeom prst="line">
              <a:avLst/>
            </a:prstGeom>
            <a:ln w="50800" cap="flat">
              <a:solidFill>
                <a:srgbClr val="DCD0C0"/>
              </a:solidFill>
              <a:prstDash val="solid"/>
              <a:headEnd type="none" w="sm" len="sm"/>
              <a:tailEnd type="none" w="sm" len="sm"/>
            </a:ln>
          </p:spPr>
          <p:txBody>
            <a:bodyPr/>
            <a:lstStyle/>
            <a:p>
              <a:endParaRPr lang="en-ID"/>
            </a:p>
          </p:txBody>
        </p:sp>
      </p:grpSp>
      <p:sp>
        <p:nvSpPr>
          <p:cNvPr id="10" name="Freeform 10"/>
          <p:cNvSpPr/>
          <p:nvPr/>
        </p:nvSpPr>
        <p:spPr>
          <a:xfrm>
            <a:off x="580740" y="2059406"/>
            <a:ext cx="2495412" cy="2495412"/>
          </a:xfrm>
          <a:custGeom>
            <a:avLst/>
            <a:gdLst/>
            <a:ahLst/>
            <a:cxnLst/>
            <a:rect l="l" t="t" r="r" b="b"/>
            <a:pathLst>
              <a:path w="2495412" h="2495412">
                <a:moveTo>
                  <a:pt x="0" y="0"/>
                </a:moveTo>
                <a:lnTo>
                  <a:pt x="2495413" y="0"/>
                </a:lnTo>
                <a:lnTo>
                  <a:pt x="2495413" y="2495413"/>
                </a:lnTo>
                <a:lnTo>
                  <a:pt x="0" y="24954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D"/>
          </a:p>
        </p:txBody>
      </p:sp>
      <p:grpSp>
        <p:nvGrpSpPr>
          <p:cNvPr id="11" name="Group 11"/>
          <p:cNvGrpSpPr/>
          <p:nvPr/>
        </p:nvGrpSpPr>
        <p:grpSpPr>
          <a:xfrm>
            <a:off x="1828447" y="3307112"/>
            <a:ext cx="5246370" cy="5246370"/>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6"/>
              <a:stretch>
                <a:fillRect l="-78173"/>
              </a:stretch>
            </a:blipFill>
          </p:spPr>
          <p:txBody>
            <a:bodyPr/>
            <a:lstStyle/>
            <a:p>
              <a:endParaRPr lang="en-ID"/>
            </a:p>
          </p:txBody>
        </p:sp>
      </p:grpSp>
      <p:sp>
        <p:nvSpPr>
          <p:cNvPr id="13" name="TextBox 13"/>
          <p:cNvSpPr txBox="1"/>
          <p:nvPr/>
        </p:nvSpPr>
        <p:spPr>
          <a:xfrm>
            <a:off x="13168197" y="4356238"/>
            <a:ext cx="3846870" cy="349250"/>
          </a:xfrm>
          <a:prstGeom prst="rect">
            <a:avLst/>
          </a:prstGeom>
        </p:spPr>
        <p:txBody>
          <a:bodyPr lIns="0" tIns="0" rIns="0" bIns="0" rtlCol="0" anchor="t">
            <a:spAutoFit/>
          </a:bodyPr>
          <a:lstStyle/>
          <a:p>
            <a:pPr algn="ctr">
              <a:lnSpc>
                <a:spcPts val="2499"/>
              </a:lnSpc>
            </a:pPr>
            <a:r>
              <a:rPr lang="en-US" sz="2499" b="1">
                <a:solidFill>
                  <a:srgbClr val="FFFFFF"/>
                </a:solidFill>
                <a:latin typeface="Coco Gothic Bold"/>
                <a:ea typeface="Coco Gothic Bold"/>
                <a:cs typeface="Coco Gothic Bold"/>
                <a:sym typeface="Coco Gothic Bold"/>
              </a:rPr>
              <a:t>METODE SATU</a:t>
            </a:r>
          </a:p>
        </p:txBody>
      </p:sp>
      <p:grpSp>
        <p:nvGrpSpPr>
          <p:cNvPr id="14" name="Group 14"/>
          <p:cNvGrpSpPr/>
          <p:nvPr/>
        </p:nvGrpSpPr>
        <p:grpSpPr>
          <a:xfrm>
            <a:off x="7498322" y="3307112"/>
            <a:ext cx="2479723" cy="2479723"/>
            <a:chOff x="0" y="0"/>
            <a:chExt cx="812800" cy="812800"/>
          </a:xfrm>
        </p:grpSpPr>
        <p:sp>
          <p:nvSpPr>
            <p:cNvPr id="15" name="Freeform 1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7"/>
              <a:stretch>
                <a:fillRect r="-50093"/>
              </a:stretch>
            </a:blipFill>
          </p:spPr>
          <p:txBody>
            <a:bodyPr/>
            <a:lstStyle/>
            <a:p>
              <a:endParaRPr lang="en-ID"/>
            </a:p>
          </p:txBody>
        </p:sp>
      </p:grpSp>
      <p:grpSp>
        <p:nvGrpSpPr>
          <p:cNvPr id="16" name="Group 16"/>
          <p:cNvGrpSpPr/>
          <p:nvPr/>
        </p:nvGrpSpPr>
        <p:grpSpPr>
          <a:xfrm>
            <a:off x="7498322" y="6073759"/>
            <a:ext cx="5378546" cy="2479723"/>
            <a:chOff x="0" y="0"/>
            <a:chExt cx="1762972" cy="812800"/>
          </a:xfrm>
        </p:grpSpPr>
        <p:sp>
          <p:nvSpPr>
            <p:cNvPr id="17" name="Freeform 17"/>
            <p:cNvSpPr/>
            <p:nvPr/>
          </p:nvSpPr>
          <p:spPr>
            <a:xfrm>
              <a:off x="0" y="0"/>
              <a:ext cx="1762972" cy="812800"/>
            </a:xfrm>
            <a:custGeom>
              <a:avLst/>
              <a:gdLst/>
              <a:ahLst/>
              <a:cxnLst/>
              <a:rect l="l" t="t" r="r" b="b"/>
              <a:pathLst>
                <a:path w="1762972" h="812800">
                  <a:moveTo>
                    <a:pt x="0" y="0"/>
                  </a:moveTo>
                  <a:lnTo>
                    <a:pt x="1762972" y="0"/>
                  </a:lnTo>
                  <a:lnTo>
                    <a:pt x="1762972" y="812800"/>
                  </a:lnTo>
                  <a:lnTo>
                    <a:pt x="0" y="812800"/>
                  </a:lnTo>
                  <a:close/>
                </a:path>
              </a:pathLst>
            </a:custGeom>
            <a:blipFill>
              <a:blip r:embed="rId8"/>
              <a:stretch>
                <a:fillRect t="-21441" b="-21441"/>
              </a:stretch>
            </a:blipFill>
          </p:spPr>
          <p:txBody>
            <a:bodyPr/>
            <a:lstStyle/>
            <a:p>
              <a:endParaRPr lang="en-ID"/>
            </a:p>
          </p:txBody>
        </p:sp>
      </p:grpSp>
      <p:grpSp>
        <p:nvGrpSpPr>
          <p:cNvPr id="18" name="Group 18"/>
          <p:cNvGrpSpPr/>
          <p:nvPr/>
        </p:nvGrpSpPr>
        <p:grpSpPr>
          <a:xfrm>
            <a:off x="10397145" y="3276714"/>
            <a:ext cx="2479723" cy="2479723"/>
            <a:chOff x="0" y="0"/>
            <a:chExt cx="812800" cy="812800"/>
          </a:xfrm>
        </p:grpSpPr>
        <p:sp>
          <p:nvSpPr>
            <p:cNvPr id="19" name="Freeform 19"/>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9"/>
              <a:stretch>
                <a:fillRect l="-43754" r="-6339"/>
              </a:stretch>
            </a:blipFill>
          </p:spPr>
          <p:txBody>
            <a:bodyPr/>
            <a:lstStyle/>
            <a:p>
              <a:endParaRPr lang="en-ID"/>
            </a:p>
          </p:txBody>
        </p:sp>
      </p:grpSp>
      <p:grpSp>
        <p:nvGrpSpPr>
          <p:cNvPr id="20" name="Group 20"/>
          <p:cNvGrpSpPr/>
          <p:nvPr/>
        </p:nvGrpSpPr>
        <p:grpSpPr>
          <a:xfrm>
            <a:off x="13295968" y="3307112"/>
            <a:ext cx="3089672" cy="5246370"/>
            <a:chOff x="0" y="0"/>
            <a:chExt cx="478671" cy="812800"/>
          </a:xfrm>
        </p:grpSpPr>
        <p:sp>
          <p:nvSpPr>
            <p:cNvPr id="21" name="Freeform 21"/>
            <p:cNvSpPr/>
            <p:nvPr/>
          </p:nvSpPr>
          <p:spPr>
            <a:xfrm>
              <a:off x="0" y="0"/>
              <a:ext cx="478671" cy="812800"/>
            </a:xfrm>
            <a:custGeom>
              <a:avLst/>
              <a:gdLst/>
              <a:ahLst/>
              <a:cxnLst/>
              <a:rect l="l" t="t" r="r" b="b"/>
              <a:pathLst>
                <a:path w="478671" h="812800">
                  <a:moveTo>
                    <a:pt x="0" y="0"/>
                  </a:moveTo>
                  <a:lnTo>
                    <a:pt x="478671" y="0"/>
                  </a:lnTo>
                  <a:lnTo>
                    <a:pt x="478671" y="812800"/>
                  </a:lnTo>
                  <a:lnTo>
                    <a:pt x="0" y="812800"/>
                  </a:lnTo>
                  <a:close/>
                </a:path>
              </a:pathLst>
            </a:custGeom>
            <a:blipFill>
              <a:blip r:embed="rId10"/>
              <a:stretch>
                <a:fillRect l="-98377" r="-57929"/>
              </a:stretch>
            </a:blipFill>
          </p:spPr>
          <p:txBody>
            <a:bodyPr/>
            <a:lstStyle/>
            <a:p>
              <a:endParaRPr lang="en-ID"/>
            </a:p>
          </p:txBody>
        </p:sp>
      </p:grpSp>
      <p:sp>
        <p:nvSpPr>
          <p:cNvPr id="22" name="Freeform 22"/>
          <p:cNvSpPr/>
          <p:nvPr/>
        </p:nvSpPr>
        <p:spPr>
          <a:xfrm>
            <a:off x="15948667" y="5502063"/>
            <a:ext cx="873948" cy="856469"/>
          </a:xfrm>
          <a:custGeom>
            <a:avLst/>
            <a:gdLst/>
            <a:ahLst/>
            <a:cxnLst/>
            <a:rect l="l" t="t" r="r" b="b"/>
            <a:pathLst>
              <a:path w="873948" h="856469">
                <a:moveTo>
                  <a:pt x="0" y="0"/>
                </a:moveTo>
                <a:lnTo>
                  <a:pt x="873947" y="0"/>
                </a:lnTo>
                <a:lnTo>
                  <a:pt x="873947" y="856469"/>
                </a:lnTo>
                <a:lnTo>
                  <a:pt x="0" y="85646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ID"/>
          </a:p>
        </p:txBody>
      </p:sp>
      <p:sp>
        <p:nvSpPr>
          <p:cNvPr id="23" name="Freeform 23"/>
          <p:cNvSpPr/>
          <p:nvPr/>
        </p:nvSpPr>
        <p:spPr>
          <a:xfrm>
            <a:off x="5568248" y="7807076"/>
            <a:ext cx="4409797" cy="2902448"/>
          </a:xfrm>
          <a:custGeom>
            <a:avLst/>
            <a:gdLst/>
            <a:ahLst/>
            <a:cxnLst/>
            <a:rect l="l" t="t" r="r" b="b"/>
            <a:pathLst>
              <a:path w="4409797" h="2902448">
                <a:moveTo>
                  <a:pt x="0" y="0"/>
                </a:moveTo>
                <a:lnTo>
                  <a:pt x="4409797" y="0"/>
                </a:lnTo>
                <a:lnTo>
                  <a:pt x="4409797" y="2902448"/>
                </a:lnTo>
                <a:lnTo>
                  <a:pt x="0" y="2902448"/>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ID"/>
          </a:p>
        </p:txBody>
      </p:sp>
      <p:grpSp>
        <p:nvGrpSpPr>
          <p:cNvPr id="24" name="Group 24"/>
          <p:cNvGrpSpPr/>
          <p:nvPr/>
        </p:nvGrpSpPr>
        <p:grpSpPr>
          <a:xfrm>
            <a:off x="-772763" y="9925307"/>
            <a:ext cx="19685815" cy="805596"/>
            <a:chOff x="0" y="0"/>
            <a:chExt cx="5184741" cy="212174"/>
          </a:xfrm>
        </p:grpSpPr>
        <p:sp>
          <p:nvSpPr>
            <p:cNvPr id="25" name="Freeform 25"/>
            <p:cNvSpPr/>
            <p:nvPr/>
          </p:nvSpPr>
          <p:spPr>
            <a:xfrm>
              <a:off x="0" y="0"/>
              <a:ext cx="5184742" cy="212174"/>
            </a:xfrm>
            <a:custGeom>
              <a:avLst/>
              <a:gdLst/>
              <a:ahLst/>
              <a:cxnLst/>
              <a:rect l="l" t="t" r="r" b="b"/>
              <a:pathLst>
                <a:path w="5184742" h="212174">
                  <a:moveTo>
                    <a:pt x="0" y="0"/>
                  </a:moveTo>
                  <a:lnTo>
                    <a:pt x="5184742" y="0"/>
                  </a:lnTo>
                  <a:lnTo>
                    <a:pt x="5184742" y="212174"/>
                  </a:lnTo>
                  <a:lnTo>
                    <a:pt x="0" y="212174"/>
                  </a:lnTo>
                  <a:close/>
                </a:path>
              </a:pathLst>
            </a:custGeom>
            <a:solidFill>
              <a:srgbClr val="9E8E7E"/>
            </a:solidFill>
          </p:spPr>
          <p:txBody>
            <a:bodyPr/>
            <a:lstStyle/>
            <a:p>
              <a:endParaRPr lang="en-ID"/>
            </a:p>
          </p:txBody>
        </p:sp>
        <p:sp>
          <p:nvSpPr>
            <p:cNvPr id="26" name="TextBox 26"/>
            <p:cNvSpPr txBox="1"/>
            <p:nvPr/>
          </p:nvSpPr>
          <p:spPr>
            <a:xfrm>
              <a:off x="0" y="-57150"/>
              <a:ext cx="5184741" cy="269324"/>
            </a:xfrm>
            <a:prstGeom prst="rect">
              <a:avLst/>
            </a:prstGeom>
          </p:spPr>
          <p:txBody>
            <a:bodyPr lIns="50800" tIns="50800" rIns="50800" bIns="50800" rtlCol="0" anchor="ctr"/>
            <a:lstStyle/>
            <a:p>
              <a:pPr algn="ctr">
                <a:lnSpc>
                  <a:spcPts val="2659"/>
                </a:lnSpc>
                <a:spcBef>
                  <a:spcPct val="0"/>
                </a:spcBef>
              </a:pPr>
              <a:endParaRPr/>
            </a:p>
          </p:txBody>
        </p:sp>
      </p:grpSp>
      <p:sp>
        <p:nvSpPr>
          <p:cNvPr id="27" name="TextBox 27"/>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343434"/>
                </a:solidFill>
                <a:latin typeface="Coco Gothic"/>
                <a:ea typeface="Coco Gothic"/>
                <a:cs typeface="Coco Gothic"/>
                <a:sym typeface="Coco Gothic"/>
              </a:rPr>
              <a:t>UNIVERSITAS </a:t>
            </a:r>
          </a:p>
        </p:txBody>
      </p:sp>
      <p:sp>
        <p:nvSpPr>
          <p:cNvPr id="28" name="TextBox 28"/>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343434"/>
                </a:solidFill>
                <a:latin typeface="Coco Gothic Bold"/>
                <a:ea typeface="Coco Gothic Bold"/>
                <a:cs typeface="Coco Gothic Bold"/>
                <a:sym typeface="Coco Gothic Bold"/>
              </a:rPr>
              <a:t>KEITHSTON</a:t>
            </a:r>
          </a:p>
        </p:txBody>
      </p:sp>
      <p:sp>
        <p:nvSpPr>
          <p:cNvPr id="29" name="TextBox 29"/>
          <p:cNvSpPr txBox="1"/>
          <p:nvPr/>
        </p:nvSpPr>
        <p:spPr>
          <a:xfrm>
            <a:off x="2531067" y="1724057"/>
            <a:ext cx="13078155" cy="897255"/>
          </a:xfrm>
          <a:prstGeom prst="rect">
            <a:avLst/>
          </a:prstGeom>
        </p:spPr>
        <p:txBody>
          <a:bodyPr lIns="0" tIns="0" rIns="0" bIns="0" rtlCol="0" anchor="t">
            <a:spAutoFit/>
          </a:bodyPr>
          <a:lstStyle/>
          <a:p>
            <a:pPr algn="ctr">
              <a:lnSpc>
                <a:spcPts val="6660"/>
              </a:lnSpc>
            </a:pPr>
            <a:r>
              <a:rPr lang="en-US" sz="6000" b="1">
                <a:solidFill>
                  <a:srgbClr val="343434"/>
                </a:solidFill>
                <a:latin typeface="Coco Gothic Heavy"/>
                <a:ea typeface="Coco Gothic Heavy"/>
                <a:cs typeface="Coco Gothic Heavy"/>
                <a:sym typeface="Coco Gothic Heavy"/>
              </a:rPr>
              <a:t>Galeri Penelitian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9E8E7E"/>
        </a:solidFill>
        <a:effectLst/>
      </p:bgPr>
    </p:bg>
    <p:spTree>
      <p:nvGrpSpPr>
        <p:cNvPr id="1" name=""/>
        <p:cNvGrpSpPr/>
        <p:nvPr/>
      </p:nvGrpSpPr>
      <p:grpSpPr>
        <a:xfrm>
          <a:off x="0" y="0"/>
          <a:ext cx="0" cy="0"/>
          <a:chOff x="0" y="0"/>
          <a:chExt cx="0" cy="0"/>
        </a:xfrm>
      </p:grpSpPr>
      <p:sp>
        <p:nvSpPr>
          <p:cNvPr id="2" name="Freeform 2"/>
          <p:cNvSpPr/>
          <p:nvPr/>
        </p:nvSpPr>
        <p:spPr>
          <a:xfrm>
            <a:off x="11404904" y="7388809"/>
            <a:ext cx="5796383" cy="5796383"/>
          </a:xfrm>
          <a:custGeom>
            <a:avLst/>
            <a:gdLst/>
            <a:ahLst/>
            <a:cxnLst/>
            <a:rect l="l" t="t" r="r" b="b"/>
            <a:pathLst>
              <a:path w="5796383" h="5796383">
                <a:moveTo>
                  <a:pt x="0" y="0"/>
                </a:moveTo>
                <a:lnTo>
                  <a:pt x="5796382" y="0"/>
                </a:lnTo>
                <a:lnTo>
                  <a:pt x="5796382" y="5796382"/>
                </a:lnTo>
                <a:lnTo>
                  <a:pt x="0" y="57963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D"/>
          </a:p>
        </p:txBody>
      </p:sp>
      <p:sp>
        <p:nvSpPr>
          <p:cNvPr id="3" name="Freeform 3"/>
          <p:cNvSpPr/>
          <p:nvPr/>
        </p:nvSpPr>
        <p:spPr>
          <a:xfrm>
            <a:off x="2963179" y="-2533479"/>
            <a:ext cx="4728366" cy="4728366"/>
          </a:xfrm>
          <a:custGeom>
            <a:avLst/>
            <a:gdLst/>
            <a:ahLst/>
            <a:cxnLst/>
            <a:rect l="l" t="t" r="r" b="b"/>
            <a:pathLst>
              <a:path w="4728366" h="4728366">
                <a:moveTo>
                  <a:pt x="0" y="0"/>
                </a:moveTo>
                <a:lnTo>
                  <a:pt x="4728366" y="0"/>
                </a:lnTo>
                <a:lnTo>
                  <a:pt x="4728366" y="4728365"/>
                </a:lnTo>
                <a:lnTo>
                  <a:pt x="0" y="472836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D"/>
          </a:p>
        </p:txBody>
      </p:sp>
      <p:grpSp>
        <p:nvGrpSpPr>
          <p:cNvPr id="4" name="Group 4"/>
          <p:cNvGrpSpPr/>
          <p:nvPr/>
        </p:nvGrpSpPr>
        <p:grpSpPr>
          <a:xfrm>
            <a:off x="-260268" y="4390999"/>
            <a:ext cx="1288968" cy="5694409"/>
            <a:chOff x="0" y="0"/>
            <a:chExt cx="85832" cy="379187"/>
          </a:xfrm>
        </p:grpSpPr>
        <p:sp>
          <p:nvSpPr>
            <p:cNvPr id="5" name="Freeform 5"/>
            <p:cNvSpPr/>
            <p:nvPr/>
          </p:nvSpPr>
          <p:spPr>
            <a:xfrm>
              <a:off x="0" y="0"/>
              <a:ext cx="85832" cy="379187"/>
            </a:xfrm>
            <a:custGeom>
              <a:avLst/>
              <a:gdLst/>
              <a:ahLst/>
              <a:cxnLst/>
              <a:rect l="l" t="t" r="r" b="b"/>
              <a:pathLst>
                <a:path w="85832" h="379187">
                  <a:moveTo>
                    <a:pt x="0" y="0"/>
                  </a:moveTo>
                  <a:lnTo>
                    <a:pt x="85832" y="0"/>
                  </a:lnTo>
                  <a:lnTo>
                    <a:pt x="85832" y="379187"/>
                  </a:lnTo>
                  <a:lnTo>
                    <a:pt x="0" y="379187"/>
                  </a:lnTo>
                  <a:close/>
                </a:path>
              </a:pathLst>
            </a:custGeom>
            <a:solidFill>
              <a:srgbClr val="DCD0C0"/>
            </a:solidFill>
          </p:spPr>
          <p:txBody>
            <a:bodyPr/>
            <a:lstStyle/>
            <a:p>
              <a:endParaRPr lang="en-ID"/>
            </a:p>
          </p:txBody>
        </p:sp>
        <p:sp>
          <p:nvSpPr>
            <p:cNvPr id="6" name="TextBox 6"/>
            <p:cNvSpPr txBox="1"/>
            <p:nvPr/>
          </p:nvSpPr>
          <p:spPr>
            <a:xfrm>
              <a:off x="0" y="-57150"/>
              <a:ext cx="85832" cy="436337"/>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flipV="1">
            <a:off x="15513249" y="329663"/>
            <a:ext cx="2471376" cy="2336573"/>
          </a:xfrm>
          <a:custGeom>
            <a:avLst/>
            <a:gdLst/>
            <a:ahLst/>
            <a:cxnLst/>
            <a:rect l="l" t="t" r="r" b="b"/>
            <a:pathLst>
              <a:path w="2471376" h="2336573">
                <a:moveTo>
                  <a:pt x="0" y="2336573"/>
                </a:moveTo>
                <a:lnTo>
                  <a:pt x="2471375" y="2336573"/>
                </a:lnTo>
                <a:lnTo>
                  <a:pt x="2471375" y="0"/>
                </a:lnTo>
                <a:lnTo>
                  <a:pt x="0" y="0"/>
                </a:lnTo>
                <a:lnTo>
                  <a:pt x="0" y="2336573"/>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D"/>
          </a:p>
        </p:txBody>
      </p:sp>
      <p:sp>
        <p:nvSpPr>
          <p:cNvPr id="8" name="Freeform 8"/>
          <p:cNvSpPr/>
          <p:nvPr/>
        </p:nvSpPr>
        <p:spPr>
          <a:xfrm>
            <a:off x="693714" y="512636"/>
            <a:ext cx="700828" cy="516064"/>
          </a:xfrm>
          <a:custGeom>
            <a:avLst/>
            <a:gdLst/>
            <a:ahLst/>
            <a:cxnLst/>
            <a:rect l="l" t="t" r="r" b="b"/>
            <a:pathLst>
              <a:path w="700828" h="516064">
                <a:moveTo>
                  <a:pt x="0" y="0"/>
                </a:moveTo>
                <a:lnTo>
                  <a:pt x="700828" y="0"/>
                </a:lnTo>
                <a:lnTo>
                  <a:pt x="700828" y="516064"/>
                </a:lnTo>
                <a:lnTo>
                  <a:pt x="0" y="51606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ID"/>
          </a:p>
        </p:txBody>
      </p:sp>
      <p:sp>
        <p:nvSpPr>
          <p:cNvPr id="9" name="Freeform 9"/>
          <p:cNvSpPr/>
          <p:nvPr/>
        </p:nvSpPr>
        <p:spPr>
          <a:xfrm>
            <a:off x="384216" y="8041691"/>
            <a:ext cx="1774524" cy="1774524"/>
          </a:xfrm>
          <a:custGeom>
            <a:avLst/>
            <a:gdLst/>
            <a:ahLst/>
            <a:cxnLst/>
            <a:rect l="l" t="t" r="r" b="b"/>
            <a:pathLst>
              <a:path w="1774524" h="1774524">
                <a:moveTo>
                  <a:pt x="0" y="0"/>
                </a:moveTo>
                <a:lnTo>
                  <a:pt x="1774524" y="0"/>
                </a:lnTo>
                <a:lnTo>
                  <a:pt x="1774524" y="1774524"/>
                </a:lnTo>
                <a:lnTo>
                  <a:pt x="0" y="17745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ID"/>
          </a:p>
        </p:txBody>
      </p:sp>
      <p:sp>
        <p:nvSpPr>
          <p:cNvPr id="10" name="TextBox 10"/>
          <p:cNvSpPr txBox="1"/>
          <p:nvPr/>
        </p:nvSpPr>
        <p:spPr>
          <a:xfrm>
            <a:off x="1395892" y="573718"/>
            <a:ext cx="1565938" cy="229673"/>
          </a:xfrm>
          <a:prstGeom prst="rect">
            <a:avLst/>
          </a:prstGeom>
        </p:spPr>
        <p:txBody>
          <a:bodyPr lIns="0" tIns="0" rIns="0" bIns="0" rtlCol="0" anchor="t">
            <a:spAutoFit/>
          </a:bodyPr>
          <a:lstStyle/>
          <a:p>
            <a:pPr algn="ctr">
              <a:lnSpc>
                <a:spcPts val="1652"/>
              </a:lnSpc>
            </a:pPr>
            <a:r>
              <a:rPr lang="en-US" sz="1652">
                <a:solidFill>
                  <a:srgbClr val="FFFFFF"/>
                </a:solidFill>
                <a:latin typeface="Coco Gothic"/>
                <a:ea typeface="Coco Gothic"/>
                <a:cs typeface="Coco Gothic"/>
                <a:sym typeface="Coco Gothic"/>
              </a:rPr>
              <a:t>UNIVERSITAS </a:t>
            </a:r>
          </a:p>
        </p:txBody>
      </p:sp>
      <p:sp>
        <p:nvSpPr>
          <p:cNvPr id="11" name="TextBox 11"/>
          <p:cNvSpPr txBox="1"/>
          <p:nvPr/>
        </p:nvSpPr>
        <p:spPr>
          <a:xfrm>
            <a:off x="1394542" y="754594"/>
            <a:ext cx="1568637" cy="232074"/>
          </a:xfrm>
          <a:prstGeom prst="rect">
            <a:avLst/>
          </a:prstGeom>
        </p:spPr>
        <p:txBody>
          <a:bodyPr lIns="0" tIns="0" rIns="0" bIns="0" rtlCol="0" anchor="t">
            <a:spAutoFit/>
          </a:bodyPr>
          <a:lstStyle/>
          <a:p>
            <a:pPr algn="ctr">
              <a:lnSpc>
                <a:spcPts val="1654"/>
              </a:lnSpc>
            </a:pPr>
            <a:r>
              <a:rPr lang="en-US" sz="1654" b="1" spc="198">
                <a:solidFill>
                  <a:srgbClr val="FFFFFF"/>
                </a:solidFill>
                <a:latin typeface="Coco Gothic Bold"/>
                <a:ea typeface="Coco Gothic Bold"/>
                <a:cs typeface="Coco Gothic Bold"/>
                <a:sym typeface="Coco Gothic Bold"/>
              </a:rPr>
              <a:t>KEITHSTON</a:t>
            </a:r>
          </a:p>
        </p:txBody>
      </p:sp>
      <p:sp>
        <p:nvSpPr>
          <p:cNvPr id="12" name="TextBox 12"/>
          <p:cNvSpPr txBox="1"/>
          <p:nvPr/>
        </p:nvSpPr>
        <p:spPr>
          <a:xfrm>
            <a:off x="4591809" y="4410049"/>
            <a:ext cx="9104383" cy="1485951"/>
          </a:xfrm>
          <a:prstGeom prst="rect">
            <a:avLst/>
          </a:prstGeom>
        </p:spPr>
        <p:txBody>
          <a:bodyPr lIns="0" tIns="0" rIns="0" bIns="0" rtlCol="0" anchor="t">
            <a:spAutoFit/>
          </a:bodyPr>
          <a:lstStyle/>
          <a:p>
            <a:pPr algn="ctr">
              <a:lnSpc>
                <a:spcPts val="11053"/>
              </a:lnSpc>
            </a:pPr>
            <a:r>
              <a:rPr lang="en-US" sz="9958" b="1">
                <a:solidFill>
                  <a:srgbClr val="FFFFFF"/>
                </a:solidFill>
                <a:latin typeface="Coco Gothic Heavy"/>
                <a:ea typeface="Coco Gothic Heavy"/>
                <a:cs typeface="Coco Gothic Heavy"/>
                <a:sym typeface="Coco Gothic Heavy"/>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374</TotalTime>
  <Words>1795</Words>
  <Application>Microsoft Office PowerPoint</Application>
  <PresentationFormat>Custom</PresentationFormat>
  <Paragraphs>228</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Poppins Bold</vt:lpstr>
      <vt:lpstr>Poppins</vt:lpstr>
      <vt:lpstr>Coco Gothic Heavy</vt:lpstr>
      <vt:lpstr>Coco Gothic Bold</vt:lpstr>
      <vt:lpstr>Coco Gothic</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Coklat Putih Geometris Sederhana Seminar Proposal Presentasi</dc:title>
  <cp:lastModifiedBy>Abdullah Azzam</cp:lastModifiedBy>
  <cp:revision>27</cp:revision>
  <dcterms:created xsi:type="dcterms:W3CDTF">2006-08-16T00:00:00Z</dcterms:created>
  <dcterms:modified xsi:type="dcterms:W3CDTF">2026-01-21T07:16:06Z</dcterms:modified>
  <dc:identifier>DAG-8a3Y9qc</dc:identifier>
</cp:coreProperties>
</file>