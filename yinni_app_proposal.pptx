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256" r:id="rId2"/>
    <p:sldId id="257" r:id="rId3"/>
    <p:sldId id="259" r:id="rId4"/>
    <p:sldId id="271" r:id="rId5"/>
    <p:sldId id="273" r:id="rId6"/>
    <p:sldId id="275" r:id="rId7"/>
    <p:sldId id="276" r:id="rId8"/>
    <p:sldId id="277" r:id="rId9"/>
    <p:sldId id="262" r:id="rId10"/>
    <p:sldId id="278" r:id="rId11"/>
    <p:sldId id="280" r:id="rId12"/>
    <p:sldId id="282" r:id="rId13"/>
    <p:sldId id="283" r:id="rId14"/>
    <p:sldId id="279" r:id="rId15"/>
    <p:sldId id="284" r:id="rId16"/>
    <p:sldId id="285" r:id="rId17"/>
    <p:sldId id="286" r:id="rId18"/>
    <p:sldId id="288" r:id="rId19"/>
    <p:sldId id="289" r:id="rId20"/>
    <p:sldId id="267" r:id="rId21"/>
    <p:sldId id="287" r:id="rId22"/>
    <p:sldId id="269" r:id="rId23"/>
    <p:sldId id="270" r:id="rId24"/>
  </p:sldIdLst>
  <p:sldSz cx="18288000" cy="10287000"/>
  <p:notesSz cx="6858000" cy="9144000"/>
  <p:embeddedFontLst>
    <p:embeddedFont>
      <p:font typeface="Coco Gothic" panose="020B0604020202020204" charset="0"/>
      <p:regular r:id="rId26"/>
    </p:embeddedFont>
    <p:embeddedFont>
      <p:font typeface="Coco Gothic Bold" panose="020B0604020202020204" charset="0"/>
      <p:regular r:id="rId27"/>
    </p:embeddedFont>
    <p:embeddedFont>
      <p:font typeface="Coco Gothic Heavy" panose="020B0604020202020204" charset="0"/>
      <p:regular r:id="rId28"/>
    </p:embeddedFont>
    <p:embeddedFont>
      <p:font typeface="Poppins" panose="00000500000000000000" pitchFamily="2" charset="0"/>
      <p:regular r:id="rId29"/>
      <p:bold r:id="rId30"/>
      <p:italic r:id="rId31"/>
      <p:boldItalic r:id="rId32"/>
    </p:embeddedFont>
    <p:embeddedFont>
      <p:font typeface="Poppins Bold" panose="00000800000000000000" charset="0"/>
      <p:regular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6D9F1"/>
    <a:srgbClr val="F0F5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AFAE9E-CD9C-4686-B5D6-DA3BFABFAC6A}" v="25" dt="2026-01-20T16:12:13.8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5" d="100"/>
          <a:sy n="45" d="100"/>
        </p:scale>
        <p:origin x="548" y="4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dullah Azzam" userId="f059aa071fd63225" providerId="LiveId" clId="{53F7CF5F-0879-47DE-BC68-EFCB0B141EFC}"/>
    <pc:docChg chg="undo redo custSel addSld delSld modSld">
      <pc:chgData name="Abdullah Azzam" userId="f059aa071fd63225" providerId="LiveId" clId="{53F7CF5F-0879-47DE-BC68-EFCB0B141EFC}" dt="2026-01-20T16:16:35.025" v="4718" actId="20577"/>
      <pc:docMkLst>
        <pc:docMk/>
      </pc:docMkLst>
      <pc:sldChg chg="modSp mod">
        <pc:chgData name="Abdullah Azzam" userId="f059aa071fd63225" providerId="LiveId" clId="{53F7CF5F-0879-47DE-BC68-EFCB0B141EFC}" dt="2026-01-20T15:38:46.612" v="2102" actId="20577"/>
        <pc:sldMkLst>
          <pc:docMk/>
          <pc:sldMk cId="0" sldId="256"/>
        </pc:sldMkLst>
        <pc:spChg chg="mod">
          <ac:chgData name="Abdullah Azzam" userId="f059aa071fd63225" providerId="LiveId" clId="{53F7CF5F-0879-47DE-BC68-EFCB0B141EFC}" dt="2026-01-20T15:38:46.612" v="2102" actId="20577"/>
          <ac:spMkLst>
            <pc:docMk/>
            <pc:sldMk cId="0" sldId="256"/>
            <ac:spMk id="37" creationId="{C93ECF08-FFD2-AF67-6F17-AA4CD1DB661D}"/>
          </ac:spMkLst>
        </pc:spChg>
      </pc:sldChg>
      <pc:sldChg chg="modSp mod">
        <pc:chgData name="Abdullah Azzam" userId="f059aa071fd63225" providerId="LiveId" clId="{53F7CF5F-0879-47DE-BC68-EFCB0B141EFC}" dt="2026-01-20T14:50:52.472" v="1488" actId="14100"/>
        <pc:sldMkLst>
          <pc:docMk/>
          <pc:sldMk cId="0" sldId="259"/>
        </pc:sldMkLst>
        <pc:picChg chg="mod">
          <ac:chgData name="Abdullah Azzam" userId="f059aa071fd63225" providerId="LiveId" clId="{53F7CF5F-0879-47DE-BC68-EFCB0B141EFC}" dt="2026-01-20T14:50:52.472" v="1488" actId="14100"/>
          <ac:picMkLst>
            <pc:docMk/>
            <pc:sldMk cId="0" sldId="259"/>
            <ac:picMk id="38" creationId="{B039FACB-EF20-4867-7492-E53F7D6F0E24}"/>
          </ac:picMkLst>
        </pc:picChg>
      </pc:sldChg>
      <pc:sldChg chg="del">
        <pc:chgData name="Abdullah Azzam" userId="f059aa071fd63225" providerId="LiveId" clId="{53F7CF5F-0879-47DE-BC68-EFCB0B141EFC}" dt="2026-01-20T15:47:30.881" v="2880" actId="47"/>
        <pc:sldMkLst>
          <pc:docMk/>
          <pc:sldMk cId="0" sldId="260"/>
        </pc:sldMkLst>
      </pc:sldChg>
      <pc:sldChg chg="delSp modSp del mod setBg">
        <pc:chgData name="Abdullah Azzam" userId="f059aa071fd63225" providerId="LiveId" clId="{53F7CF5F-0879-47DE-BC68-EFCB0B141EFC}" dt="2026-01-20T15:50:47.164" v="2990" actId="47"/>
        <pc:sldMkLst>
          <pc:docMk/>
          <pc:sldMk cId="0" sldId="261"/>
        </pc:sldMkLst>
        <pc:spChg chg="mod">
          <ac:chgData name="Abdullah Azzam" userId="f059aa071fd63225" providerId="LiveId" clId="{53F7CF5F-0879-47DE-BC68-EFCB0B141EFC}" dt="2026-01-20T15:50:40.916" v="2988" actId="207"/>
          <ac:spMkLst>
            <pc:docMk/>
            <pc:sldMk cId="0" sldId="261"/>
            <ac:spMk id="13" creationId="{00000000-0000-0000-0000-000000000000}"/>
          </ac:spMkLst>
        </pc:spChg>
        <pc:spChg chg="mod">
          <ac:chgData name="Abdullah Azzam" userId="f059aa071fd63225" providerId="LiveId" clId="{53F7CF5F-0879-47DE-BC68-EFCB0B141EFC}" dt="2026-01-20T15:50:27.409" v="2984" actId="20577"/>
          <ac:spMkLst>
            <pc:docMk/>
            <pc:sldMk cId="0" sldId="261"/>
            <ac:spMk id="15" creationId="{00000000-0000-0000-0000-000000000000}"/>
          </ac:spMkLst>
        </pc:spChg>
        <pc:spChg chg="del">
          <ac:chgData name="Abdullah Azzam" userId="f059aa071fd63225" providerId="LiveId" clId="{53F7CF5F-0879-47DE-BC68-EFCB0B141EFC}" dt="2026-01-20T15:50:42.251" v="2989" actId="478"/>
          <ac:spMkLst>
            <pc:docMk/>
            <pc:sldMk cId="0" sldId="261"/>
            <ac:spMk id="37" creationId="{00000000-0000-0000-0000-000000000000}"/>
          </ac:spMkLst>
        </pc:spChg>
        <pc:spChg chg="del mod">
          <ac:chgData name="Abdullah Azzam" userId="f059aa071fd63225" providerId="LiveId" clId="{53F7CF5F-0879-47DE-BC68-EFCB0B141EFC}" dt="2026-01-20T15:48:02.295" v="2898" actId="478"/>
          <ac:spMkLst>
            <pc:docMk/>
            <pc:sldMk cId="0" sldId="261"/>
            <ac:spMk id="38" creationId="{00000000-0000-0000-0000-000000000000}"/>
          </ac:spMkLst>
        </pc:spChg>
        <pc:spChg chg="del">
          <ac:chgData name="Abdullah Azzam" userId="f059aa071fd63225" providerId="LiveId" clId="{53F7CF5F-0879-47DE-BC68-EFCB0B141EFC}" dt="2026-01-20T15:48:03.442" v="2899" actId="478"/>
          <ac:spMkLst>
            <pc:docMk/>
            <pc:sldMk cId="0" sldId="261"/>
            <ac:spMk id="39" creationId="{00000000-0000-0000-0000-000000000000}"/>
          </ac:spMkLst>
        </pc:spChg>
        <pc:spChg chg="mod">
          <ac:chgData name="Abdullah Azzam" userId="f059aa071fd63225" providerId="LiveId" clId="{53F7CF5F-0879-47DE-BC68-EFCB0B141EFC}" dt="2026-01-20T15:50:22.352" v="2983" actId="14100"/>
          <ac:spMkLst>
            <pc:docMk/>
            <pc:sldMk cId="0" sldId="261"/>
            <ac:spMk id="40" creationId="{00000000-0000-0000-0000-000000000000}"/>
          </ac:spMkLst>
        </pc:spChg>
      </pc:sldChg>
      <pc:sldChg chg="addSp delSp modSp mod">
        <pc:chgData name="Abdullah Azzam" userId="f059aa071fd63225" providerId="LiveId" clId="{53F7CF5F-0879-47DE-BC68-EFCB0B141EFC}" dt="2026-01-20T16:16:35.025" v="4718" actId="20577"/>
        <pc:sldMkLst>
          <pc:docMk/>
          <pc:sldMk cId="0" sldId="262"/>
        </pc:sldMkLst>
        <pc:spChg chg="del">
          <ac:chgData name="Abdullah Azzam" userId="f059aa071fd63225" providerId="LiveId" clId="{53F7CF5F-0879-47DE-BC68-EFCB0B141EFC}" dt="2026-01-20T16:11:53.694" v="4620" actId="478"/>
          <ac:spMkLst>
            <pc:docMk/>
            <pc:sldMk cId="0" sldId="262"/>
            <ac:spMk id="2" creationId="{00000000-0000-0000-0000-000000000000}"/>
          </ac:spMkLst>
        </pc:spChg>
        <pc:spChg chg="del mod">
          <ac:chgData name="Abdullah Azzam" userId="f059aa071fd63225" providerId="LiveId" clId="{53F7CF5F-0879-47DE-BC68-EFCB0B141EFC}" dt="2026-01-20T16:11:49.996" v="4617" actId="478"/>
          <ac:spMkLst>
            <pc:docMk/>
            <pc:sldMk cId="0" sldId="262"/>
            <ac:spMk id="3" creationId="{00000000-0000-0000-0000-000000000000}"/>
          </ac:spMkLst>
        </pc:spChg>
        <pc:spChg chg="del mod">
          <ac:chgData name="Abdullah Azzam" userId="f059aa071fd63225" providerId="LiveId" clId="{53F7CF5F-0879-47DE-BC68-EFCB0B141EFC}" dt="2026-01-20T16:11:52.583" v="4619" actId="478"/>
          <ac:spMkLst>
            <pc:docMk/>
            <pc:sldMk cId="0" sldId="262"/>
            <ac:spMk id="4" creationId="{00000000-0000-0000-0000-000000000000}"/>
          </ac:spMkLst>
        </pc:spChg>
        <pc:spChg chg="mod">
          <ac:chgData name="Abdullah Azzam" userId="f059aa071fd63225" providerId="LiveId" clId="{53F7CF5F-0879-47DE-BC68-EFCB0B141EFC}" dt="2026-01-20T15:53:25.074" v="3157" actId="207"/>
          <ac:spMkLst>
            <pc:docMk/>
            <pc:sldMk cId="0" sldId="262"/>
            <ac:spMk id="6" creationId="{00000000-0000-0000-0000-000000000000}"/>
          </ac:spMkLst>
        </pc:spChg>
        <pc:spChg chg="mod">
          <ac:chgData name="Abdullah Azzam" userId="f059aa071fd63225" providerId="LiveId" clId="{53F7CF5F-0879-47DE-BC68-EFCB0B141EFC}" dt="2026-01-20T15:53:21.129" v="3156" actId="207"/>
          <ac:spMkLst>
            <pc:docMk/>
            <pc:sldMk cId="0" sldId="262"/>
            <ac:spMk id="7" creationId="{00000000-0000-0000-0000-000000000000}"/>
          </ac:spMkLst>
        </pc:spChg>
        <pc:spChg chg="mod">
          <ac:chgData name="Abdullah Azzam" userId="f059aa071fd63225" providerId="LiveId" clId="{53F7CF5F-0879-47DE-BC68-EFCB0B141EFC}" dt="2026-01-20T15:53:32.036" v="3158" actId="207"/>
          <ac:spMkLst>
            <pc:docMk/>
            <pc:sldMk cId="0" sldId="262"/>
            <ac:spMk id="9" creationId="{00000000-0000-0000-0000-000000000000}"/>
          </ac:spMkLst>
        </pc:spChg>
        <pc:spChg chg="mod">
          <ac:chgData name="Abdullah Azzam" userId="f059aa071fd63225" providerId="LiveId" clId="{53F7CF5F-0879-47DE-BC68-EFCB0B141EFC}" dt="2026-01-20T15:53:02.365" v="3152" actId="20577"/>
          <ac:spMkLst>
            <pc:docMk/>
            <pc:sldMk cId="0" sldId="262"/>
            <ac:spMk id="13" creationId="{00000000-0000-0000-0000-000000000000}"/>
          </ac:spMkLst>
        </pc:spChg>
        <pc:spChg chg="mod">
          <ac:chgData name="Abdullah Azzam" userId="f059aa071fd63225" providerId="LiveId" clId="{53F7CF5F-0879-47DE-BC68-EFCB0B141EFC}" dt="2026-01-20T15:51:38.559" v="3056" actId="207"/>
          <ac:spMkLst>
            <pc:docMk/>
            <pc:sldMk cId="0" sldId="262"/>
            <ac:spMk id="16" creationId="{00000000-0000-0000-0000-000000000000}"/>
          </ac:spMkLst>
        </pc:spChg>
        <pc:spChg chg="mod">
          <ac:chgData name="Abdullah Azzam" userId="f059aa071fd63225" providerId="LiveId" clId="{53F7CF5F-0879-47DE-BC68-EFCB0B141EFC}" dt="2026-01-20T16:16:32.696" v="4715" actId="20577"/>
          <ac:spMkLst>
            <pc:docMk/>
            <pc:sldMk cId="0" sldId="262"/>
            <ac:spMk id="18" creationId="{00000000-0000-0000-0000-000000000000}"/>
          </ac:spMkLst>
        </pc:spChg>
        <pc:spChg chg="mod">
          <ac:chgData name="Abdullah Azzam" userId="f059aa071fd63225" providerId="LiveId" clId="{53F7CF5F-0879-47DE-BC68-EFCB0B141EFC}" dt="2026-01-20T15:51:44.364" v="3057" actId="207"/>
          <ac:spMkLst>
            <pc:docMk/>
            <pc:sldMk cId="0" sldId="262"/>
            <ac:spMk id="24" creationId="{00000000-0000-0000-0000-000000000000}"/>
          </ac:spMkLst>
        </pc:spChg>
        <pc:spChg chg="mod">
          <ac:chgData name="Abdullah Azzam" userId="f059aa071fd63225" providerId="LiveId" clId="{53F7CF5F-0879-47DE-BC68-EFCB0B141EFC}" dt="2026-01-20T16:16:35.025" v="4718" actId="20577"/>
          <ac:spMkLst>
            <pc:docMk/>
            <pc:sldMk cId="0" sldId="262"/>
            <ac:spMk id="26" creationId="{00000000-0000-0000-0000-000000000000}"/>
          </ac:spMkLst>
        </pc:spChg>
        <pc:spChg chg="mod">
          <ac:chgData name="Abdullah Azzam" userId="f059aa071fd63225" providerId="LiveId" clId="{53F7CF5F-0879-47DE-BC68-EFCB0B141EFC}" dt="2026-01-20T15:52:04.624" v="3077" actId="207"/>
          <ac:spMkLst>
            <pc:docMk/>
            <pc:sldMk cId="0" sldId="262"/>
            <ac:spMk id="28" creationId="{00000000-0000-0000-0000-000000000000}"/>
          </ac:spMkLst>
        </pc:spChg>
        <pc:spChg chg="mod">
          <ac:chgData name="Abdullah Azzam" userId="f059aa071fd63225" providerId="LiveId" clId="{53F7CF5F-0879-47DE-BC68-EFCB0B141EFC}" dt="2026-01-20T16:02:19.189" v="4068" actId="20577"/>
          <ac:spMkLst>
            <pc:docMk/>
            <pc:sldMk cId="0" sldId="262"/>
            <ac:spMk id="30" creationId="{00000000-0000-0000-0000-000000000000}"/>
          </ac:spMkLst>
        </pc:spChg>
        <pc:spChg chg="del">
          <ac:chgData name="Abdullah Azzam" userId="f059aa071fd63225" providerId="LiveId" clId="{53F7CF5F-0879-47DE-BC68-EFCB0B141EFC}" dt="2026-01-20T16:11:41.743" v="4613" actId="478"/>
          <ac:spMkLst>
            <pc:docMk/>
            <pc:sldMk cId="0" sldId="262"/>
            <ac:spMk id="31" creationId="{00000000-0000-0000-0000-000000000000}"/>
          </ac:spMkLst>
        </pc:spChg>
        <pc:spChg chg="del">
          <ac:chgData name="Abdullah Azzam" userId="f059aa071fd63225" providerId="LiveId" clId="{53F7CF5F-0879-47DE-BC68-EFCB0B141EFC}" dt="2026-01-20T16:14:45.597" v="4666" actId="478"/>
          <ac:spMkLst>
            <pc:docMk/>
            <pc:sldMk cId="0" sldId="262"/>
            <ac:spMk id="32" creationId="{00000000-0000-0000-0000-000000000000}"/>
          </ac:spMkLst>
        </pc:spChg>
        <pc:spChg chg="del">
          <ac:chgData name="Abdullah Azzam" userId="f059aa071fd63225" providerId="LiveId" clId="{53F7CF5F-0879-47DE-BC68-EFCB0B141EFC}" dt="2026-01-20T16:11:44.061" v="4614" actId="478"/>
          <ac:spMkLst>
            <pc:docMk/>
            <pc:sldMk cId="0" sldId="262"/>
            <ac:spMk id="33" creationId="{00000000-0000-0000-0000-000000000000}"/>
          </ac:spMkLst>
        </pc:spChg>
        <pc:spChg chg="mod">
          <ac:chgData name="Abdullah Azzam" userId="f059aa071fd63225" providerId="LiveId" clId="{53F7CF5F-0879-47DE-BC68-EFCB0B141EFC}" dt="2026-01-20T16:15:58.919" v="4705" actId="1037"/>
          <ac:spMkLst>
            <pc:docMk/>
            <pc:sldMk cId="0" sldId="262"/>
            <ac:spMk id="34" creationId="{00000000-0000-0000-0000-000000000000}"/>
          </ac:spMkLst>
        </pc:spChg>
        <pc:spChg chg="add del mod">
          <ac:chgData name="Abdullah Azzam" userId="f059aa071fd63225" providerId="LiveId" clId="{53F7CF5F-0879-47DE-BC68-EFCB0B141EFC}" dt="2026-01-20T16:15:12.707" v="4690" actId="1035"/>
          <ac:spMkLst>
            <pc:docMk/>
            <pc:sldMk cId="0" sldId="262"/>
            <ac:spMk id="35" creationId="{00000000-0000-0000-0000-000000000000}"/>
          </ac:spMkLst>
        </pc:spChg>
        <pc:spChg chg="mod">
          <ac:chgData name="Abdullah Azzam" userId="f059aa071fd63225" providerId="LiveId" clId="{53F7CF5F-0879-47DE-BC68-EFCB0B141EFC}" dt="2026-01-20T16:15:18.617" v="4698" actId="1035"/>
          <ac:spMkLst>
            <pc:docMk/>
            <pc:sldMk cId="0" sldId="262"/>
            <ac:spMk id="36" creationId="{00000000-0000-0000-0000-000000000000}"/>
          </ac:spMkLst>
        </pc:spChg>
        <pc:spChg chg="mod">
          <ac:chgData name="Abdullah Azzam" userId="f059aa071fd63225" providerId="LiveId" clId="{53F7CF5F-0879-47DE-BC68-EFCB0B141EFC}" dt="2026-01-20T16:15:21.567" v="4700" actId="1076"/>
          <ac:spMkLst>
            <pc:docMk/>
            <pc:sldMk cId="0" sldId="262"/>
            <ac:spMk id="37" creationId="{00000000-0000-0000-0000-000000000000}"/>
          </ac:spMkLst>
        </pc:spChg>
        <pc:spChg chg="add mod">
          <ac:chgData name="Abdullah Azzam" userId="f059aa071fd63225" providerId="LiveId" clId="{53F7CF5F-0879-47DE-BC68-EFCB0B141EFC}" dt="2026-01-20T16:11:54.157" v="4621"/>
          <ac:spMkLst>
            <pc:docMk/>
            <pc:sldMk cId="0" sldId="262"/>
            <ac:spMk id="38" creationId="{A5DD6A59-2A8E-CEF1-B19D-F7F0BF38DE5F}"/>
          </ac:spMkLst>
        </pc:spChg>
        <pc:spChg chg="add mod">
          <ac:chgData name="Abdullah Azzam" userId="f059aa071fd63225" providerId="LiveId" clId="{53F7CF5F-0879-47DE-BC68-EFCB0B141EFC}" dt="2026-01-20T16:11:54.157" v="4621"/>
          <ac:spMkLst>
            <pc:docMk/>
            <pc:sldMk cId="0" sldId="262"/>
            <ac:spMk id="39" creationId="{0D9372EE-13DD-F572-859E-53D35B39E8F2}"/>
          </ac:spMkLst>
        </pc:spChg>
        <pc:grpChg chg="mod">
          <ac:chgData name="Abdullah Azzam" userId="f059aa071fd63225" providerId="LiveId" clId="{53F7CF5F-0879-47DE-BC68-EFCB0B141EFC}" dt="2026-01-20T15:53:21.129" v="3156" actId="207"/>
          <ac:grpSpMkLst>
            <pc:docMk/>
            <pc:sldMk cId="0" sldId="262"/>
            <ac:grpSpMk id="5" creationId="{00000000-0000-0000-0000-000000000000}"/>
          </ac:grpSpMkLst>
        </pc:grpChg>
        <pc:grpChg chg="mod">
          <ac:chgData name="Abdullah Azzam" userId="f059aa071fd63225" providerId="LiveId" clId="{53F7CF5F-0879-47DE-BC68-EFCB0B141EFC}" dt="2026-01-20T16:15:02.680" v="4676" actId="1035"/>
          <ac:grpSpMkLst>
            <pc:docMk/>
            <pc:sldMk cId="0" sldId="262"/>
            <ac:grpSpMk id="15" creationId="{00000000-0000-0000-0000-000000000000}"/>
          </ac:grpSpMkLst>
        </pc:grpChg>
        <pc:grpChg chg="mod">
          <ac:chgData name="Abdullah Azzam" userId="f059aa071fd63225" providerId="LiveId" clId="{53F7CF5F-0879-47DE-BC68-EFCB0B141EFC}" dt="2026-01-20T16:15:05.469" v="4681" actId="1035"/>
          <ac:grpSpMkLst>
            <pc:docMk/>
            <pc:sldMk cId="0" sldId="262"/>
            <ac:grpSpMk id="23" creationId="{00000000-0000-0000-0000-000000000000}"/>
          </ac:grpSpMkLst>
        </pc:grpChg>
        <pc:grpChg chg="mod">
          <ac:chgData name="Abdullah Azzam" userId="f059aa071fd63225" providerId="LiveId" clId="{53F7CF5F-0879-47DE-BC68-EFCB0B141EFC}" dt="2026-01-20T16:15:08.261" v="4686" actId="1035"/>
          <ac:grpSpMkLst>
            <pc:docMk/>
            <pc:sldMk cId="0" sldId="262"/>
            <ac:grpSpMk id="27" creationId="{00000000-0000-0000-0000-000000000000}"/>
          </ac:grpSpMkLst>
        </pc:grpChg>
        <pc:picChg chg="add mod">
          <ac:chgData name="Abdullah Azzam" userId="f059aa071fd63225" providerId="LiveId" clId="{53F7CF5F-0879-47DE-BC68-EFCB0B141EFC}" dt="2026-01-20T16:11:54.157" v="4621"/>
          <ac:picMkLst>
            <pc:docMk/>
            <pc:sldMk cId="0" sldId="262"/>
            <ac:picMk id="40" creationId="{CA0BADA0-2092-99F7-283F-3009909980B9}"/>
          </ac:picMkLst>
        </pc:picChg>
      </pc:sldChg>
      <pc:sldChg chg="modSp mod">
        <pc:chgData name="Abdullah Azzam" userId="f059aa071fd63225" providerId="LiveId" clId="{53F7CF5F-0879-47DE-BC68-EFCB0B141EFC}" dt="2026-01-20T14:48:54.600" v="1485" actId="14100"/>
        <pc:sldMkLst>
          <pc:docMk/>
          <pc:sldMk cId="486739524" sldId="271"/>
        </pc:sldMkLst>
        <pc:picChg chg="mod">
          <ac:chgData name="Abdullah Azzam" userId="f059aa071fd63225" providerId="LiveId" clId="{53F7CF5F-0879-47DE-BC68-EFCB0B141EFC}" dt="2026-01-20T14:48:54.600" v="1485" actId="14100"/>
          <ac:picMkLst>
            <pc:docMk/>
            <pc:sldMk cId="486739524" sldId="271"/>
            <ac:picMk id="3" creationId="{180D9449-9686-4593-B014-B03933C49A97}"/>
          </ac:picMkLst>
        </pc:picChg>
      </pc:sldChg>
      <pc:sldChg chg="addSp delSp modSp add del mod">
        <pc:chgData name="Abdullah Azzam" userId="f059aa071fd63225" providerId="LiveId" clId="{53F7CF5F-0879-47DE-BC68-EFCB0B141EFC}" dt="2026-01-20T14:52:53.241" v="1521" actId="47"/>
        <pc:sldMkLst>
          <pc:docMk/>
          <pc:sldMk cId="2747087497" sldId="272"/>
        </pc:sldMkLst>
        <pc:spChg chg="mod">
          <ac:chgData name="Abdullah Azzam" userId="f059aa071fd63225" providerId="LiveId" clId="{53F7CF5F-0879-47DE-BC68-EFCB0B141EFC}" dt="2026-01-20T14:17:00.891" v="3" actId="20577"/>
          <ac:spMkLst>
            <pc:docMk/>
            <pc:sldMk cId="2747087497" sldId="272"/>
            <ac:spMk id="23" creationId="{4AE69BF0-5DF5-BBDD-6832-96CA3B5195C8}"/>
          </ac:spMkLst>
        </pc:spChg>
        <pc:spChg chg="del mod">
          <ac:chgData name="Abdullah Azzam" userId="f059aa071fd63225" providerId="LiveId" clId="{53F7CF5F-0879-47DE-BC68-EFCB0B141EFC}" dt="2026-01-20T14:18:03.363" v="11"/>
          <ac:spMkLst>
            <pc:docMk/>
            <pc:sldMk cId="2747087497" sldId="272"/>
            <ac:spMk id="36" creationId="{BE2C09D6-421C-E472-11F1-5B2E844337CC}"/>
          </ac:spMkLst>
        </pc:spChg>
        <pc:picChg chg="del">
          <ac:chgData name="Abdullah Azzam" userId="f059aa071fd63225" providerId="LiveId" clId="{53F7CF5F-0879-47DE-BC68-EFCB0B141EFC}" dt="2026-01-20T14:18:03.357" v="9" actId="478"/>
          <ac:picMkLst>
            <pc:docMk/>
            <pc:sldMk cId="2747087497" sldId="272"/>
            <ac:picMk id="3" creationId="{3810E710-2EF6-FF3C-00B1-0B03100EB19A}"/>
          </ac:picMkLst>
        </pc:picChg>
        <pc:picChg chg="add mod">
          <ac:chgData name="Abdullah Azzam" userId="f059aa071fd63225" providerId="LiveId" clId="{53F7CF5F-0879-47DE-BC68-EFCB0B141EFC}" dt="2026-01-20T14:20:46.693" v="19" actId="14100"/>
          <ac:picMkLst>
            <pc:docMk/>
            <pc:sldMk cId="2747087497" sldId="272"/>
            <ac:picMk id="4" creationId="{8AE4FB0C-F16B-307C-8119-626FD8E633D9}"/>
          </ac:picMkLst>
        </pc:picChg>
      </pc:sldChg>
      <pc:sldChg chg="addSp delSp modSp add mod">
        <pc:chgData name="Abdullah Azzam" userId="f059aa071fd63225" providerId="LiveId" clId="{53F7CF5F-0879-47DE-BC68-EFCB0B141EFC}" dt="2026-01-20T14:51:32.310" v="1496" actId="20577"/>
        <pc:sldMkLst>
          <pc:docMk/>
          <pc:sldMk cId="1120631758" sldId="273"/>
        </pc:sldMkLst>
        <pc:spChg chg="mod">
          <ac:chgData name="Abdullah Azzam" userId="f059aa071fd63225" providerId="LiveId" clId="{53F7CF5F-0879-47DE-BC68-EFCB0B141EFC}" dt="2026-01-20T14:34:27.989" v="833" actId="20577"/>
          <ac:spMkLst>
            <pc:docMk/>
            <pc:sldMk cId="1120631758" sldId="273"/>
            <ac:spMk id="19" creationId="{811E1B2E-AA02-2E56-FB5B-9F34494EFA09}"/>
          </ac:spMkLst>
        </pc:spChg>
        <pc:spChg chg="mod">
          <ac:chgData name="Abdullah Azzam" userId="f059aa071fd63225" providerId="LiveId" clId="{53F7CF5F-0879-47DE-BC68-EFCB0B141EFC}" dt="2026-01-20T14:43:01.582" v="1245" actId="20577"/>
          <ac:spMkLst>
            <pc:docMk/>
            <pc:sldMk cId="1120631758" sldId="273"/>
            <ac:spMk id="23" creationId="{0869C3C8-5851-5DA8-C63A-989FBBDE1B9C}"/>
          </ac:spMkLst>
        </pc:spChg>
        <pc:spChg chg="mod">
          <ac:chgData name="Abdullah Azzam" userId="f059aa071fd63225" providerId="LiveId" clId="{53F7CF5F-0879-47DE-BC68-EFCB0B141EFC}" dt="2026-01-20T14:51:32.310" v="1496" actId="20577"/>
          <ac:spMkLst>
            <pc:docMk/>
            <pc:sldMk cId="1120631758" sldId="273"/>
            <ac:spMk id="36" creationId="{EB8D5A96-A757-D02D-4B24-3585933B5670}"/>
          </ac:spMkLst>
        </pc:spChg>
        <pc:picChg chg="add mod">
          <ac:chgData name="Abdullah Azzam" userId="f059aa071fd63225" providerId="LiveId" clId="{53F7CF5F-0879-47DE-BC68-EFCB0B141EFC}" dt="2026-01-20T14:48:38.980" v="1484" actId="14100"/>
          <ac:picMkLst>
            <pc:docMk/>
            <pc:sldMk cId="1120631758" sldId="273"/>
            <ac:picMk id="2" creationId="{1B686E54-C6AF-24D5-C7C0-505D6B05785E}"/>
          </ac:picMkLst>
        </pc:picChg>
        <pc:picChg chg="del">
          <ac:chgData name="Abdullah Azzam" userId="f059aa071fd63225" providerId="LiveId" clId="{53F7CF5F-0879-47DE-BC68-EFCB0B141EFC}" dt="2026-01-20T14:21:39.321" v="21" actId="478"/>
          <ac:picMkLst>
            <pc:docMk/>
            <pc:sldMk cId="1120631758" sldId="273"/>
            <ac:picMk id="3" creationId="{A885301C-B2C1-D10F-7968-9266AE8037B8}"/>
          </ac:picMkLst>
        </pc:picChg>
        <pc:picChg chg="add del mod">
          <ac:chgData name="Abdullah Azzam" userId="f059aa071fd63225" providerId="LiveId" clId="{53F7CF5F-0879-47DE-BC68-EFCB0B141EFC}" dt="2026-01-20T14:22:10.880" v="27" actId="478"/>
          <ac:picMkLst>
            <pc:docMk/>
            <pc:sldMk cId="1120631758" sldId="273"/>
            <ac:picMk id="4" creationId="{ACF34261-3324-C294-65F7-0B6E6FDE534E}"/>
          </ac:picMkLst>
        </pc:picChg>
        <pc:picChg chg="add mod">
          <ac:chgData name="Abdullah Azzam" userId="f059aa071fd63225" providerId="LiveId" clId="{53F7CF5F-0879-47DE-BC68-EFCB0B141EFC}" dt="2026-01-20T14:34:33.605" v="834"/>
          <ac:picMkLst>
            <pc:docMk/>
            <pc:sldMk cId="1120631758" sldId="273"/>
            <ac:picMk id="11" creationId="{C0C86434-2DF5-CD02-142F-8A95B9774EAB}"/>
          </ac:picMkLst>
        </pc:picChg>
      </pc:sldChg>
      <pc:sldChg chg="delSp modSp add del mod">
        <pc:chgData name="Abdullah Azzam" userId="f059aa071fd63225" providerId="LiveId" clId="{53F7CF5F-0879-47DE-BC68-EFCB0B141EFC}" dt="2026-01-20T14:52:51.243" v="1520" actId="47"/>
        <pc:sldMkLst>
          <pc:docMk/>
          <pc:sldMk cId="2241005921" sldId="274"/>
        </pc:sldMkLst>
        <pc:spChg chg="mod">
          <ac:chgData name="Abdullah Azzam" userId="f059aa071fd63225" providerId="LiveId" clId="{53F7CF5F-0879-47DE-BC68-EFCB0B141EFC}" dt="2026-01-20T14:36:26.077" v="864" actId="20577"/>
          <ac:spMkLst>
            <pc:docMk/>
            <pc:sldMk cId="2241005921" sldId="274"/>
            <ac:spMk id="23" creationId="{66C7C220-4E20-6810-2A1B-BE5023A2AA2A}"/>
          </ac:spMkLst>
        </pc:spChg>
        <pc:spChg chg="del mod">
          <ac:chgData name="Abdullah Azzam" userId="f059aa071fd63225" providerId="LiveId" clId="{53F7CF5F-0879-47DE-BC68-EFCB0B141EFC}" dt="2026-01-20T14:36:09.331" v="860"/>
          <ac:spMkLst>
            <pc:docMk/>
            <pc:sldMk cId="2241005921" sldId="274"/>
            <ac:spMk id="36" creationId="{56DA06C3-99EB-BEC0-E2F2-7ABF7DA6820F}"/>
          </ac:spMkLst>
        </pc:spChg>
      </pc:sldChg>
      <pc:sldChg chg="addSp delSp modSp add mod">
        <pc:chgData name="Abdullah Azzam" userId="f059aa071fd63225" providerId="LiveId" clId="{53F7CF5F-0879-47DE-BC68-EFCB0B141EFC}" dt="2026-01-20T15:37:32.400" v="2101" actId="20577"/>
        <pc:sldMkLst>
          <pc:docMk/>
          <pc:sldMk cId="3409709700" sldId="275"/>
        </pc:sldMkLst>
        <pc:spChg chg="mod">
          <ac:chgData name="Abdullah Azzam" userId="f059aa071fd63225" providerId="LiveId" clId="{53F7CF5F-0879-47DE-BC68-EFCB0B141EFC}" dt="2026-01-20T15:36:21.203" v="2084" actId="20577"/>
          <ac:spMkLst>
            <pc:docMk/>
            <pc:sldMk cId="3409709700" sldId="275"/>
            <ac:spMk id="19" creationId="{9FA155C9-93F9-22D1-0BD4-AA5B4B287DA1}"/>
          </ac:spMkLst>
        </pc:spChg>
        <pc:spChg chg="mod">
          <ac:chgData name="Abdullah Azzam" userId="f059aa071fd63225" providerId="LiveId" clId="{53F7CF5F-0879-47DE-BC68-EFCB0B141EFC}" dt="2026-01-20T15:37:32.400" v="2101" actId="20577"/>
          <ac:spMkLst>
            <pc:docMk/>
            <pc:sldMk cId="3409709700" sldId="275"/>
            <ac:spMk id="36" creationId="{21A376E4-F005-06F9-52ED-574BCDEB44E1}"/>
          </ac:spMkLst>
        </pc:spChg>
        <pc:picChg chg="add del">
          <ac:chgData name="Abdullah Azzam" userId="f059aa071fd63225" providerId="LiveId" clId="{53F7CF5F-0879-47DE-BC68-EFCB0B141EFC}" dt="2026-01-20T14:45:37.472" v="1465" actId="478"/>
          <ac:picMkLst>
            <pc:docMk/>
            <pc:sldMk cId="3409709700" sldId="275"/>
            <ac:picMk id="2" creationId="{78018906-BAB4-4281-90D1-DE6FC8025056}"/>
          </ac:picMkLst>
        </pc:picChg>
        <pc:picChg chg="add del">
          <ac:chgData name="Abdullah Azzam" userId="f059aa071fd63225" providerId="LiveId" clId="{53F7CF5F-0879-47DE-BC68-EFCB0B141EFC}" dt="2026-01-20T14:45:13.165" v="1457" actId="22"/>
          <ac:picMkLst>
            <pc:docMk/>
            <pc:sldMk cId="3409709700" sldId="275"/>
            <ac:picMk id="4" creationId="{27844D5D-30AA-2435-CCB4-CCF51AE770F1}"/>
          </ac:picMkLst>
        </pc:picChg>
        <pc:picChg chg="add mod">
          <ac:chgData name="Abdullah Azzam" userId="f059aa071fd63225" providerId="LiveId" clId="{53F7CF5F-0879-47DE-BC68-EFCB0B141EFC}" dt="2026-01-20T14:45:47.429" v="1467" actId="208"/>
          <ac:picMkLst>
            <pc:docMk/>
            <pc:sldMk cId="3409709700" sldId="275"/>
            <ac:picMk id="12" creationId="{34416CB4-4E4A-41FD-B46B-16A0E395EDA3}"/>
          </ac:picMkLst>
        </pc:picChg>
      </pc:sldChg>
      <pc:sldChg chg="addSp delSp modSp add mod">
        <pc:chgData name="Abdullah Azzam" userId="f059aa071fd63225" providerId="LiveId" clId="{53F7CF5F-0879-47DE-BC68-EFCB0B141EFC}" dt="2026-01-20T15:36:25.159" v="2086" actId="20577"/>
        <pc:sldMkLst>
          <pc:docMk/>
          <pc:sldMk cId="1972913528" sldId="276"/>
        </pc:sldMkLst>
        <pc:spChg chg="mod">
          <ac:chgData name="Abdullah Azzam" userId="f059aa071fd63225" providerId="LiveId" clId="{53F7CF5F-0879-47DE-BC68-EFCB0B141EFC}" dt="2026-01-20T15:36:25.159" v="2086" actId="20577"/>
          <ac:spMkLst>
            <pc:docMk/>
            <pc:sldMk cId="1972913528" sldId="276"/>
            <ac:spMk id="19" creationId="{9E2450B3-593F-94D6-A629-EBA6CF7EDE0D}"/>
          </ac:spMkLst>
        </pc:spChg>
        <pc:spChg chg="mod">
          <ac:chgData name="Abdullah Azzam" userId="f059aa071fd63225" providerId="LiveId" clId="{53F7CF5F-0879-47DE-BC68-EFCB0B141EFC}" dt="2026-01-20T14:53:01.693" v="1524" actId="20577"/>
          <ac:spMkLst>
            <pc:docMk/>
            <pc:sldMk cId="1972913528" sldId="276"/>
            <ac:spMk id="23" creationId="{60CDC15E-AC65-C427-6DBD-D33B18B8DCFE}"/>
          </ac:spMkLst>
        </pc:spChg>
        <pc:spChg chg="mod">
          <ac:chgData name="Abdullah Azzam" userId="f059aa071fd63225" providerId="LiveId" clId="{53F7CF5F-0879-47DE-BC68-EFCB0B141EFC}" dt="2026-01-20T15:35:34.869" v="2081" actId="20577"/>
          <ac:spMkLst>
            <pc:docMk/>
            <pc:sldMk cId="1972913528" sldId="276"/>
            <ac:spMk id="36" creationId="{4CA195A1-D47D-9ACF-D126-761069380CDA}"/>
          </ac:spMkLst>
        </pc:spChg>
        <pc:picChg chg="add mod">
          <ac:chgData name="Abdullah Azzam" userId="f059aa071fd63225" providerId="LiveId" clId="{53F7CF5F-0879-47DE-BC68-EFCB0B141EFC}" dt="2026-01-20T15:32:09.829" v="1736" actId="14100"/>
          <ac:picMkLst>
            <pc:docMk/>
            <pc:sldMk cId="1972913528" sldId="276"/>
            <ac:picMk id="3" creationId="{EB0275E1-6C9B-23EA-6866-CF15C05DC199}"/>
          </ac:picMkLst>
        </pc:picChg>
        <pc:picChg chg="del">
          <ac:chgData name="Abdullah Azzam" userId="f059aa071fd63225" providerId="LiveId" clId="{53F7CF5F-0879-47DE-BC68-EFCB0B141EFC}" dt="2026-01-20T15:30:06.269" v="1724" actId="478"/>
          <ac:picMkLst>
            <pc:docMk/>
            <pc:sldMk cId="1972913528" sldId="276"/>
            <ac:picMk id="12" creationId="{42B1DE22-062D-7F0D-49C2-754AF110DC65}"/>
          </ac:picMkLst>
        </pc:picChg>
      </pc:sldChg>
      <pc:sldChg chg="addSp delSp modSp add mod">
        <pc:chgData name="Abdullah Azzam" userId="f059aa071fd63225" providerId="LiveId" clId="{53F7CF5F-0879-47DE-BC68-EFCB0B141EFC}" dt="2026-01-20T15:48:49.337" v="2906" actId="20577"/>
        <pc:sldMkLst>
          <pc:docMk/>
          <pc:sldMk cId="175217574" sldId="277"/>
        </pc:sldMkLst>
        <pc:spChg chg="mod">
          <ac:chgData name="Abdullah Azzam" userId="f059aa071fd63225" providerId="LiveId" clId="{53F7CF5F-0879-47DE-BC68-EFCB0B141EFC}" dt="2026-01-20T15:36:29.654" v="2088" actId="20577"/>
          <ac:spMkLst>
            <pc:docMk/>
            <pc:sldMk cId="175217574" sldId="277"/>
            <ac:spMk id="19" creationId="{1D408EBD-1468-9BF5-A233-E27A00E4C16E}"/>
          </ac:spMkLst>
        </pc:spChg>
        <pc:spChg chg="mod">
          <ac:chgData name="Abdullah Azzam" userId="f059aa071fd63225" providerId="LiveId" clId="{53F7CF5F-0879-47DE-BC68-EFCB0B141EFC}" dt="2026-01-20T15:36:42.569" v="2092" actId="20577"/>
          <ac:spMkLst>
            <pc:docMk/>
            <pc:sldMk cId="175217574" sldId="277"/>
            <ac:spMk id="23" creationId="{E04D974A-1CF8-807A-78E3-2AAA64FDD4C9}"/>
          </ac:spMkLst>
        </pc:spChg>
        <pc:spChg chg="mod">
          <ac:chgData name="Abdullah Azzam" userId="f059aa071fd63225" providerId="LiveId" clId="{53F7CF5F-0879-47DE-BC68-EFCB0B141EFC}" dt="2026-01-20T15:48:49.337" v="2906" actId="20577"/>
          <ac:spMkLst>
            <pc:docMk/>
            <pc:sldMk cId="175217574" sldId="277"/>
            <ac:spMk id="36" creationId="{324E0EC0-6A26-79FF-E041-608287F70755}"/>
          </ac:spMkLst>
        </pc:spChg>
        <pc:picChg chg="del">
          <ac:chgData name="Abdullah Azzam" userId="f059aa071fd63225" providerId="LiveId" clId="{53F7CF5F-0879-47DE-BC68-EFCB0B141EFC}" dt="2026-01-20T15:40:56.601" v="2112" actId="478"/>
          <ac:picMkLst>
            <pc:docMk/>
            <pc:sldMk cId="175217574" sldId="277"/>
            <ac:picMk id="3" creationId="{B046D82C-7D46-AC79-54E4-A34C99C8712C}"/>
          </ac:picMkLst>
        </pc:picChg>
        <pc:picChg chg="add mod">
          <ac:chgData name="Abdullah Azzam" userId="f059aa071fd63225" providerId="LiveId" clId="{53F7CF5F-0879-47DE-BC68-EFCB0B141EFC}" dt="2026-01-20T15:41:07.775" v="2115" actId="208"/>
          <ac:picMkLst>
            <pc:docMk/>
            <pc:sldMk cId="175217574" sldId="277"/>
            <ac:picMk id="4" creationId="{D1F9ED9B-F7BC-1FA9-9877-14503DA5900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2D4F5-A1EA-4AEF-97E6-A14332C9314F}" type="datetimeFigureOut">
              <a:rPr lang="en-ID" smtClean="0"/>
              <a:t>22/01/2026</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84A8B6-657F-4DC6-A48D-2DB100BBF8D9}" type="slidenum">
              <a:rPr lang="en-ID" smtClean="0"/>
              <a:t>‹#›</a:t>
            </a:fld>
            <a:endParaRPr lang="en-ID"/>
          </a:p>
        </p:txBody>
      </p:sp>
    </p:spTree>
    <p:extLst>
      <p:ext uri="{BB962C8B-B14F-4D97-AF65-F5344CB8AC3E}">
        <p14:creationId xmlns:p14="http://schemas.microsoft.com/office/powerpoint/2010/main" val="14452765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76.13.17.200:3000/" TargetMode="External"/><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platform.openai.com/docs/models/text-embedding-3-small" TargetMode="External"/><Relationship Id="rId7" Type="http://schemas.openxmlformats.org/officeDocument/2006/relationships/image" Target="../media/image3.png"/><Relationship Id="rId2" Type="http://schemas.openxmlformats.org/officeDocument/2006/relationships/hyperlink" Target="https://go-kratos.dev/" TargetMode="External"/><Relationship Id="rId1" Type="http://schemas.openxmlformats.org/officeDocument/2006/relationships/slideLayout" Target="../slideLayouts/slideLayout7.xml"/><Relationship Id="rId6" Type="http://schemas.openxmlformats.org/officeDocument/2006/relationships/hyperlink" Target="https://chakra-ui.com/" TargetMode="External"/><Relationship Id="rId5" Type="http://schemas.openxmlformats.org/officeDocument/2006/relationships/hyperlink" Target="https://horizon-ui.com/" TargetMode="External"/><Relationship Id="rId4" Type="http://schemas.openxmlformats.org/officeDocument/2006/relationships/hyperlink" Target="https://docs.pytorch.org/docs/stable/generated/torch.nn.EmbeddingBag.html"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1.sv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9.sv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9.sv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8" Type="http://schemas.openxmlformats.org/officeDocument/2006/relationships/hyperlink" Target="https://github.com/azzamt11/yinni_backend" TargetMode="External"/><Relationship Id="rId13" Type="http://schemas.openxmlformats.org/officeDocument/2006/relationships/hyperlink" Target="https://github.com/azzamt11/yinni_backend/blob/main/yinni_api_collection.json" TargetMode="External"/><Relationship Id="rId3" Type="http://schemas.openxmlformats.org/officeDocument/2006/relationships/image" Target="../media/image23.svg"/><Relationship Id="rId7" Type="http://schemas.openxmlformats.org/officeDocument/2006/relationships/hyperlink" Target="http://76.13.17.200:8002/v1/products" TargetMode="External"/><Relationship Id="rId12" Type="http://schemas.openxmlformats.org/officeDocument/2006/relationships/hyperlink" Target="https://github.com/azzamt11/yinni_ai" TargetMode="External"/><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hyperlink" Target="http://76.13.17.200:8003/v1/prompt" TargetMode="External"/><Relationship Id="rId11" Type="http://schemas.openxmlformats.org/officeDocument/2006/relationships/hyperlink" Target="http://76.13.17.200:8501/" TargetMode="External"/><Relationship Id="rId5" Type="http://schemas.openxmlformats.org/officeDocument/2006/relationships/hyperlink" Target="http://76.13.17.200:8000/v1/auth/sign-in" TargetMode="External"/><Relationship Id="rId10" Type="http://schemas.openxmlformats.org/officeDocument/2006/relationships/hyperlink" Target="https://github.com/azzamt11/yinni_web" TargetMode="External"/><Relationship Id="rId4" Type="http://schemas.openxmlformats.org/officeDocument/2006/relationships/image" Target="../media/image3.png"/><Relationship Id="rId9" Type="http://schemas.openxmlformats.org/officeDocument/2006/relationships/hyperlink" Target="http://76.13.17.200:3000/"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772763" y="4669872"/>
            <a:ext cx="12206151" cy="2120819"/>
          </a:xfrm>
          <a:custGeom>
            <a:avLst/>
            <a:gdLst/>
            <a:ahLst/>
            <a:cxnLst/>
            <a:rect l="l" t="t" r="r" b="b"/>
            <a:pathLst>
              <a:path w="12206151" h="2120819">
                <a:moveTo>
                  <a:pt x="0" y="0"/>
                </a:moveTo>
                <a:lnTo>
                  <a:pt x="12206151" y="0"/>
                </a:lnTo>
                <a:lnTo>
                  <a:pt x="12206151" y="2120819"/>
                </a:lnTo>
                <a:lnTo>
                  <a:pt x="0" y="2120819"/>
                </a:lnTo>
                <a:lnTo>
                  <a:pt x="0" y="0"/>
                </a:lnTo>
                <a:close/>
              </a:path>
            </a:pathLst>
          </a:custGeom>
          <a:blipFill>
            <a:blip r:embed="rId2"/>
            <a:stretch>
              <a:fillRect/>
            </a:stretch>
          </a:blipFill>
        </p:spPr>
        <p:txBody>
          <a:bodyPr/>
          <a:lstStyle/>
          <a:p>
            <a:endParaRPr lang="en-ID"/>
          </a:p>
        </p:txBody>
      </p:sp>
      <p:grpSp>
        <p:nvGrpSpPr>
          <p:cNvPr id="5" name="Group 5"/>
          <p:cNvGrpSpPr/>
          <p:nvPr/>
        </p:nvGrpSpPr>
        <p:grpSpPr>
          <a:xfrm>
            <a:off x="-772763" y="1028700"/>
            <a:ext cx="12206151" cy="5169700"/>
            <a:chOff x="0" y="0"/>
            <a:chExt cx="3214789" cy="1361567"/>
          </a:xfrm>
        </p:grpSpPr>
        <p:sp>
          <p:nvSpPr>
            <p:cNvPr id="6" name="Freeform 6"/>
            <p:cNvSpPr/>
            <p:nvPr/>
          </p:nvSpPr>
          <p:spPr>
            <a:xfrm>
              <a:off x="0" y="0"/>
              <a:ext cx="3214789" cy="1361567"/>
            </a:xfrm>
            <a:custGeom>
              <a:avLst/>
              <a:gdLst/>
              <a:ahLst/>
              <a:cxnLst/>
              <a:rect l="l" t="t" r="r" b="b"/>
              <a:pathLst>
                <a:path w="3214789" h="1361567">
                  <a:moveTo>
                    <a:pt x="0" y="0"/>
                  </a:moveTo>
                  <a:lnTo>
                    <a:pt x="3214789" y="0"/>
                  </a:lnTo>
                  <a:lnTo>
                    <a:pt x="3214789" y="1361567"/>
                  </a:lnTo>
                  <a:lnTo>
                    <a:pt x="0" y="1361567"/>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3214789" cy="1418717"/>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5052484" y="9015937"/>
            <a:ext cx="3556366" cy="617919"/>
          </a:xfrm>
          <a:custGeom>
            <a:avLst/>
            <a:gdLst/>
            <a:ahLst/>
            <a:cxnLst/>
            <a:rect l="l" t="t" r="r" b="b"/>
            <a:pathLst>
              <a:path w="3556366" h="617919">
                <a:moveTo>
                  <a:pt x="0" y="0"/>
                </a:moveTo>
                <a:lnTo>
                  <a:pt x="3556366" y="0"/>
                </a:lnTo>
                <a:lnTo>
                  <a:pt x="3556366" y="617918"/>
                </a:lnTo>
                <a:lnTo>
                  <a:pt x="0" y="617918"/>
                </a:lnTo>
                <a:lnTo>
                  <a:pt x="0" y="0"/>
                </a:lnTo>
                <a:close/>
              </a:path>
            </a:pathLst>
          </a:custGeom>
          <a:blipFill>
            <a:blip r:embed="rId2"/>
            <a:stretch>
              <a:fillRect/>
            </a:stretch>
          </a:blipFill>
        </p:spPr>
        <p:txBody>
          <a:bodyPr/>
          <a:lstStyle/>
          <a:p>
            <a:endParaRPr lang="en-ID"/>
          </a:p>
        </p:txBody>
      </p:sp>
      <p:grpSp>
        <p:nvGrpSpPr>
          <p:cNvPr id="9" name="Group 9"/>
          <p:cNvGrpSpPr/>
          <p:nvPr/>
        </p:nvGrpSpPr>
        <p:grpSpPr>
          <a:xfrm>
            <a:off x="15052484" y="7624994"/>
            <a:ext cx="4413632" cy="1795868"/>
            <a:chOff x="0" y="0"/>
            <a:chExt cx="293901" cy="119586"/>
          </a:xfrm>
        </p:grpSpPr>
        <p:sp>
          <p:nvSpPr>
            <p:cNvPr id="10" name="Freeform 10"/>
            <p:cNvSpPr/>
            <p:nvPr/>
          </p:nvSpPr>
          <p:spPr>
            <a:xfrm>
              <a:off x="0" y="0"/>
              <a:ext cx="293901" cy="119586"/>
            </a:xfrm>
            <a:custGeom>
              <a:avLst/>
              <a:gdLst/>
              <a:ahLst/>
              <a:cxnLst/>
              <a:rect l="l" t="t" r="r" b="b"/>
              <a:pathLst>
                <a:path w="293901" h="119586">
                  <a:moveTo>
                    <a:pt x="0" y="0"/>
                  </a:moveTo>
                  <a:lnTo>
                    <a:pt x="293901" y="0"/>
                  </a:lnTo>
                  <a:lnTo>
                    <a:pt x="293901" y="119586"/>
                  </a:lnTo>
                  <a:lnTo>
                    <a:pt x="0" y="119586"/>
                  </a:lnTo>
                  <a:close/>
                </a:path>
              </a:pathLst>
            </a:custGeom>
            <a:solidFill>
              <a:schemeClr val="tx2">
                <a:lumMod val="20000"/>
                <a:lumOff val="80000"/>
              </a:schemeClr>
            </a:solidFill>
            <a:ln>
              <a:solidFill>
                <a:schemeClr val="tx2">
                  <a:lumMod val="40000"/>
                  <a:lumOff val="60000"/>
                </a:schemeClr>
              </a:solidFill>
            </a:ln>
          </p:spPr>
          <p:txBody>
            <a:bodyPr/>
            <a:lstStyle/>
            <a:p>
              <a:endParaRPr lang="en-ID" dirty="0"/>
            </a:p>
          </p:txBody>
        </p:sp>
        <p:sp>
          <p:nvSpPr>
            <p:cNvPr id="11" name="TextBox 11"/>
            <p:cNvSpPr txBox="1"/>
            <p:nvPr/>
          </p:nvSpPr>
          <p:spPr>
            <a:xfrm>
              <a:off x="0" y="-57150"/>
              <a:ext cx="293901" cy="176736"/>
            </a:xfrm>
            <a:prstGeom prst="rect">
              <a:avLst/>
            </a:prstGeom>
          </p:spPr>
          <p:txBody>
            <a:bodyPr lIns="50800" tIns="50800" rIns="50800" bIns="50800" rtlCol="0" anchor="ctr"/>
            <a:lstStyle/>
            <a:p>
              <a:pPr algn="ctr">
                <a:lnSpc>
                  <a:spcPts val="2659"/>
                </a:lnSpc>
                <a:spcBef>
                  <a:spcPct val="0"/>
                </a:spcBef>
              </a:pPr>
              <a:endParaRPr/>
            </a:p>
          </p:txBody>
        </p:sp>
      </p:grpSp>
      <p:grpSp>
        <p:nvGrpSpPr>
          <p:cNvPr id="13" name="Group 13"/>
          <p:cNvGrpSpPr/>
          <p:nvPr/>
        </p:nvGrpSpPr>
        <p:grpSpPr>
          <a:xfrm>
            <a:off x="-772763" y="9925307"/>
            <a:ext cx="19685815" cy="999195"/>
            <a:chOff x="0" y="0"/>
            <a:chExt cx="5184741" cy="263162"/>
          </a:xfrm>
        </p:grpSpPr>
        <p:sp>
          <p:nvSpPr>
            <p:cNvPr id="14" name="Freeform 14"/>
            <p:cNvSpPr/>
            <p:nvPr/>
          </p:nvSpPr>
          <p:spPr>
            <a:xfrm>
              <a:off x="0" y="0"/>
              <a:ext cx="5184742" cy="263162"/>
            </a:xfrm>
            <a:custGeom>
              <a:avLst/>
              <a:gdLst/>
              <a:ahLst/>
              <a:cxnLst/>
              <a:rect l="l" t="t" r="r" b="b"/>
              <a:pathLst>
                <a:path w="5184742" h="263162">
                  <a:moveTo>
                    <a:pt x="0" y="0"/>
                  </a:moveTo>
                  <a:lnTo>
                    <a:pt x="5184742" y="0"/>
                  </a:lnTo>
                  <a:lnTo>
                    <a:pt x="5184742" y="263162"/>
                  </a:lnTo>
                  <a:lnTo>
                    <a:pt x="0" y="263162"/>
                  </a:lnTo>
                  <a:close/>
                </a:path>
              </a:pathLst>
            </a:custGeom>
            <a:solidFill>
              <a:schemeClr val="tx2">
                <a:lumMod val="40000"/>
                <a:lumOff val="60000"/>
              </a:schemeClr>
            </a:solidFill>
          </p:spPr>
          <p:txBody>
            <a:bodyPr/>
            <a:lstStyle/>
            <a:p>
              <a:endParaRPr lang="en-ID" dirty="0"/>
            </a:p>
          </p:txBody>
        </p:sp>
        <p:sp>
          <p:nvSpPr>
            <p:cNvPr id="15" name="TextBox 15"/>
            <p:cNvSpPr txBox="1"/>
            <p:nvPr/>
          </p:nvSpPr>
          <p:spPr>
            <a:xfrm>
              <a:off x="0" y="-57150"/>
              <a:ext cx="5184741" cy="320312"/>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a:off x="1028700" y="6990944"/>
            <a:ext cx="140223" cy="1686052"/>
            <a:chOff x="0" y="0"/>
            <a:chExt cx="36931" cy="444063"/>
          </a:xfrm>
        </p:grpSpPr>
        <p:sp>
          <p:nvSpPr>
            <p:cNvPr id="17" name="Freeform 17"/>
            <p:cNvSpPr/>
            <p:nvPr/>
          </p:nvSpPr>
          <p:spPr>
            <a:xfrm>
              <a:off x="0" y="0"/>
              <a:ext cx="36931" cy="444063"/>
            </a:xfrm>
            <a:custGeom>
              <a:avLst/>
              <a:gdLst/>
              <a:ahLst/>
              <a:cxnLst/>
              <a:rect l="l" t="t" r="r" b="b"/>
              <a:pathLst>
                <a:path w="36931" h="444063">
                  <a:moveTo>
                    <a:pt x="0" y="0"/>
                  </a:moveTo>
                  <a:lnTo>
                    <a:pt x="36931" y="0"/>
                  </a:lnTo>
                  <a:lnTo>
                    <a:pt x="36931" y="444063"/>
                  </a:lnTo>
                  <a:lnTo>
                    <a:pt x="0" y="444063"/>
                  </a:lnTo>
                  <a:close/>
                </a:path>
              </a:pathLst>
            </a:custGeom>
            <a:solidFill>
              <a:schemeClr val="tx2">
                <a:lumMod val="40000"/>
                <a:lumOff val="60000"/>
              </a:schemeClr>
            </a:solidFill>
          </p:spPr>
          <p:txBody>
            <a:bodyPr/>
            <a:lstStyle/>
            <a:p>
              <a:endParaRPr lang="en-ID"/>
            </a:p>
          </p:txBody>
        </p:sp>
        <p:sp>
          <p:nvSpPr>
            <p:cNvPr id="18" name="TextBox 18"/>
            <p:cNvSpPr txBox="1"/>
            <p:nvPr/>
          </p:nvSpPr>
          <p:spPr>
            <a:xfrm>
              <a:off x="0" y="-57150"/>
              <a:ext cx="36931" cy="501213"/>
            </a:xfrm>
            <a:prstGeom prst="rect">
              <a:avLst/>
            </a:prstGeom>
          </p:spPr>
          <p:txBody>
            <a:bodyPr lIns="50800" tIns="50800" rIns="50800" bIns="50800" rtlCol="0" anchor="ctr"/>
            <a:lstStyle/>
            <a:p>
              <a:pPr algn="ctr">
                <a:lnSpc>
                  <a:spcPts val="2659"/>
                </a:lnSpc>
                <a:spcBef>
                  <a:spcPct val="0"/>
                </a:spcBef>
              </a:pPr>
              <a:endParaRPr/>
            </a:p>
          </p:txBody>
        </p:sp>
      </p:grpSp>
      <p:grpSp>
        <p:nvGrpSpPr>
          <p:cNvPr id="19" name="Group 19"/>
          <p:cNvGrpSpPr/>
          <p:nvPr/>
        </p:nvGrpSpPr>
        <p:grpSpPr>
          <a:xfrm>
            <a:off x="1028700" y="8248242"/>
            <a:ext cx="140223" cy="428754"/>
            <a:chOff x="0" y="0"/>
            <a:chExt cx="36931" cy="112923"/>
          </a:xfrm>
        </p:grpSpPr>
        <p:sp>
          <p:nvSpPr>
            <p:cNvPr id="20" name="Freeform 20"/>
            <p:cNvSpPr/>
            <p:nvPr/>
          </p:nvSpPr>
          <p:spPr>
            <a:xfrm>
              <a:off x="0" y="0"/>
              <a:ext cx="36931" cy="112923"/>
            </a:xfrm>
            <a:custGeom>
              <a:avLst/>
              <a:gdLst/>
              <a:ahLst/>
              <a:cxnLst/>
              <a:rect l="l" t="t" r="r" b="b"/>
              <a:pathLst>
                <a:path w="36931" h="112923">
                  <a:moveTo>
                    <a:pt x="0" y="0"/>
                  </a:moveTo>
                  <a:lnTo>
                    <a:pt x="36931" y="0"/>
                  </a:lnTo>
                  <a:lnTo>
                    <a:pt x="36931" y="112923"/>
                  </a:lnTo>
                  <a:lnTo>
                    <a:pt x="0" y="112923"/>
                  </a:lnTo>
                  <a:close/>
                </a:path>
              </a:pathLst>
            </a:custGeom>
            <a:solidFill>
              <a:schemeClr val="tx2">
                <a:lumMod val="75000"/>
              </a:schemeClr>
            </a:solidFill>
          </p:spPr>
          <p:txBody>
            <a:bodyPr/>
            <a:lstStyle/>
            <a:p>
              <a:endParaRPr lang="en-ID" dirty="0"/>
            </a:p>
          </p:txBody>
        </p:sp>
        <p:sp>
          <p:nvSpPr>
            <p:cNvPr id="21" name="TextBox 21"/>
            <p:cNvSpPr txBox="1"/>
            <p:nvPr/>
          </p:nvSpPr>
          <p:spPr>
            <a:xfrm>
              <a:off x="0" y="-57150"/>
              <a:ext cx="36931" cy="170073"/>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457200" y="457200"/>
            <a:ext cx="1143000" cy="1143000"/>
            <a:chOff x="0" y="0"/>
            <a:chExt cx="76112" cy="76112"/>
          </a:xfrm>
          <a:solidFill>
            <a:schemeClr val="tx2">
              <a:lumMod val="60000"/>
              <a:lumOff val="40000"/>
            </a:schemeClr>
          </a:solidFill>
        </p:grpSpPr>
        <p:sp>
          <p:nvSpPr>
            <p:cNvPr id="23" name="Freeform 23"/>
            <p:cNvSpPr/>
            <p:nvPr/>
          </p:nvSpPr>
          <p:spPr>
            <a:xfrm>
              <a:off x="0" y="0"/>
              <a:ext cx="76112" cy="76112"/>
            </a:xfrm>
            <a:custGeom>
              <a:avLst/>
              <a:gdLst/>
              <a:ahLst/>
              <a:cxnLst/>
              <a:rect l="l" t="t" r="r" b="b"/>
              <a:pathLst>
                <a:path w="76112" h="76112">
                  <a:moveTo>
                    <a:pt x="0" y="0"/>
                  </a:moveTo>
                  <a:lnTo>
                    <a:pt x="76112" y="0"/>
                  </a:lnTo>
                  <a:lnTo>
                    <a:pt x="76112" y="76112"/>
                  </a:lnTo>
                  <a:lnTo>
                    <a:pt x="0" y="76112"/>
                  </a:lnTo>
                  <a:close/>
                </a:path>
              </a:pathLst>
            </a:custGeom>
            <a:grpFill/>
          </p:spPr>
          <p:txBody>
            <a:bodyPr/>
            <a:lstStyle/>
            <a:p>
              <a:endParaRPr lang="en-ID"/>
            </a:p>
          </p:txBody>
        </p:sp>
        <p:sp>
          <p:nvSpPr>
            <p:cNvPr id="24" name="TextBox 24"/>
            <p:cNvSpPr txBox="1"/>
            <p:nvPr/>
          </p:nvSpPr>
          <p:spPr>
            <a:xfrm>
              <a:off x="0" y="-57150"/>
              <a:ext cx="76112" cy="133262"/>
            </a:xfrm>
            <a:prstGeom prst="rect">
              <a:avLst/>
            </a:prstGeom>
            <a:grpFill/>
          </p:spPr>
          <p:txBody>
            <a:bodyPr lIns="50800" tIns="50800" rIns="50800" bIns="50800" rtlCol="0" anchor="ctr"/>
            <a:lstStyle/>
            <a:p>
              <a:pPr algn="ctr">
                <a:lnSpc>
                  <a:spcPts val="2659"/>
                </a:lnSpc>
                <a:spcBef>
                  <a:spcPct val="0"/>
                </a:spcBef>
              </a:pPr>
              <a:endParaRPr/>
            </a:p>
          </p:txBody>
        </p:sp>
      </p:grpSp>
      <p:sp>
        <p:nvSpPr>
          <p:cNvPr id="28" name="TextBox 28"/>
          <p:cNvSpPr txBox="1"/>
          <p:nvPr/>
        </p:nvSpPr>
        <p:spPr>
          <a:xfrm>
            <a:off x="15703749" y="8753534"/>
            <a:ext cx="1746051" cy="276166"/>
          </a:xfrm>
          <a:prstGeom prst="rect">
            <a:avLst/>
          </a:prstGeom>
        </p:spPr>
        <p:txBody>
          <a:bodyPr lIns="0" tIns="0" rIns="0" bIns="0" rtlCol="0" anchor="t">
            <a:spAutoFit/>
          </a:bodyPr>
          <a:lstStyle/>
          <a:p>
            <a:pPr algn="ctr">
              <a:lnSpc>
                <a:spcPts val="1842"/>
              </a:lnSpc>
            </a:pPr>
            <a:r>
              <a:rPr lang="en-US" sz="2800" spc="221" dirty="0">
                <a:solidFill>
                  <a:srgbClr val="343434"/>
                </a:solidFill>
                <a:latin typeface="Coco Gothic Bold"/>
                <a:ea typeface="Coco Gothic Bold"/>
                <a:cs typeface="Coco Gothic Bold"/>
                <a:sym typeface="Coco Gothic Bold"/>
              </a:rPr>
              <a:t>Yinni</a:t>
            </a:r>
          </a:p>
        </p:txBody>
      </p:sp>
      <p:sp>
        <p:nvSpPr>
          <p:cNvPr id="29" name="TextBox 29"/>
          <p:cNvSpPr txBox="1"/>
          <p:nvPr/>
        </p:nvSpPr>
        <p:spPr>
          <a:xfrm>
            <a:off x="1258393" y="2491838"/>
            <a:ext cx="9697865" cy="1373838"/>
          </a:xfrm>
          <a:prstGeom prst="rect">
            <a:avLst/>
          </a:prstGeom>
        </p:spPr>
        <p:txBody>
          <a:bodyPr lIns="0" tIns="0" rIns="0" bIns="0" rtlCol="0" anchor="t">
            <a:spAutoFit/>
          </a:bodyPr>
          <a:lstStyle/>
          <a:p>
            <a:pPr algn="l">
              <a:lnSpc>
                <a:spcPts val="10545"/>
              </a:lnSpc>
            </a:pPr>
            <a:r>
              <a:rPr lang="en-US" sz="9500" b="1" spc="1482" dirty="0">
                <a:solidFill>
                  <a:srgbClr val="FFFFFF"/>
                </a:solidFill>
                <a:latin typeface="Coco Gothic Heavy"/>
                <a:ea typeface="Coco Gothic Heavy"/>
                <a:cs typeface="Coco Gothic Heavy"/>
                <a:sym typeface="Coco Gothic Heavy"/>
              </a:rPr>
              <a:t>Yinni</a:t>
            </a:r>
            <a:endParaRPr lang="en-US" sz="5400" b="1" spc="1482" dirty="0">
              <a:solidFill>
                <a:srgbClr val="FFFFFF"/>
              </a:solidFill>
              <a:latin typeface="Coco Gothic Heavy"/>
              <a:ea typeface="Coco Gothic Heavy"/>
              <a:cs typeface="Coco Gothic Heavy"/>
              <a:sym typeface="Coco Gothic Heavy"/>
            </a:endParaRPr>
          </a:p>
        </p:txBody>
      </p:sp>
      <p:sp>
        <p:nvSpPr>
          <p:cNvPr id="30" name="TextBox 30"/>
          <p:cNvSpPr txBox="1"/>
          <p:nvPr/>
        </p:nvSpPr>
        <p:spPr>
          <a:xfrm>
            <a:off x="1258392" y="1745261"/>
            <a:ext cx="11848007" cy="603691"/>
          </a:xfrm>
          <a:prstGeom prst="rect">
            <a:avLst/>
          </a:prstGeom>
        </p:spPr>
        <p:txBody>
          <a:bodyPr wrap="square" lIns="0" tIns="0" rIns="0" bIns="0" rtlCol="0" anchor="t">
            <a:spAutoFit/>
          </a:bodyPr>
          <a:lstStyle/>
          <a:p>
            <a:pPr algn="l">
              <a:lnSpc>
                <a:spcPts val="4642"/>
              </a:lnSpc>
            </a:pPr>
            <a:r>
              <a:rPr lang="en-US" sz="4642" dirty="0">
                <a:solidFill>
                  <a:srgbClr val="FFFFFF"/>
                </a:solidFill>
                <a:latin typeface="Coco Gothic"/>
                <a:ea typeface="Coco Gothic"/>
                <a:cs typeface="Coco Gothic"/>
                <a:sym typeface="Coco Gothic"/>
              </a:rPr>
              <a:t>Application Proposal </a:t>
            </a:r>
          </a:p>
        </p:txBody>
      </p:sp>
      <p:sp>
        <p:nvSpPr>
          <p:cNvPr id="31" name="TextBox 31"/>
          <p:cNvSpPr txBox="1"/>
          <p:nvPr/>
        </p:nvSpPr>
        <p:spPr>
          <a:xfrm>
            <a:off x="1258393" y="6988326"/>
            <a:ext cx="3799679"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Abdullah Azzam</a:t>
            </a:r>
          </a:p>
        </p:txBody>
      </p:sp>
      <p:sp>
        <p:nvSpPr>
          <p:cNvPr id="35" name="TextBox 35"/>
          <p:cNvSpPr txBox="1"/>
          <p:nvPr/>
        </p:nvSpPr>
        <p:spPr>
          <a:xfrm>
            <a:off x="1283620" y="7429500"/>
            <a:ext cx="1383380"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2026</a:t>
            </a:r>
          </a:p>
        </p:txBody>
      </p:sp>
      <p:sp>
        <p:nvSpPr>
          <p:cNvPr id="36" name="TextBox 29">
            <a:extLst>
              <a:ext uri="{FF2B5EF4-FFF2-40B4-BE49-F238E27FC236}">
                <a16:creationId xmlns:a16="http://schemas.microsoft.com/office/drawing/2014/main" id="{5D147116-3D13-A246-A5B0-52C620ED5005}"/>
              </a:ext>
            </a:extLst>
          </p:cNvPr>
          <p:cNvSpPr txBox="1"/>
          <p:nvPr/>
        </p:nvSpPr>
        <p:spPr>
          <a:xfrm>
            <a:off x="1411739" y="3326879"/>
            <a:ext cx="11694660" cy="1147815"/>
          </a:xfrm>
          <a:prstGeom prst="rect">
            <a:avLst/>
          </a:prstGeom>
        </p:spPr>
        <p:txBody>
          <a:bodyPr wrap="square" lIns="0" tIns="0" rIns="0" bIns="0" rtlCol="0" anchor="t">
            <a:spAutoFit/>
          </a:bodyPr>
          <a:lstStyle/>
          <a:p>
            <a:pPr algn="l">
              <a:lnSpc>
                <a:spcPts val="10545"/>
              </a:lnSpc>
            </a:pPr>
            <a:r>
              <a:rPr lang="en-US" sz="3600" b="1" spc="1482" dirty="0">
                <a:solidFill>
                  <a:srgbClr val="FFFFFF"/>
                </a:solidFill>
                <a:latin typeface="Coco Gothic Heavy"/>
                <a:ea typeface="Coco Gothic Heavy"/>
                <a:cs typeface="Coco Gothic Heavy"/>
                <a:sym typeface="Coco Gothic Heavy"/>
              </a:rPr>
              <a:t>AI-Assisted Shopping</a:t>
            </a:r>
          </a:p>
        </p:txBody>
      </p:sp>
      <p:sp>
        <p:nvSpPr>
          <p:cNvPr id="37" name="TextBox 29">
            <a:extLst>
              <a:ext uri="{FF2B5EF4-FFF2-40B4-BE49-F238E27FC236}">
                <a16:creationId xmlns:a16="http://schemas.microsoft.com/office/drawing/2014/main" id="{C93ECF08-FFD2-AF67-6F17-AA4CD1DB661D}"/>
              </a:ext>
            </a:extLst>
          </p:cNvPr>
          <p:cNvSpPr txBox="1"/>
          <p:nvPr/>
        </p:nvSpPr>
        <p:spPr>
          <a:xfrm>
            <a:off x="1335540" y="4224285"/>
            <a:ext cx="11694660" cy="1147815"/>
          </a:xfrm>
          <a:prstGeom prst="rect">
            <a:avLst/>
          </a:prstGeom>
        </p:spPr>
        <p:txBody>
          <a:bodyPr wrap="square" lIns="0" tIns="0" rIns="0" bIns="0" rtlCol="0" anchor="t">
            <a:spAutoFit/>
          </a:bodyPr>
          <a:lstStyle/>
          <a:p>
            <a:pPr algn="l">
              <a:lnSpc>
                <a:spcPts val="10545"/>
              </a:lnSpc>
            </a:pPr>
            <a:endParaRPr lang="en-US" sz="3600" b="1" spc="1482" dirty="0">
              <a:solidFill>
                <a:srgbClr val="FFFFFF"/>
              </a:solidFill>
              <a:latin typeface="Coco Gothic Heavy"/>
              <a:ea typeface="Coco Gothic Heavy"/>
              <a:cs typeface="Coco Gothic Heavy"/>
              <a:sym typeface="Coco Gothic Heavy"/>
            </a:endParaRPr>
          </a:p>
        </p:txBody>
      </p:sp>
      <p:pic>
        <p:nvPicPr>
          <p:cNvPr id="42" name="Picture 41">
            <a:extLst>
              <a:ext uri="{FF2B5EF4-FFF2-40B4-BE49-F238E27FC236}">
                <a16:creationId xmlns:a16="http://schemas.microsoft.com/office/drawing/2014/main" id="{6EBB4C46-E8F6-0957-3190-FC9C413E00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979219" y="7581900"/>
            <a:ext cx="1165781" cy="1165781"/>
          </a:xfrm>
          <a:prstGeom prst="rect">
            <a:avLst/>
          </a:prstGeom>
        </p:spPr>
      </p:pic>
      <p:sp>
        <p:nvSpPr>
          <p:cNvPr id="43" name="TextBox 28">
            <a:extLst>
              <a:ext uri="{FF2B5EF4-FFF2-40B4-BE49-F238E27FC236}">
                <a16:creationId xmlns:a16="http://schemas.microsoft.com/office/drawing/2014/main" id="{9CBA6FEC-550D-5722-D76F-3057CB4D0BB8}"/>
              </a:ext>
            </a:extLst>
          </p:cNvPr>
          <p:cNvSpPr txBox="1"/>
          <p:nvPr/>
        </p:nvSpPr>
        <p:spPr>
          <a:xfrm>
            <a:off x="15440033" y="8957423"/>
            <a:ext cx="2390767" cy="224677"/>
          </a:xfrm>
          <a:prstGeom prst="rect">
            <a:avLst/>
          </a:prstGeom>
        </p:spPr>
        <p:txBody>
          <a:bodyPr wrap="square" lIns="0" tIns="0" rIns="0" bIns="0" rtlCol="0" anchor="t">
            <a:spAutoFit/>
          </a:bodyPr>
          <a:lstStyle/>
          <a:p>
            <a:pPr algn="ctr">
              <a:lnSpc>
                <a:spcPts val="1842"/>
              </a:lnSpc>
            </a:pPr>
            <a:r>
              <a:rPr lang="en-US" sz="1400" spc="221" dirty="0">
                <a:solidFill>
                  <a:srgbClr val="343434"/>
                </a:solidFill>
                <a:latin typeface="Coco Gothic Bold"/>
                <a:ea typeface="Coco Gothic Bold"/>
                <a:cs typeface="Coco Gothic Bold"/>
                <a:sym typeface="Coco Gothic Bold"/>
              </a:rPr>
              <a:t>AI-Assisted Shopping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4" name="TextBox 4"/>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grpSp>
        <p:nvGrpSpPr>
          <p:cNvPr id="5" name="Group 5"/>
          <p:cNvGrpSpPr/>
          <p:nvPr/>
        </p:nvGrpSpPr>
        <p:grpSpPr>
          <a:xfrm>
            <a:off x="-772763" y="9925307"/>
            <a:ext cx="19685815" cy="895359"/>
            <a:chOff x="0" y="0"/>
            <a:chExt cx="5184741" cy="235815"/>
          </a:xfrm>
        </p:grpSpPr>
        <p:sp>
          <p:nvSpPr>
            <p:cNvPr id="6" name="Freeform 6"/>
            <p:cNvSpPr/>
            <p:nvPr/>
          </p:nvSpPr>
          <p:spPr>
            <a:xfrm>
              <a:off x="0" y="0"/>
              <a:ext cx="5184742" cy="235815"/>
            </a:xfrm>
            <a:custGeom>
              <a:avLst/>
              <a:gdLst/>
              <a:ahLst/>
              <a:cxnLst/>
              <a:rect l="l" t="t" r="r" b="b"/>
              <a:pathLst>
                <a:path w="5184742" h="235815">
                  <a:moveTo>
                    <a:pt x="0" y="0"/>
                  </a:moveTo>
                  <a:lnTo>
                    <a:pt x="5184742" y="0"/>
                  </a:lnTo>
                  <a:lnTo>
                    <a:pt x="5184742" y="235815"/>
                  </a:lnTo>
                  <a:lnTo>
                    <a:pt x="0" y="235815"/>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92965"/>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03821"/>
            <a:ext cx="19685815" cy="865513"/>
            <a:chOff x="0" y="0"/>
            <a:chExt cx="5184741" cy="227954"/>
          </a:xfrm>
        </p:grpSpPr>
        <p:sp>
          <p:nvSpPr>
            <p:cNvPr id="9" name="Freeform 9"/>
            <p:cNvSpPr/>
            <p:nvPr/>
          </p:nvSpPr>
          <p:spPr>
            <a:xfrm>
              <a:off x="0" y="0"/>
              <a:ext cx="5184742" cy="227954"/>
            </a:xfrm>
            <a:custGeom>
              <a:avLst/>
              <a:gdLst/>
              <a:ahLst/>
              <a:cxnLst/>
              <a:rect l="l" t="t" r="r" b="b"/>
              <a:pathLst>
                <a:path w="5184742" h="227954">
                  <a:moveTo>
                    <a:pt x="0" y="0"/>
                  </a:moveTo>
                  <a:lnTo>
                    <a:pt x="5184742" y="0"/>
                  </a:lnTo>
                  <a:lnTo>
                    <a:pt x="5184742" y="227954"/>
                  </a:lnTo>
                  <a:lnTo>
                    <a:pt x="0" y="227954"/>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85104"/>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7974528" y="1731963"/>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We have seen that E-Commerce Service retain its position as an irreplaceable service in modern industry. Even in the middle of rapid development of AI. Shopping need is universal and eternal need for people. The idea to compete with is definitely a bad idea. But, what if we can build a better service on top of it. Indeed, we can build a service that is constructed not to compete with E-Commerce, but to augment it with the power of AI. Here is Yinni coming for you. </a:t>
            </a:r>
          </a:p>
        </p:txBody>
      </p:sp>
      <p:sp>
        <p:nvSpPr>
          <p:cNvPr id="19" name="TextBox 19"/>
          <p:cNvSpPr txBox="1"/>
          <p:nvPr/>
        </p:nvSpPr>
        <p:spPr>
          <a:xfrm>
            <a:off x="1488903" y="4280535"/>
            <a:ext cx="5628062" cy="874278"/>
          </a:xfrm>
          <a:prstGeom prst="rect">
            <a:avLst/>
          </a:prstGeom>
        </p:spPr>
        <p:txBody>
          <a:bodyPr lIns="0" tIns="0" rIns="0" bIns="0" rtlCol="0" anchor="t">
            <a:spAutoFit/>
          </a:bodyPr>
          <a:lstStyle/>
          <a:p>
            <a:pPr algn="l">
              <a:lnSpc>
                <a:spcPts val="6660"/>
              </a:lnSpc>
            </a:pPr>
            <a:r>
              <a:rPr lang="en-US" sz="6000" b="1" dirty="0">
                <a:solidFill>
                  <a:srgbClr val="343434"/>
                </a:solidFill>
                <a:latin typeface="Coco Gothic Heavy"/>
                <a:ea typeface="Coco Gothic Heavy"/>
                <a:cs typeface="Coco Gothic Heavy"/>
                <a:sym typeface="Coco Gothic Heavy"/>
              </a:rPr>
              <a:t>Motivation</a:t>
            </a:r>
          </a:p>
        </p:txBody>
      </p:sp>
      <p:sp>
        <p:nvSpPr>
          <p:cNvPr id="20" name="TextBox 20"/>
          <p:cNvSpPr txBox="1"/>
          <p:nvPr/>
        </p:nvSpPr>
        <p:spPr>
          <a:xfrm>
            <a:off x="7974528" y="5214938"/>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Yinni is an AI-Assisted Shopping service built for people who want to use prompting for all shopping activity, including browsing, choosing, and purchasing. No more confusion of using the E-Commerce application interface with a lot of unfamiliar customization. Just say what do you want to do, and we will do it for you. Yinni is a robust and logical solution for E-Commerce activity problem perfectly leveraging the power of AI.</a:t>
            </a:r>
          </a:p>
        </p:txBody>
      </p:sp>
      <p:pic>
        <p:nvPicPr>
          <p:cNvPr id="21" name="Picture 20">
            <a:extLst>
              <a:ext uri="{FF2B5EF4-FFF2-40B4-BE49-F238E27FC236}">
                <a16:creationId xmlns:a16="http://schemas.microsoft.com/office/drawing/2014/main" id="{2D894920-C0FF-196D-A067-36B3679441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 name="Group 17">
            <a:extLst>
              <a:ext uri="{FF2B5EF4-FFF2-40B4-BE49-F238E27FC236}">
                <a16:creationId xmlns:a16="http://schemas.microsoft.com/office/drawing/2014/main" id="{83447C2F-9299-6832-136A-E38B6BFF4F43}"/>
              </a:ext>
            </a:extLst>
          </p:cNvPr>
          <p:cNvGrpSpPr/>
          <p:nvPr/>
        </p:nvGrpSpPr>
        <p:grpSpPr>
          <a:xfrm>
            <a:off x="13335000" y="9253126"/>
            <a:ext cx="3918346" cy="670011"/>
            <a:chOff x="0" y="-66675"/>
            <a:chExt cx="4327267" cy="893347"/>
          </a:xfrm>
        </p:grpSpPr>
        <p:sp>
          <p:nvSpPr>
            <p:cNvPr id="15" name="TextBox 18">
              <a:extLst>
                <a:ext uri="{FF2B5EF4-FFF2-40B4-BE49-F238E27FC236}">
                  <a16:creationId xmlns:a16="http://schemas.microsoft.com/office/drawing/2014/main" id="{505B9193-2F67-4DA7-4E75-171B1DAD6C83}"/>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6" name="TextBox 19">
              <a:extLst>
                <a:ext uri="{FF2B5EF4-FFF2-40B4-BE49-F238E27FC236}">
                  <a16:creationId xmlns:a16="http://schemas.microsoft.com/office/drawing/2014/main" id="{753CB50E-6F70-A95C-9EE1-0A39A6906050}"/>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02</a:t>
              </a:r>
            </a:p>
          </p:txBody>
        </p:sp>
        <p:sp>
          <p:nvSpPr>
            <p:cNvPr id="17" name="AutoShape 20">
              <a:extLst>
                <a:ext uri="{FF2B5EF4-FFF2-40B4-BE49-F238E27FC236}">
                  <a16:creationId xmlns:a16="http://schemas.microsoft.com/office/drawing/2014/main" id="{2D0E67BB-F61A-B1F8-430A-FC53CFCB9A1A}"/>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0916"/>
            <a:chOff x="0" y="0"/>
            <a:chExt cx="5184741" cy="210941"/>
          </a:xfrm>
        </p:grpSpPr>
        <p:sp>
          <p:nvSpPr>
            <p:cNvPr id="6" name="Freeform 6"/>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90253"/>
            <a:ext cx="19685815" cy="951946"/>
            <a:chOff x="0" y="0"/>
            <a:chExt cx="5184741" cy="250718"/>
          </a:xfrm>
        </p:grpSpPr>
        <p:sp>
          <p:nvSpPr>
            <p:cNvPr id="9" name="Freeform 9"/>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p:cNvGrpSpPr/>
          <p:nvPr/>
        </p:nvGrpSpPr>
        <p:grpSpPr>
          <a:xfrm>
            <a:off x="13335000" y="9253126"/>
            <a:ext cx="3918346" cy="670011"/>
            <a:chOff x="0" y="-66675"/>
            <a:chExt cx="4327267" cy="893347"/>
          </a:xfrm>
        </p:grpSpPr>
        <p:sp>
          <p:nvSpPr>
            <p:cNvPr id="18" name="TextBox 18"/>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03</a:t>
              </a:r>
            </a:p>
          </p:txBody>
        </p:sp>
        <p:sp>
          <p:nvSpPr>
            <p:cNvPr id="20" name="AutoShape 20"/>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1)</a:t>
            </a:r>
          </a:p>
        </p:txBody>
      </p:sp>
      <p:sp>
        <p:nvSpPr>
          <p:cNvPr id="33" name="TextBox 3">
            <a:extLst>
              <a:ext uri="{FF2B5EF4-FFF2-40B4-BE49-F238E27FC236}">
                <a16:creationId xmlns:a16="http://schemas.microsoft.com/office/drawing/2014/main" id="{9B2C1305-A1B5-616E-869C-25E0095C8F8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1D2DC906-627E-BFB3-0474-D0D1581CC57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CF8BCAE7-BD85-E3D0-290F-DB117BE824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D8C740D4-972C-7E05-7505-641A5FE22DDB}"/>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Here is a quick demonstration showing   phase-1 development prototype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Open </a:t>
            </a:r>
            <a:r>
              <a:rPr lang="en-US" sz="2000" dirty="0">
                <a:solidFill>
                  <a:srgbClr val="343434"/>
                </a:solidFill>
                <a:latin typeface="Poppins"/>
                <a:ea typeface="Poppins"/>
                <a:cs typeface="Poppins"/>
                <a:sym typeface="Poppins"/>
                <a:hlinkClick r:id="rId3"/>
              </a:rPr>
              <a:t>http://76.13.17.200:3000</a:t>
            </a:r>
            <a:r>
              <a:rPr lang="en-US" sz="2000" dirty="0">
                <a:solidFill>
                  <a:srgbClr val="343434"/>
                </a:solidFill>
                <a:latin typeface="Poppins"/>
                <a:ea typeface="Poppins"/>
                <a:cs typeface="Poppins"/>
                <a:sym typeface="Poppins"/>
              </a:rPr>
              <a:t>, you will be redirected to Login page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If you don’t have account yet, you can click [Create an Account] below the [Sign In] button.</a:t>
            </a:r>
          </a:p>
        </p:txBody>
      </p:sp>
      <p:pic>
        <p:nvPicPr>
          <p:cNvPr id="38" name="Picture 37">
            <a:extLst>
              <a:ext uri="{FF2B5EF4-FFF2-40B4-BE49-F238E27FC236}">
                <a16:creationId xmlns:a16="http://schemas.microsoft.com/office/drawing/2014/main" id="{B039FACB-EF20-4867-7492-E53F7D6F0E24}"/>
              </a:ext>
            </a:extLst>
          </p:cNvPr>
          <p:cNvPicPr>
            <a:picLocks noChangeAspect="1"/>
          </p:cNvPicPr>
          <p:nvPr/>
        </p:nvPicPr>
        <p:blipFill>
          <a:blip r:embed="rId4"/>
          <a:stretch>
            <a:fillRect/>
          </a:stretch>
        </p:blipFill>
        <p:spPr>
          <a:xfrm>
            <a:off x="6781802" y="3086100"/>
            <a:ext cx="10744195" cy="5791200"/>
          </a:xfrm>
          <a:prstGeom prst="rect">
            <a:avLst/>
          </a:prstGeom>
          <a:ln>
            <a:solidFill>
              <a:schemeClr val="tx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A2C5E-28A6-A6EF-75E9-D2598A15FB42}"/>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C7DEBA52-CA9F-6F2E-2B17-568B765E0B29}"/>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54173130-E0B5-6848-A69D-EA8CDF76CE95}"/>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74CD664-C2EE-C73A-7254-F52EE26AA22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B85DADEF-EF62-8A78-10A8-D12FD0B22B52}"/>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0FF06E6D-707B-97A8-5574-E300BE222E66}"/>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5A705720-262F-8227-7579-18FC4EA404D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D15DED1A-BD24-981D-83D8-6EE987777DC9}"/>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6D973A5-7A55-2D1A-A8CD-B5E81AF7C16F}"/>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DC64843-786C-6E30-6411-3BE04456A13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04</a:t>
              </a:r>
            </a:p>
          </p:txBody>
        </p:sp>
        <p:sp>
          <p:nvSpPr>
            <p:cNvPr id="20" name="AutoShape 20">
              <a:extLst>
                <a:ext uri="{FF2B5EF4-FFF2-40B4-BE49-F238E27FC236}">
                  <a16:creationId xmlns:a16="http://schemas.microsoft.com/office/drawing/2014/main" id="{5BDE2544-8E18-8557-AC47-9F9998053D95}"/>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1F388D38-A8CD-61AB-5B30-201F07909D1D}"/>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2)</a:t>
            </a:r>
          </a:p>
        </p:txBody>
      </p:sp>
      <p:sp>
        <p:nvSpPr>
          <p:cNvPr id="33" name="TextBox 3">
            <a:extLst>
              <a:ext uri="{FF2B5EF4-FFF2-40B4-BE49-F238E27FC236}">
                <a16:creationId xmlns:a16="http://schemas.microsoft.com/office/drawing/2014/main" id="{094C54A0-3443-803B-28B4-97478F2985B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21BB00A8-DD7F-90D2-9538-0E243ED8F3F4}"/>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585075E-049A-F627-3C6B-F72DC3D89D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67BA1377-3120-9FF8-2E51-C3E66495CEF6}"/>
              </a:ext>
            </a:extLst>
          </p:cNvPr>
          <p:cNvSpPr txBox="1"/>
          <p:nvPr/>
        </p:nvSpPr>
        <p:spPr>
          <a:xfrm>
            <a:off x="1219200" y="3086100"/>
            <a:ext cx="5105400" cy="5009064"/>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you click [Create an Account], you will be redirected to register page, as shown in this image.</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input your name, email, and password, along with password confirmation, and then click [Sign Up], then you will be registered as user in the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After you are successfully registered, back to Login Page by clicking back button in Browser, and input you email and password.</a:t>
            </a:r>
          </a:p>
        </p:txBody>
      </p:sp>
      <p:pic>
        <p:nvPicPr>
          <p:cNvPr id="3" name="Picture 2">
            <a:extLst>
              <a:ext uri="{FF2B5EF4-FFF2-40B4-BE49-F238E27FC236}">
                <a16:creationId xmlns:a16="http://schemas.microsoft.com/office/drawing/2014/main" id="{180D9449-9686-4593-B014-B03933C49A97}"/>
              </a:ext>
            </a:extLst>
          </p:cNvPr>
          <p:cNvPicPr>
            <a:picLocks noChangeAspect="1"/>
          </p:cNvPicPr>
          <p:nvPr/>
        </p:nvPicPr>
        <p:blipFill>
          <a:blip r:embed="rId3"/>
          <a:stretch>
            <a:fillRect/>
          </a:stretch>
        </p:blipFill>
        <p:spPr>
          <a:xfrm>
            <a:off x="6781800" y="3086101"/>
            <a:ext cx="10744200" cy="5791200"/>
          </a:xfrm>
          <a:prstGeom prst="rect">
            <a:avLst/>
          </a:prstGeom>
          <a:ln>
            <a:solidFill>
              <a:schemeClr val="tx1"/>
            </a:solidFill>
          </a:ln>
        </p:spPr>
      </p:pic>
    </p:spTree>
    <p:extLst>
      <p:ext uri="{BB962C8B-B14F-4D97-AF65-F5344CB8AC3E}">
        <p14:creationId xmlns:p14="http://schemas.microsoft.com/office/powerpoint/2010/main" val="486739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3C6E7-7C6A-899F-ADF6-7609AE463D03}"/>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4221D2-A762-4AA1-4875-81B1AFDCB45D}"/>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DEA5F7F2-25AD-7572-9976-78E389C5494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DFEC7357-0466-83AD-BB5D-A9702BF168E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CCACB587-DD55-76F6-4792-D505EB611FA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78A13E89-543D-EE60-A99E-A172B75CE29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DE070F83-3C23-CD14-1E8D-2EB3032B8A9D}"/>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D726151-E09E-DF3A-771B-C00C4CF9D150}"/>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05AE48A5-4D71-CFDB-760D-5625CFE122BD}"/>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811E1B2E-AA02-2E56-FB5B-9F34494EFA09}"/>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05</a:t>
              </a:r>
            </a:p>
          </p:txBody>
        </p:sp>
        <p:sp>
          <p:nvSpPr>
            <p:cNvPr id="20" name="AutoShape 20">
              <a:extLst>
                <a:ext uri="{FF2B5EF4-FFF2-40B4-BE49-F238E27FC236}">
                  <a16:creationId xmlns:a16="http://schemas.microsoft.com/office/drawing/2014/main" id="{E45558C1-0443-5216-9783-52164E00A55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0869C3C8-5851-5DA8-C63A-989FBBDE1B9C}"/>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3)</a:t>
            </a:r>
          </a:p>
        </p:txBody>
      </p:sp>
      <p:sp>
        <p:nvSpPr>
          <p:cNvPr id="33" name="TextBox 3">
            <a:extLst>
              <a:ext uri="{FF2B5EF4-FFF2-40B4-BE49-F238E27FC236}">
                <a16:creationId xmlns:a16="http://schemas.microsoft.com/office/drawing/2014/main" id="{AB5E6B61-7ED0-3838-0E8A-5A181E51DDB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B6FC3174-4198-AB5D-762F-9062BB78116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1D5C235-E753-0D0E-7ED0-CD12F763B7D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EB8D5A96-A757-D02D-4B24-3585933B5670}"/>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successfully logged-in, you will see the app home page look exactly like this.</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test this app by writing your first prompt in the prompt field and clicking the paper-plane button on the right side on the prompt field, or by clicking [Search] in the “Prompt what you want” box in the center-right of the prompt window.</a:t>
            </a:r>
          </a:p>
        </p:txBody>
      </p:sp>
      <p:pic>
        <p:nvPicPr>
          <p:cNvPr id="2" name="Picture 1">
            <a:extLst>
              <a:ext uri="{FF2B5EF4-FFF2-40B4-BE49-F238E27FC236}">
                <a16:creationId xmlns:a16="http://schemas.microsoft.com/office/drawing/2014/main" id="{1B686E54-C6AF-24D5-C7C0-505D6B05785E}"/>
              </a:ext>
            </a:extLst>
          </p:cNvPr>
          <p:cNvPicPr>
            <a:picLocks noChangeAspect="1"/>
          </p:cNvPicPr>
          <p:nvPr/>
        </p:nvPicPr>
        <p:blipFill>
          <a:blip r:embed="rId3"/>
          <a:stretch>
            <a:fillRect/>
          </a:stretch>
        </p:blipFill>
        <p:spPr>
          <a:xfrm>
            <a:off x="6781800" y="3086100"/>
            <a:ext cx="10744198" cy="5791200"/>
          </a:xfrm>
          <a:prstGeom prst="rect">
            <a:avLst/>
          </a:prstGeom>
          <a:ln>
            <a:solidFill>
              <a:schemeClr val="tx1"/>
            </a:solidFill>
          </a:ln>
        </p:spPr>
      </p:pic>
    </p:spTree>
    <p:extLst>
      <p:ext uri="{BB962C8B-B14F-4D97-AF65-F5344CB8AC3E}">
        <p14:creationId xmlns:p14="http://schemas.microsoft.com/office/powerpoint/2010/main" val="1120631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F39BC-24F1-E9DF-0974-2BD0FE4F9D38}"/>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1375FC4F-D6EB-4847-204B-EBDAF5CFBEAC}"/>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8E218C6-357D-5A50-24B6-53A5C5A9C587}"/>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3BBC902-C464-8597-41E7-AA0E27A195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5D6ACF4E-359E-76F9-3F4E-EA10C7D35806}"/>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896742B7-371B-D080-7E00-CD6660AFBC3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49958E84-9535-A124-60B6-49878DDE34C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16C366E3-C94E-99ED-8114-0D8EA690DB83}"/>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B749D62E-F985-57DC-987D-D94F8CC9FD06}"/>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FA155C9-93F9-22D1-0BD4-AA5B4B287DA1}"/>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06</a:t>
              </a:r>
            </a:p>
          </p:txBody>
        </p:sp>
        <p:sp>
          <p:nvSpPr>
            <p:cNvPr id="20" name="AutoShape 20">
              <a:extLst>
                <a:ext uri="{FF2B5EF4-FFF2-40B4-BE49-F238E27FC236}">
                  <a16:creationId xmlns:a16="http://schemas.microsoft.com/office/drawing/2014/main" id="{198DB696-998F-2A4B-819D-96F0A8625866}"/>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4A6E69A-EF18-EC9A-DAEA-44BE7FA94EA0}"/>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4)</a:t>
            </a:r>
          </a:p>
        </p:txBody>
      </p:sp>
      <p:sp>
        <p:nvSpPr>
          <p:cNvPr id="33" name="TextBox 3">
            <a:extLst>
              <a:ext uri="{FF2B5EF4-FFF2-40B4-BE49-F238E27FC236}">
                <a16:creationId xmlns:a16="http://schemas.microsoft.com/office/drawing/2014/main" id="{FB330F9C-2D03-8586-3735-422D1FD2C74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6C709982-2997-2517-4D5B-D53A1C90BB1B}"/>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8361F0A-A4FD-86B1-B5AF-F404A31A8D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21A376E4-F005-06F9-52ED-574BCDEB44E1}"/>
              </a:ext>
            </a:extLst>
          </p:cNvPr>
          <p:cNvSpPr txBox="1"/>
          <p:nvPr/>
        </p:nvSpPr>
        <p:spPr>
          <a:xfrm>
            <a:off x="1219200" y="3086100"/>
            <a:ext cx="5105400" cy="572720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submitting your first prompt, you will see the chat display in the prompt window.</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For this phase-1 development version, there is only 3 types of prompt:</a:t>
            </a:r>
          </a:p>
          <a:p>
            <a:pPr marL="457200" indent="-457200" algn="just">
              <a:lnSpc>
                <a:spcPts val="2800"/>
              </a:lnSpc>
              <a:buAutoNum type="arabicPeriod"/>
            </a:pPr>
            <a:r>
              <a:rPr lang="en-US" sz="2000" dirty="0">
                <a:solidFill>
                  <a:srgbClr val="343434"/>
                </a:solidFill>
                <a:latin typeface="Poppins"/>
                <a:ea typeface="Poppins"/>
                <a:cs typeface="Poppins"/>
                <a:sym typeface="Poppins"/>
              </a:rPr>
              <a:t>Finding product</a:t>
            </a:r>
          </a:p>
          <a:p>
            <a:pPr marL="457200" indent="-457200" algn="just">
              <a:lnSpc>
                <a:spcPts val="2800"/>
              </a:lnSpc>
              <a:buAutoNum type="arabicPeriod"/>
            </a:pPr>
            <a:r>
              <a:rPr lang="en-US" sz="2000" dirty="0">
                <a:solidFill>
                  <a:srgbClr val="343434"/>
                </a:solidFill>
                <a:latin typeface="Poppins"/>
                <a:ea typeface="Poppins"/>
                <a:cs typeface="Poppins"/>
                <a:sym typeface="Poppins"/>
              </a:rPr>
              <a:t>Selecting product from the list</a:t>
            </a:r>
          </a:p>
          <a:p>
            <a:pPr marL="457200" indent="-457200" algn="just">
              <a:lnSpc>
                <a:spcPts val="2800"/>
              </a:lnSpc>
              <a:buAutoNum type="arabicPeriod"/>
            </a:pPr>
            <a:r>
              <a:rPr lang="en-US" sz="2000" dirty="0">
                <a:solidFill>
                  <a:srgbClr val="343434"/>
                </a:solidFill>
                <a:latin typeface="Poppins"/>
                <a:ea typeface="Poppins"/>
                <a:cs typeface="Poppins"/>
                <a:sym typeface="Poppins"/>
              </a:rPr>
              <a:t>Making payment</a:t>
            </a: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This image shows the first type, finding product.</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To find the product, you just need to type the keyword or key-description of the product you desired.</a:t>
            </a:r>
          </a:p>
        </p:txBody>
      </p:sp>
      <p:pic>
        <p:nvPicPr>
          <p:cNvPr id="12" name="Picture 11">
            <a:extLst>
              <a:ext uri="{FF2B5EF4-FFF2-40B4-BE49-F238E27FC236}">
                <a16:creationId xmlns:a16="http://schemas.microsoft.com/office/drawing/2014/main" id="{34416CB4-4E4A-41FD-B46B-16A0E395EDA3}"/>
              </a:ext>
            </a:extLst>
          </p:cNvPr>
          <p:cNvPicPr>
            <a:picLocks noChangeAspect="1"/>
          </p:cNvPicPr>
          <p:nvPr/>
        </p:nvPicPr>
        <p:blipFill>
          <a:blip r:embed="rId3"/>
          <a:stretch>
            <a:fillRect/>
          </a:stretch>
        </p:blipFill>
        <p:spPr>
          <a:xfrm>
            <a:off x="6781800" y="3086100"/>
            <a:ext cx="10744197" cy="5787293"/>
          </a:xfrm>
          <a:prstGeom prst="rect">
            <a:avLst/>
          </a:prstGeom>
          <a:ln>
            <a:solidFill>
              <a:schemeClr val="tx1"/>
            </a:solidFill>
          </a:ln>
        </p:spPr>
      </p:pic>
    </p:spTree>
    <p:extLst>
      <p:ext uri="{BB962C8B-B14F-4D97-AF65-F5344CB8AC3E}">
        <p14:creationId xmlns:p14="http://schemas.microsoft.com/office/powerpoint/2010/main" val="3409709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42565-D9F9-8C40-1D8B-A25397C169E6}"/>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003711A7-F755-DB02-D9A6-988E77D9F54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0B971AD8-DF41-54E5-8A63-37912E18465A}"/>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EE51C3BE-947C-0956-2237-1B1ADA251D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BAF2E87-EEE0-DC0D-818D-DB689D99A9A0}"/>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6A0EA685-05CC-A7AB-87C7-99BCB4564768}"/>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C54B73C3-A2D3-064A-F4CB-2DC5CA4290FE}"/>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C7D2DB3A-F659-CD1C-2A54-4060F6C5500D}"/>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6B62ABDF-6ED7-6F0D-D38D-043AD8FC5F3C}"/>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E2450B3-593F-94D6-A629-EBA6CF7EDE0D}"/>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07</a:t>
              </a:r>
            </a:p>
          </p:txBody>
        </p:sp>
        <p:sp>
          <p:nvSpPr>
            <p:cNvPr id="20" name="AutoShape 20">
              <a:extLst>
                <a:ext uri="{FF2B5EF4-FFF2-40B4-BE49-F238E27FC236}">
                  <a16:creationId xmlns:a16="http://schemas.microsoft.com/office/drawing/2014/main" id="{8163160F-051D-36E7-B6B1-B982648B05F1}"/>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60CDC15E-AC65-C427-6DBD-D33B18B8DCFE}"/>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5)</a:t>
            </a:r>
          </a:p>
        </p:txBody>
      </p:sp>
      <p:sp>
        <p:nvSpPr>
          <p:cNvPr id="33" name="TextBox 3">
            <a:extLst>
              <a:ext uri="{FF2B5EF4-FFF2-40B4-BE49-F238E27FC236}">
                <a16:creationId xmlns:a16="http://schemas.microsoft.com/office/drawing/2014/main" id="{B1CA3488-3C66-15F0-C504-677E5A2BC16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ADBEC4CD-4A7B-488B-7E33-16D72B7B4F00}"/>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2CD1525-DAAE-BC9B-BB41-C3B9DA81D7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4CA195A1-D47D-9ACF-D126-761069380CDA}"/>
              </a:ext>
            </a:extLst>
          </p:cNvPr>
          <p:cNvSpPr txBox="1"/>
          <p:nvPr/>
        </p:nvSpPr>
        <p:spPr>
          <a:xfrm>
            <a:off x="1219200" y="3086100"/>
            <a:ext cx="5105400" cy="213648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seeing what you want in the list, you can simply choose the item by typing “give me item 4” or “I want the first” or “give me the last item”. The prompting engine will give you the product detail of the item you chosen.</a:t>
            </a:r>
          </a:p>
        </p:txBody>
      </p:sp>
      <p:pic>
        <p:nvPicPr>
          <p:cNvPr id="3" name="Picture 2">
            <a:extLst>
              <a:ext uri="{FF2B5EF4-FFF2-40B4-BE49-F238E27FC236}">
                <a16:creationId xmlns:a16="http://schemas.microsoft.com/office/drawing/2014/main" id="{EB0275E1-6C9B-23EA-6866-CF15C05DC199}"/>
              </a:ext>
            </a:extLst>
          </p:cNvPr>
          <p:cNvPicPr>
            <a:picLocks noChangeAspect="1"/>
          </p:cNvPicPr>
          <p:nvPr/>
        </p:nvPicPr>
        <p:blipFill>
          <a:blip r:embed="rId3"/>
          <a:stretch>
            <a:fillRect/>
          </a:stretch>
        </p:blipFill>
        <p:spPr>
          <a:xfrm>
            <a:off x="6781810" y="3086100"/>
            <a:ext cx="10744179" cy="5776381"/>
          </a:xfrm>
          <a:prstGeom prst="rect">
            <a:avLst/>
          </a:prstGeom>
          <a:ln>
            <a:solidFill>
              <a:schemeClr val="tx1"/>
            </a:solidFill>
          </a:ln>
        </p:spPr>
      </p:pic>
    </p:spTree>
    <p:extLst>
      <p:ext uri="{BB962C8B-B14F-4D97-AF65-F5344CB8AC3E}">
        <p14:creationId xmlns:p14="http://schemas.microsoft.com/office/powerpoint/2010/main" val="1972913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FCFE0-4C46-DC67-926E-BB51546485B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9B2F7D-CE8C-E529-8A76-202CA0FD0A7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7928894-4342-FCB3-82CD-3B660B183FC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1AAD03F5-B56F-D274-C154-28E9A7C1E2C2}"/>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4D0A3F5-A7D8-FC4A-2665-1485E9378F2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F959F3D6-1515-9B54-D146-79823733BE2E}"/>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BC3B4247-FA02-0584-9953-295C2D2FDF5A}"/>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F92829D-136F-CDE4-0B1F-5501671C8AB5}"/>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27BB3A9-924A-A94B-C58F-0321441086F9}"/>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1D408EBD-1468-9BF5-A233-E27A00E4C16E}"/>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08</a:t>
              </a:r>
            </a:p>
          </p:txBody>
        </p:sp>
        <p:sp>
          <p:nvSpPr>
            <p:cNvPr id="20" name="AutoShape 20">
              <a:extLst>
                <a:ext uri="{FF2B5EF4-FFF2-40B4-BE49-F238E27FC236}">
                  <a16:creationId xmlns:a16="http://schemas.microsoft.com/office/drawing/2014/main" id="{1E05D462-22FE-673D-09EF-A445DCF7B033}"/>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04D974A-1CF8-807A-78E3-2AAA64FDD4C9}"/>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6)</a:t>
            </a:r>
          </a:p>
        </p:txBody>
      </p:sp>
      <p:sp>
        <p:nvSpPr>
          <p:cNvPr id="33" name="TextBox 3">
            <a:extLst>
              <a:ext uri="{FF2B5EF4-FFF2-40B4-BE49-F238E27FC236}">
                <a16:creationId xmlns:a16="http://schemas.microsoft.com/office/drawing/2014/main" id="{9C6DA4D1-7BE7-5AB6-0D8E-91CEAA64A5E3}"/>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52B22C30-8977-9D87-12B5-D7BAAB0E5907}"/>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AA3A276C-71D3-6F29-EEEC-3C9CF24AD3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324E0EC0-6A26-79FF-E041-608287F70755}"/>
              </a:ext>
            </a:extLst>
          </p:cNvPr>
          <p:cNvSpPr txBox="1"/>
          <p:nvPr/>
        </p:nvSpPr>
        <p:spPr>
          <a:xfrm>
            <a:off x="1219200" y="3086100"/>
            <a:ext cx="5105400" cy="536813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Next, for the payment, you only need to type “I proceed with </a:t>
            </a:r>
            <a:r>
              <a:rPr lang="en-US" sz="2000" dirty="0" err="1">
                <a:solidFill>
                  <a:srgbClr val="343434"/>
                </a:solidFill>
                <a:latin typeface="Poppins"/>
                <a:ea typeface="Poppins"/>
                <a:cs typeface="Poppins"/>
                <a:sym typeface="Poppins"/>
              </a:rPr>
              <a:t>mastercard</a:t>
            </a:r>
            <a:r>
              <a:rPr lang="en-US" sz="2000" dirty="0">
                <a:solidFill>
                  <a:srgbClr val="343434"/>
                </a:solidFill>
                <a:latin typeface="Poppins"/>
                <a:ea typeface="Poppins"/>
                <a:cs typeface="Poppins"/>
                <a:sym typeface="Poppins"/>
              </a:rPr>
              <a:t>” or “I will purchase it with Dana”.</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see that I intendedly writing typo in the prompt to test if the prompting engine still understand what I really mean.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Since the prompting engine is using the machine-learning classifier and advanced fuzzy string matching to map the prompt meaning, the prompting engine will understand what you want even if you typing it in a lot of typo.</a:t>
            </a:r>
          </a:p>
        </p:txBody>
      </p:sp>
      <p:pic>
        <p:nvPicPr>
          <p:cNvPr id="4" name="Picture 3">
            <a:extLst>
              <a:ext uri="{FF2B5EF4-FFF2-40B4-BE49-F238E27FC236}">
                <a16:creationId xmlns:a16="http://schemas.microsoft.com/office/drawing/2014/main" id="{D1F9ED9B-F7BC-1FA9-9877-14503DA59008}"/>
              </a:ext>
            </a:extLst>
          </p:cNvPr>
          <p:cNvPicPr>
            <a:picLocks noChangeAspect="1"/>
          </p:cNvPicPr>
          <p:nvPr/>
        </p:nvPicPr>
        <p:blipFill>
          <a:blip r:embed="rId3"/>
          <a:stretch>
            <a:fillRect/>
          </a:stretch>
        </p:blipFill>
        <p:spPr>
          <a:xfrm>
            <a:off x="6781800" y="3069609"/>
            <a:ext cx="10744176" cy="5776381"/>
          </a:xfrm>
          <a:prstGeom prst="rect">
            <a:avLst/>
          </a:prstGeom>
          <a:ln>
            <a:solidFill>
              <a:schemeClr val="tx1"/>
            </a:solidFill>
          </a:ln>
        </p:spPr>
      </p:pic>
    </p:spTree>
    <p:extLst>
      <p:ext uri="{BB962C8B-B14F-4D97-AF65-F5344CB8AC3E}">
        <p14:creationId xmlns:p14="http://schemas.microsoft.com/office/powerpoint/2010/main" val="175217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1384"/>
            <a:chOff x="0" y="0"/>
            <a:chExt cx="5184741" cy="211064"/>
          </a:xfrm>
        </p:grpSpPr>
        <p:sp>
          <p:nvSpPr>
            <p:cNvPr id="6" name="Freeform 6"/>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p:cNvGrpSpPr/>
          <p:nvPr/>
        </p:nvGrpSpPr>
        <p:grpSpPr>
          <a:xfrm>
            <a:off x="-698908" y="-450729"/>
            <a:ext cx="19685815" cy="812421"/>
            <a:chOff x="0" y="0"/>
            <a:chExt cx="5184741" cy="213971"/>
          </a:xfrm>
        </p:grpSpPr>
        <p:sp>
          <p:nvSpPr>
            <p:cNvPr id="9" name="Freeform 9"/>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grpSp>
        <p:nvGrpSpPr>
          <p:cNvPr id="15" name="Group 15"/>
          <p:cNvGrpSpPr/>
          <p:nvPr/>
        </p:nvGrpSpPr>
        <p:grpSpPr>
          <a:xfrm>
            <a:off x="1245582" y="3467100"/>
            <a:ext cx="4822865" cy="920729"/>
            <a:chOff x="0" y="0"/>
            <a:chExt cx="6430487" cy="1227638"/>
          </a:xfrm>
        </p:grpSpPr>
        <p:sp>
          <p:nvSpPr>
            <p:cNvPr id="16" name="Freeform 16"/>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17" name="TextBox 17"/>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01.</a:t>
              </a:r>
            </a:p>
          </p:txBody>
        </p:sp>
        <p:sp>
          <p:nvSpPr>
            <p:cNvPr id="18" name="TextBox 18"/>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Backend</a:t>
              </a:r>
            </a:p>
          </p:txBody>
        </p:sp>
      </p:grpSp>
      <p:sp>
        <p:nvSpPr>
          <p:cNvPr id="19" name="TextBox 19"/>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0" name="TextBox 20"/>
          <p:cNvSpPr txBox="1"/>
          <p:nvPr/>
        </p:nvSpPr>
        <p:spPr>
          <a:xfrm>
            <a:off x="769712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21" name="TextBox 21"/>
          <p:cNvSpPr txBox="1"/>
          <p:nvPr/>
        </p:nvSpPr>
        <p:spPr>
          <a:xfrm>
            <a:off x="12044343"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2" name="TextBox 22"/>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23" name="Group 23"/>
          <p:cNvGrpSpPr/>
          <p:nvPr/>
        </p:nvGrpSpPr>
        <p:grpSpPr>
          <a:xfrm>
            <a:off x="6718892" y="3467100"/>
            <a:ext cx="4822865" cy="920729"/>
            <a:chOff x="0" y="0"/>
            <a:chExt cx="6430487" cy="1227638"/>
          </a:xfrm>
        </p:grpSpPr>
        <p:sp>
          <p:nvSpPr>
            <p:cNvPr id="24" name="Freeform 24"/>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25" name="TextBox 25"/>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02.</a:t>
              </a:r>
            </a:p>
          </p:txBody>
        </p:sp>
        <p:sp>
          <p:nvSpPr>
            <p:cNvPr id="26" name="TextBox 26"/>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Frontend</a:t>
              </a:r>
              <a:endParaRPr lang="en-US" sz="2499" b="1" dirty="0">
                <a:solidFill>
                  <a:srgbClr val="FFFFFF"/>
                </a:solidFill>
                <a:latin typeface="Coco Gothic Bold"/>
                <a:ea typeface="Coco Gothic Bold"/>
                <a:cs typeface="Coco Gothic Bold"/>
                <a:sym typeface="Coco Gothic Bold"/>
              </a:endParaRPr>
            </a:p>
          </p:txBody>
        </p:sp>
      </p:grpSp>
      <p:grpSp>
        <p:nvGrpSpPr>
          <p:cNvPr id="27" name="Group 27"/>
          <p:cNvGrpSpPr/>
          <p:nvPr/>
        </p:nvGrpSpPr>
        <p:grpSpPr>
          <a:xfrm>
            <a:off x="12192202" y="3467100"/>
            <a:ext cx="4822865" cy="920729"/>
            <a:chOff x="0" y="0"/>
            <a:chExt cx="6430487" cy="1227638"/>
          </a:xfrm>
        </p:grpSpPr>
        <p:sp>
          <p:nvSpPr>
            <p:cNvPr id="28" name="Freeform 28"/>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a:p>
          </p:txBody>
        </p:sp>
        <p:sp>
          <p:nvSpPr>
            <p:cNvPr id="29" name="TextBox 29"/>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03.</a:t>
              </a:r>
            </a:p>
          </p:txBody>
        </p:sp>
        <p:sp>
          <p:nvSpPr>
            <p:cNvPr id="30" name="TextBox 30"/>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AI &amp; Machine Learning</a:t>
              </a:r>
            </a:p>
          </p:txBody>
        </p:sp>
      </p:grpSp>
      <p:sp>
        <p:nvSpPr>
          <p:cNvPr id="34" name="TextBox 34"/>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Application Stacks</a:t>
            </a:r>
          </a:p>
        </p:txBody>
      </p:sp>
      <p:sp>
        <p:nvSpPr>
          <p:cNvPr id="35" name="TextBox 35"/>
          <p:cNvSpPr txBox="1"/>
          <p:nvPr/>
        </p:nvSpPr>
        <p:spPr>
          <a:xfrm>
            <a:off x="2057400" y="4914900"/>
            <a:ext cx="4011047" cy="2854628"/>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Backend stack, Yinni App uses </a:t>
            </a:r>
            <a:r>
              <a:rPr lang="en-US" sz="2000" b="1" dirty="0">
                <a:solidFill>
                  <a:srgbClr val="343434"/>
                </a:solidFill>
                <a:latin typeface="Poppins"/>
                <a:ea typeface="Poppins"/>
                <a:cs typeface="Poppins"/>
                <a:sym typeface="Poppins"/>
              </a:rPr>
              <a:t>Kratos-Go Microservices</a:t>
            </a:r>
            <a:r>
              <a:rPr lang="en-US" sz="2000" dirty="0">
                <a:solidFill>
                  <a:srgbClr val="343434"/>
                </a:solidFill>
                <a:latin typeface="Poppins"/>
                <a:ea typeface="Poppins"/>
                <a:cs typeface="Poppins"/>
                <a:sym typeface="Poppins"/>
              </a:rPr>
              <a:t> framework which is a brand-new microservices framework developed by </a:t>
            </a:r>
            <a:r>
              <a:rPr lang="en-US" sz="2000" b="1" dirty="0">
                <a:solidFill>
                  <a:srgbClr val="343434"/>
                </a:solidFill>
                <a:latin typeface="Poppins"/>
                <a:ea typeface="Poppins"/>
                <a:cs typeface="Poppins"/>
                <a:sym typeface="Poppins"/>
              </a:rPr>
              <a:t>Alibaba Group</a:t>
            </a:r>
            <a:r>
              <a:rPr lang="en-US" sz="2000" dirty="0">
                <a:solidFill>
                  <a:srgbClr val="343434"/>
                </a:solidFill>
                <a:latin typeface="Poppins"/>
                <a:ea typeface="Poppins"/>
                <a:cs typeface="Poppins"/>
                <a:sym typeface="Poppins"/>
              </a:rPr>
              <a:t>  designed for Enterprise use with modern, scalable, clean, and neat structure. </a:t>
            </a:r>
            <a:r>
              <a:rPr lang="en-US" sz="2000" dirty="0">
                <a:solidFill>
                  <a:srgbClr val="343434"/>
                </a:solidFill>
                <a:latin typeface="Poppins"/>
                <a:ea typeface="Poppins"/>
                <a:cs typeface="Poppins"/>
                <a:sym typeface="Poppins"/>
                <a:hlinkClick r:id="rId2"/>
              </a:rPr>
              <a:t>[Kratos-Go]</a:t>
            </a:r>
            <a:endParaRPr lang="en-US" sz="2000" dirty="0">
              <a:solidFill>
                <a:srgbClr val="343434"/>
              </a:solidFill>
              <a:latin typeface="Poppins"/>
              <a:ea typeface="Poppins"/>
              <a:cs typeface="Poppins"/>
              <a:sym typeface="Poppins"/>
            </a:endParaRPr>
          </a:p>
        </p:txBody>
      </p:sp>
      <p:sp>
        <p:nvSpPr>
          <p:cNvPr id="36" name="TextBox 36"/>
          <p:cNvSpPr txBox="1"/>
          <p:nvPr/>
        </p:nvSpPr>
        <p:spPr>
          <a:xfrm>
            <a:off x="13201584" y="4914900"/>
            <a:ext cx="3813483" cy="3572773"/>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AI and Machine Learning  stack, Yinni App uses OpenAI API, leveraging </a:t>
            </a:r>
            <a:r>
              <a:rPr lang="en-US" sz="2000" b="1" dirty="0">
                <a:solidFill>
                  <a:srgbClr val="343434"/>
                </a:solidFill>
                <a:latin typeface="Poppins"/>
                <a:ea typeface="Poppins"/>
                <a:cs typeface="Poppins"/>
                <a:sym typeface="Poppins"/>
              </a:rPr>
              <a:t>OpenAI Text Embedding 3 Small</a:t>
            </a:r>
            <a:r>
              <a:rPr lang="en-US" sz="2000" dirty="0">
                <a:solidFill>
                  <a:srgbClr val="343434"/>
                </a:solidFill>
                <a:latin typeface="Poppins"/>
                <a:ea typeface="Poppins"/>
                <a:cs typeface="Poppins"/>
                <a:sym typeface="Poppins"/>
              </a:rPr>
              <a:t> model for embedding layer and PyTorch Embedding Bag model for prompt classifier. </a:t>
            </a:r>
            <a:r>
              <a:rPr lang="en-US" sz="2000" dirty="0">
                <a:solidFill>
                  <a:srgbClr val="343434"/>
                </a:solidFill>
                <a:latin typeface="Poppins"/>
                <a:ea typeface="Poppins"/>
                <a:cs typeface="Poppins"/>
                <a:sym typeface="Poppins"/>
                <a:hlinkClick r:id="rId3"/>
              </a:rPr>
              <a:t>[OpenAI Text Embedding 3 (small)]</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4"/>
              </a:rPr>
              <a:t>[PyTorch Embedding Bag]</a:t>
            </a:r>
            <a:endParaRPr lang="en-US" sz="2000" dirty="0">
              <a:solidFill>
                <a:srgbClr val="343434"/>
              </a:solidFill>
              <a:latin typeface="Poppins"/>
              <a:ea typeface="Poppins"/>
              <a:cs typeface="Poppins"/>
              <a:sym typeface="Poppins"/>
            </a:endParaRPr>
          </a:p>
        </p:txBody>
      </p:sp>
      <p:sp>
        <p:nvSpPr>
          <p:cNvPr id="37" name="TextBox 37"/>
          <p:cNvSpPr txBox="1"/>
          <p:nvPr/>
        </p:nvSpPr>
        <p:spPr>
          <a:xfrm>
            <a:off x="7768917" y="4914900"/>
            <a:ext cx="3813483"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Frontend stack, Yinni App uses </a:t>
            </a:r>
            <a:r>
              <a:rPr lang="en-US" sz="2000" b="1" dirty="0">
                <a:solidFill>
                  <a:srgbClr val="343434"/>
                </a:solidFill>
                <a:latin typeface="Poppins"/>
                <a:ea typeface="Poppins"/>
                <a:cs typeface="Poppins"/>
                <a:sym typeface="Poppins"/>
              </a:rPr>
              <a:t>React.js</a:t>
            </a:r>
            <a:r>
              <a:rPr lang="en-US" sz="2000" dirty="0">
                <a:solidFill>
                  <a:srgbClr val="343434"/>
                </a:solidFill>
                <a:latin typeface="Poppins"/>
                <a:ea typeface="Poppins"/>
                <a:cs typeface="Poppins"/>
                <a:sym typeface="Poppins"/>
              </a:rPr>
              <a:t> framework with </a:t>
            </a:r>
            <a:r>
              <a:rPr lang="en-US" sz="2000" b="1" dirty="0">
                <a:solidFill>
                  <a:srgbClr val="343434"/>
                </a:solidFill>
                <a:latin typeface="Poppins"/>
                <a:ea typeface="Poppins"/>
                <a:cs typeface="Poppins"/>
                <a:sym typeface="Poppins"/>
              </a:rPr>
              <a:t>Chakra-UI</a:t>
            </a:r>
            <a:r>
              <a:rPr lang="en-US" sz="2000" dirty="0">
                <a:solidFill>
                  <a:srgbClr val="343434"/>
                </a:solidFill>
                <a:latin typeface="Poppins"/>
                <a:ea typeface="Poppins"/>
                <a:cs typeface="Poppins"/>
                <a:sym typeface="Poppins"/>
              </a:rPr>
              <a:t> and the touch of </a:t>
            </a:r>
            <a:r>
              <a:rPr lang="en-US" sz="2000" b="1" dirty="0">
                <a:solidFill>
                  <a:srgbClr val="343434"/>
                </a:solidFill>
                <a:latin typeface="Poppins"/>
                <a:ea typeface="Poppins"/>
                <a:cs typeface="Poppins"/>
                <a:sym typeface="Poppins"/>
              </a:rPr>
              <a:t>Horizon-UI</a:t>
            </a:r>
            <a:r>
              <a:rPr lang="en-US" sz="2000" dirty="0">
                <a:solidFill>
                  <a:srgbClr val="343434"/>
                </a:solidFill>
                <a:latin typeface="Poppins"/>
                <a:ea typeface="Poppins"/>
                <a:cs typeface="Poppins"/>
                <a:sym typeface="Poppins"/>
              </a:rPr>
              <a:t> template which is a standard template for enterprise use. </a:t>
            </a:r>
            <a:r>
              <a:rPr lang="en-US" sz="2000" dirty="0">
                <a:solidFill>
                  <a:srgbClr val="343434"/>
                </a:solidFill>
                <a:latin typeface="Poppins"/>
                <a:ea typeface="Poppins"/>
                <a:cs typeface="Poppins"/>
                <a:sym typeface="Poppins"/>
                <a:hlinkClick r:id="rId5"/>
              </a:rPr>
              <a:t>[Horizon-UI]</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6"/>
              </a:rPr>
              <a:t>[Chakra-UI]</a:t>
            </a: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A5DD6A59-2A8E-CEF1-B19D-F7F0BF38DE5F}"/>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D9372EE-13DD-F572-859E-53D35B39E8F2}"/>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CA0BADA0-2092-99F7-283F-3009909980B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 name="Group 17">
            <a:extLst>
              <a:ext uri="{FF2B5EF4-FFF2-40B4-BE49-F238E27FC236}">
                <a16:creationId xmlns:a16="http://schemas.microsoft.com/office/drawing/2014/main" id="{93033F48-C7B7-A475-0B2A-2F737F99B7BE}"/>
              </a:ext>
            </a:extLst>
          </p:cNvPr>
          <p:cNvGrpSpPr/>
          <p:nvPr/>
        </p:nvGrpSpPr>
        <p:grpSpPr>
          <a:xfrm>
            <a:off x="13335000" y="9253126"/>
            <a:ext cx="3918346" cy="670011"/>
            <a:chOff x="0" y="-66675"/>
            <a:chExt cx="4327267" cy="893347"/>
          </a:xfrm>
        </p:grpSpPr>
        <p:sp>
          <p:nvSpPr>
            <p:cNvPr id="3" name="TextBox 18">
              <a:extLst>
                <a:ext uri="{FF2B5EF4-FFF2-40B4-BE49-F238E27FC236}">
                  <a16:creationId xmlns:a16="http://schemas.microsoft.com/office/drawing/2014/main" id="{221C8371-EA4B-90F9-B78E-AB5913D9DE27}"/>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4" name="TextBox 19">
              <a:extLst>
                <a:ext uri="{FF2B5EF4-FFF2-40B4-BE49-F238E27FC236}">
                  <a16:creationId xmlns:a16="http://schemas.microsoft.com/office/drawing/2014/main" id="{4D42CD20-AD75-1006-FDF4-A9A62554EE5F}"/>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09</a:t>
              </a:r>
            </a:p>
          </p:txBody>
        </p:sp>
        <p:sp>
          <p:nvSpPr>
            <p:cNvPr id="31" name="AutoShape 20">
              <a:extLst>
                <a:ext uri="{FF2B5EF4-FFF2-40B4-BE49-F238E27FC236}">
                  <a16:creationId xmlns:a16="http://schemas.microsoft.com/office/drawing/2014/main" id="{34B3FA98-7FE2-D690-B6ED-F5BBD1E0842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4721-641F-6E18-FAC3-FDF167AA2EAA}"/>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3F3E841B-FFDD-4BE4-D00E-8D09F6E46663}"/>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1897A10B-15EA-9709-6649-921F52F060D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606ACF2-3E1A-BB24-D679-F2EE3DCD6934}"/>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97D753EE-DBA8-8F43-2B95-9F9A6C818BAA}"/>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41C5724C-1198-9B9E-2E10-A38291A9E8F9}"/>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17914B6F-F2A2-A8EC-8295-82CE87E4FE45}"/>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565F98F2-84B5-B0D4-D5D7-FD69392B50CD}"/>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0" name="TextBox 20">
            <a:extLst>
              <a:ext uri="{FF2B5EF4-FFF2-40B4-BE49-F238E27FC236}">
                <a16:creationId xmlns:a16="http://schemas.microsoft.com/office/drawing/2014/main" id="{A834DD8E-734A-29ED-AB48-421AEFA4DEC3}"/>
              </a:ext>
            </a:extLst>
          </p:cNvPr>
          <p:cNvSpPr txBox="1"/>
          <p:nvPr/>
        </p:nvSpPr>
        <p:spPr>
          <a:xfrm>
            <a:off x="7697127" y="4356238"/>
            <a:ext cx="3846870" cy="349250"/>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METODE SATU</a:t>
            </a:r>
          </a:p>
        </p:txBody>
      </p:sp>
      <p:sp>
        <p:nvSpPr>
          <p:cNvPr id="21" name="TextBox 21">
            <a:extLst>
              <a:ext uri="{FF2B5EF4-FFF2-40B4-BE49-F238E27FC236}">
                <a16:creationId xmlns:a16="http://schemas.microsoft.com/office/drawing/2014/main" id="{1B575DD2-88AC-ED85-DB4D-D7EDB995D77A}"/>
              </a:ext>
            </a:extLst>
          </p:cNvPr>
          <p:cNvSpPr txBox="1"/>
          <p:nvPr/>
        </p:nvSpPr>
        <p:spPr>
          <a:xfrm>
            <a:off x="12044343"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2" name="TextBox 22">
            <a:extLst>
              <a:ext uri="{FF2B5EF4-FFF2-40B4-BE49-F238E27FC236}">
                <a16:creationId xmlns:a16="http://schemas.microsoft.com/office/drawing/2014/main" id="{E84E5A1F-B60F-7423-DFB1-151B9019EF22}"/>
              </a:ext>
            </a:extLst>
          </p:cNvPr>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34" name="TextBox 34">
            <a:extLst>
              <a:ext uri="{FF2B5EF4-FFF2-40B4-BE49-F238E27FC236}">
                <a16:creationId xmlns:a16="http://schemas.microsoft.com/office/drawing/2014/main" id="{870DCBC9-51F9-1774-A27E-832E10252002}"/>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Backend Architecture</a:t>
            </a:r>
          </a:p>
        </p:txBody>
      </p:sp>
      <p:sp>
        <p:nvSpPr>
          <p:cNvPr id="35" name="TextBox 35">
            <a:extLst>
              <a:ext uri="{FF2B5EF4-FFF2-40B4-BE49-F238E27FC236}">
                <a16:creationId xmlns:a16="http://schemas.microsoft.com/office/drawing/2014/main" id="{9254D91A-EE86-854F-F2BA-451081328BC5}"/>
              </a:ext>
            </a:extLst>
          </p:cNvPr>
          <p:cNvSpPr txBox="1"/>
          <p:nvPr/>
        </p:nvSpPr>
        <p:spPr>
          <a:xfrm>
            <a:off x="1034654" y="2933700"/>
            <a:ext cx="5618763" cy="709937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In the backend, briefly, there is 12 steps running for the entire workflows as figured in this diagram:</a:t>
            </a:r>
          </a:p>
          <a:p>
            <a:pPr algn="just">
              <a:lnSpc>
                <a:spcPts val="2800"/>
              </a:lnSpc>
            </a:pPr>
            <a:endParaRPr lang="en-US" dirty="0">
              <a:solidFill>
                <a:srgbClr val="343434"/>
              </a:solidFill>
              <a:latin typeface="Poppins"/>
              <a:ea typeface="Poppins"/>
              <a:cs typeface="Poppins"/>
              <a:sym typeface="Poppins"/>
            </a:endParaRPr>
          </a:p>
          <a:p>
            <a:pPr marL="457200" indent="-457200" algn="just">
              <a:buAutoNum type="arabicPeriod"/>
            </a:pPr>
            <a:r>
              <a:rPr lang="en-US" sz="1600" dirty="0">
                <a:solidFill>
                  <a:srgbClr val="343434"/>
                </a:solidFill>
                <a:latin typeface="Poppins"/>
                <a:ea typeface="Poppins"/>
                <a:cs typeface="Poppins"/>
                <a:sym typeface="Poppins"/>
              </a:rPr>
              <a:t>Client Sign-In or Sign-Up via Auth Service</a:t>
            </a:r>
          </a:p>
          <a:p>
            <a:pPr marL="457200" indent="-457200" algn="just">
              <a:buAutoNum type="arabicPeriod"/>
            </a:pPr>
            <a:r>
              <a:rPr lang="en-US" sz="1600" dirty="0">
                <a:solidFill>
                  <a:srgbClr val="343434"/>
                </a:solidFill>
                <a:latin typeface="Poppins"/>
                <a:ea typeface="Poppins"/>
                <a:cs typeface="Poppins"/>
                <a:sym typeface="Poppins"/>
              </a:rPr>
              <a:t>Auth Service retrieves data from the database and generates JWT token</a:t>
            </a:r>
          </a:p>
          <a:p>
            <a:pPr marL="457200" indent="-457200" algn="just">
              <a:buAutoNum type="arabicPeriod"/>
            </a:pPr>
            <a:r>
              <a:rPr lang="en-US" sz="1600" dirty="0">
                <a:solidFill>
                  <a:srgbClr val="343434"/>
                </a:solidFill>
                <a:latin typeface="Poppins"/>
                <a:ea typeface="Poppins"/>
                <a:cs typeface="Poppins"/>
                <a:sym typeface="Poppins"/>
              </a:rPr>
              <a:t>Prompt Service get the session from Auth-Middleware</a:t>
            </a:r>
          </a:p>
          <a:p>
            <a:pPr marL="457200" indent="-457200" algn="just">
              <a:buAutoNum type="arabicPeriod"/>
            </a:pPr>
            <a:r>
              <a:rPr lang="en-US" sz="1600" dirty="0">
                <a:solidFill>
                  <a:srgbClr val="343434"/>
                </a:solidFill>
                <a:latin typeface="Poppins"/>
                <a:ea typeface="Poppins"/>
                <a:cs typeface="Poppins"/>
                <a:sym typeface="Poppins"/>
              </a:rPr>
              <a:t>The JWT token is sent to Client</a:t>
            </a:r>
          </a:p>
          <a:p>
            <a:pPr marL="457200" indent="-457200" algn="just">
              <a:buAutoNum type="arabicPeriod"/>
            </a:pPr>
            <a:r>
              <a:rPr lang="en-US" sz="1600" dirty="0">
                <a:solidFill>
                  <a:srgbClr val="343434"/>
                </a:solidFill>
                <a:latin typeface="Poppins"/>
                <a:ea typeface="Poppins"/>
                <a:cs typeface="Poppins"/>
                <a:sym typeface="Poppins"/>
              </a:rPr>
              <a:t>Client send a prompt</a:t>
            </a:r>
          </a:p>
          <a:p>
            <a:pPr marL="457200" indent="-457200" algn="just">
              <a:buAutoNum type="arabicPeriod"/>
            </a:pPr>
            <a:r>
              <a:rPr lang="en-US" sz="1600" dirty="0">
                <a:solidFill>
                  <a:srgbClr val="343434"/>
                </a:solidFill>
                <a:latin typeface="Poppins"/>
                <a:ea typeface="Poppins"/>
                <a:cs typeface="Poppins"/>
                <a:sym typeface="Poppins"/>
              </a:rPr>
              <a:t>Classifier Service classify the prompt</a:t>
            </a:r>
          </a:p>
          <a:p>
            <a:pPr marL="457200" indent="-457200" algn="just">
              <a:buAutoNum type="arabicPeriod"/>
            </a:pPr>
            <a:r>
              <a:rPr lang="en-US" sz="1600" dirty="0">
                <a:solidFill>
                  <a:srgbClr val="343434"/>
                </a:solidFill>
                <a:latin typeface="Poppins"/>
                <a:ea typeface="Poppins"/>
                <a:cs typeface="Poppins"/>
                <a:sym typeface="Poppins"/>
              </a:rPr>
              <a:t>Classifier Service returning {type, value} to Prompt Service</a:t>
            </a:r>
          </a:p>
          <a:p>
            <a:pPr marL="457200" indent="-457200" algn="just">
              <a:buAutoNum type="arabicPeriod"/>
            </a:pPr>
            <a:r>
              <a:rPr lang="en-US" sz="1600" dirty="0">
                <a:solidFill>
                  <a:srgbClr val="343434"/>
                </a:solidFill>
                <a:latin typeface="Poppins"/>
                <a:ea typeface="Poppins"/>
                <a:cs typeface="Poppins"/>
                <a:sym typeface="Poppins"/>
              </a:rPr>
              <a:t>Prompt Service send the value to the corresponding service based on the type</a:t>
            </a:r>
          </a:p>
          <a:p>
            <a:pPr marL="457200" indent="-457200" algn="just">
              <a:buAutoNum type="arabicPeriod"/>
            </a:pPr>
            <a:r>
              <a:rPr lang="en-US" sz="1600" dirty="0">
                <a:solidFill>
                  <a:srgbClr val="343434"/>
                </a:solidFill>
                <a:latin typeface="Poppins"/>
                <a:ea typeface="Poppins"/>
                <a:cs typeface="Poppins"/>
                <a:sym typeface="Poppins"/>
              </a:rPr>
              <a:t>Product Service process the Embedding for the prompt through OpenAI API and send back the Embedding vector for Similarity Search</a:t>
            </a:r>
          </a:p>
          <a:p>
            <a:pPr marL="457200" indent="-457200" algn="just">
              <a:buAutoNum type="arabicPeriod"/>
            </a:pPr>
            <a:r>
              <a:rPr lang="en-US" sz="1600" dirty="0">
                <a:solidFill>
                  <a:srgbClr val="343434"/>
                </a:solidFill>
                <a:latin typeface="Poppins"/>
                <a:ea typeface="Poppins"/>
                <a:cs typeface="Poppins"/>
                <a:sym typeface="Poppins"/>
              </a:rPr>
              <a:t>Each services retrieve the data from the database (The product service retrieves product data along with its corresponding embedding vectors)</a:t>
            </a:r>
          </a:p>
          <a:p>
            <a:pPr marL="457200" indent="-457200" algn="just">
              <a:buAutoNum type="arabicPeriod"/>
            </a:pPr>
            <a:r>
              <a:rPr lang="en-US" sz="1600" dirty="0">
                <a:solidFill>
                  <a:srgbClr val="343434"/>
                </a:solidFill>
                <a:latin typeface="Poppins"/>
                <a:ea typeface="Poppins"/>
                <a:cs typeface="Poppins"/>
                <a:sym typeface="Poppins"/>
              </a:rPr>
              <a:t>Each services calculates and serializes the data and send the result back to Prompt Service</a:t>
            </a:r>
          </a:p>
          <a:p>
            <a:pPr marL="457200" indent="-457200" algn="just">
              <a:buAutoNum type="arabicPeriod"/>
            </a:pPr>
            <a:r>
              <a:rPr lang="en-US" sz="1600" dirty="0">
                <a:solidFill>
                  <a:srgbClr val="343434"/>
                </a:solidFill>
                <a:latin typeface="Poppins"/>
                <a:ea typeface="Poppins"/>
                <a:cs typeface="Poppins"/>
                <a:sym typeface="Poppins"/>
              </a:rPr>
              <a:t>Prompt Service encapsulates the data from each services and send it back to Client</a:t>
            </a:r>
          </a:p>
        </p:txBody>
      </p:sp>
      <p:sp>
        <p:nvSpPr>
          <p:cNvPr id="38" name="TextBox 3">
            <a:extLst>
              <a:ext uri="{FF2B5EF4-FFF2-40B4-BE49-F238E27FC236}">
                <a16:creationId xmlns:a16="http://schemas.microsoft.com/office/drawing/2014/main" id="{9066E1C1-42AE-B589-E56B-9C0543F1FB24}"/>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E600C8E-9718-FD22-5ACE-0849D945DA9F}"/>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8432CD0E-51FB-4408-D8C0-AC076075F0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2" name="Rectangle: Rounded Corners 1">
            <a:extLst>
              <a:ext uri="{FF2B5EF4-FFF2-40B4-BE49-F238E27FC236}">
                <a16:creationId xmlns:a16="http://schemas.microsoft.com/office/drawing/2014/main" id="{2ED57754-0CBF-CFE9-80A8-C0B4AE4035CB}"/>
              </a:ext>
            </a:extLst>
          </p:cNvPr>
          <p:cNvSpPr/>
          <p:nvPr/>
        </p:nvSpPr>
        <p:spPr>
          <a:xfrm>
            <a:off x="7976985" y="8648700"/>
            <a:ext cx="3048000" cy="746219"/>
          </a:xfrm>
          <a:prstGeom prst="roundRect">
            <a:avLst/>
          </a:prstGeom>
          <a:solidFill>
            <a:schemeClr val="accent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Client</a:t>
            </a:r>
            <a:endParaRPr lang="en-ID" sz="2000" b="1" dirty="0">
              <a:solidFill>
                <a:schemeClr val="tx1"/>
              </a:solidFill>
              <a:latin typeface="Poppins" panose="00000500000000000000" pitchFamily="2" charset="0"/>
              <a:cs typeface="Poppins" panose="00000500000000000000" pitchFamily="2" charset="0"/>
            </a:endParaRPr>
          </a:p>
        </p:txBody>
      </p:sp>
      <p:cxnSp>
        <p:nvCxnSpPr>
          <p:cNvPr id="31" name="Straight Arrow Connector 30">
            <a:extLst>
              <a:ext uri="{FF2B5EF4-FFF2-40B4-BE49-F238E27FC236}">
                <a16:creationId xmlns:a16="http://schemas.microsoft.com/office/drawing/2014/main" id="{93B66CDA-18E9-CA16-1EB7-105AA8E197EF}"/>
              </a:ext>
            </a:extLst>
          </p:cNvPr>
          <p:cNvCxnSpPr>
            <a:cxnSpLocks/>
            <a:stCxn id="45" idx="2"/>
            <a:endCxn id="2" idx="0"/>
          </p:cNvCxnSpPr>
          <p:nvPr/>
        </p:nvCxnSpPr>
        <p:spPr>
          <a:xfrm flipH="1">
            <a:off x="9500985" y="7165228"/>
            <a:ext cx="1" cy="14834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Rectangle: Rounded Corners 31">
            <a:extLst>
              <a:ext uri="{FF2B5EF4-FFF2-40B4-BE49-F238E27FC236}">
                <a16:creationId xmlns:a16="http://schemas.microsoft.com/office/drawing/2014/main" id="{47E404A9-B673-071C-1A09-AE2427A8F43C}"/>
              </a:ext>
            </a:extLst>
          </p:cNvPr>
          <p:cNvSpPr/>
          <p:nvPr/>
        </p:nvSpPr>
        <p:spPr>
          <a:xfrm>
            <a:off x="7086600" y="3045979"/>
            <a:ext cx="10515600" cy="4737952"/>
          </a:xfrm>
          <a:prstGeom prst="roundRect">
            <a:avLst/>
          </a:prstGeom>
          <a:solidFill>
            <a:srgbClr val="C6D9F1">
              <a:alpha val="69804"/>
            </a:srgbClr>
          </a:solidFill>
          <a:ln>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sz="2000" dirty="0">
              <a:solidFill>
                <a:schemeClr val="tx1"/>
              </a:solidFill>
              <a:latin typeface="Poppins" panose="00000500000000000000" pitchFamily="2" charset="0"/>
              <a:cs typeface="Poppins" panose="00000500000000000000" pitchFamily="2" charset="0"/>
            </a:endParaRPr>
          </a:p>
        </p:txBody>
      </p:sp>
      <p:sp>
        <p:nvSpPr>
          <p:cNvPr id="44" name="TextBox 43">
            <a:extLst>
              <a:ext uri="{FF2B5EF4-FFF2-40B4-BE49-F238E27FC236}">
                <a16:creationId xmlns:a16="http://schemas.microsoft.com/office/drawing/2014/main" id="{BABC325C-C7E6-5232-53C7-6B03C3167DB7}"/>
              </a:ext>
            </a:extLst>
          </p:cNvPr>
          <p:cNvSpPr txBox="1"/>
          <p:nvPr/>
        </p:nvSpPr>
        <p:spPr>
          <a:xfrm>
            <a:off x="7410801" y="3219390"/>
            <a:ext cx="6000399"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Yinni Backend (Kratos-Go Microservices)</a:t>
            </a:r>
            <a:endParaRPr lang="en-ID" sz="2000" b="1" dirty="0">
              <a:latin typeface="Poppins" panose="00000500000000000000" pitchFamily="2" charset="0"/>
              <a:cs typeface="Poppins" panose="00000500000000000000" pitchFamily="2" charset="0"/>
            </a:endParaRPr>
          </a:p>
        </p:txBody>
      </p:sp>
      <p:sp>
        <p:nvSpPr>
          <p:cNvPr id="45" name="Rectangle: Rounded Corners 44">
            <a:extLst>
              <a:ext uri="{FF2B5EF4-FFF2-40B4-BE49-F238E27FC236}">
                <a16:creationId xmlns:a16="http://schemas.microsoft.com/office/drawing/2014/main" id="{EF18F58A-F1C9-DA81-72BB-172304D9645F}"/>
              </a:ext>
            </a:extLst>
          </p:cNvPr>
          <p:cNvSpPr/>
          <p:nvPr/>
        </p:nvSpPr>
        <p:spPr>
          <a:xfrm>
            <a:off x="8077200" y="6286500"/>
            <a:ext cx="2847571" cy="878728"/>
          </a:xfrm>
          <a:prstGeom prst="roundRect">
            <a:avLst/>
          </a:prstGeom>
          <a:solidFill>
            <a:schemeClr val="accent6">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Prompt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79" name="Straight Arrow Connector 78">
            <a:extLst>
              <a:ext uri="{FF2B5EF4-FFF2-40B4-BE49-F238E27FC236}">
                <a16:creationId xmlns:a16="http://schemas.microsoft.com/office/drawing/2014/main" id="{0BE17C9C-55C8-368A-873C-5C172CB42876}"/>
              </a:ext>
            </a:extLst>
          </p:cNvPr>
          <p:cNvCxnSpPr>
            <a:cxnSpLocks/>
            <a:stCxn id="82" idx="2"/>
            <a:endCxn id="45" idx="0"/>
          </p:cNvCxnSpPr>
          <p:nvPr/>
        </p:nvCxnSpPr>
        <p:spPr>
          <a:xfrm>
            <a:off x="9500986" y="4991100"/>
            <a:ext cx="0" cy="12954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2" name="Rectangle: Rounded Corners 81">
            <a:extLst>
              <a:ext uri="{FF2B5EF4-FFF2-40B4-BE49-F238E27FC236}">
                <a16:creationId xmlns:a16="http://schemas.microsoft.com/office/drawing/2014/main" id="{71BBC83B-A38C-7535-2586-50DB9897FE65}"/>
              </a:ext>
            </a:extLst>
          </p:cNvPr>
          <p:cNvSpPr/>
          <p:nvPr/>
        </p:nvSpPr>
        <p:spPr>
          <a:xfrm>
            <a:off x="8077200" y="4112372"/>
            <a:ext cx="2847571" cy="878728"/>
          </a:xfrm>
          <a:prstGeom prst="roundRect">
            <a:avLst/>
          </a:prstGeom>
          <a:solidFill>
            <a:schemeClr val="accent4">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Classifier Service (Python)</a:t>
            </a:r>
            <a:endParaRPr lang="en-ID" sz="2000" b="1" dirty="0">
              <a:solidFill>
                <a:schemeClr val="tx1"/>
              </a:solidFill>
              <a:latin typeface="Poppins" panose="00000500000000000000" pitchFamily="2" charset="0"/>
              <a:cs typeface="Poppins" panose="00000500000000000000" pitchFamily="2" charset="0"/>
            </a:endParaRPr>
          </a:p>
        </p:txBody>
      </p:sp>
      <p:sp>
        <p:nvSpPr>
          <p:cNvPr id="87" name="Rectangle: Rounded Corners 86">
            <a:extLst>
              <a:ext uri="{FF2B5EF4-FFF2-40B4-BE49-F238E27FC236}">
                <a16:creationId xmlns:a16="http://schemas.microsoft.com/office/drawing/2014/main" id="{F32BB7E4-38BC-206D-EF7D-0F20FF7F1BC0}"/>
              </a:ext>
            </a:extLst>
          </p:cNvPr>
          <p:cNvSpPr/>
          <p:nvPr/>
        </p:nvSpPr>
        <p:spPr>
          <a:xfrm>
            <a:off x="11430000" y="5067300"/>
            <a:ext cx="2617535" cy="878728"/>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Payment Service (Go)</a:t>
            </a:r>
            <a:endParaRPr lang="en-ID" sz="2000" b="1" dirty="0">
              <a:solidFill>
                <a:schemeClr val="tx1"/>
              </a:solidFill>
              <a:latin typeface="Poppins" panose="00000500000000000000" pitchFamily="2" charset="0"/>
              <a:cs typeface="Poppins" panose="00000500000000000000" pitchFamily="2" charset="0"/>
            </a:endParaRPr>
          </a:p>
        </p:txBody>
      </p:sp>
      <p:sp>
        <p:nvSpPr>
          <p:cNvPr id="90" name="Rectangle: Rounded Corners 89">
            <a:extLst>
              <a:ext uri="{FF2B5EF4-FFF2-40B4-BE49-F238E27FC236}">
                <a16:creationId xmlns:a16="http://schemas.microsoft.com/office/drawing/2014/main" id="{0FE834CF-6552-2E2D-CE8D-8A2FDBE7E062}"/>
              </a:ext>
            </a:extLst>
          </p:cNvPr>
          <p:cNvSpPr/>
          <p:nvPr/>
        </p:nvSpPr>
        <p:spPr>
          <a:xfrm>
            <a:off x="11430000" y="3924300"/>
            <a:ext cx="2617535" cy="878728"/>
          </a:xfrm>
          <a:prstGeom prst="roundRect">
            <a:avLst/>
          </a:prstGeom>
          <a:solidFill>
            <a:schemeClr val="accent5">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Product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98" name="Straight Arrow Connector 97">
            <a:extLst>
              <a:ext uri="{FF2B5EF4-FFF2-40B4-BE49-F238E27FC236}">
                <a16:creationId xmlns:a16="http://schemas.microsoft.com/office/drawing/2014/main" id="{22376123-A8D7-E4A2-6F0F-3B5DD8EC15B9}"/>
              </a:ext>
            </a:extLst>
          </p:cNvPr>
          <p:cNvCxnSpPr>
            <a:cxnSpLocks/>
            <a:stCxn id="90" idx="1"/>
            <a:endCxn id="45" idx="3"/>
          </p:cNvCxnSpPr>
          <p:nvPr/>
        </p:nvCxnSpPr>
        <p:spPr>
          <a:xfrm flipH="1">
            <a:off x="10924771" y="4363664"/>
            <a:ext cx="505229" cy="2362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0956DA2A-3F88-F26C-43CE-A258F02AF676}"/>
              </a:ext>
            </a:extLst>
          </p:cNvPr>
          <p:cNvCxnSpPr>
            <a:cxnSpLocks/>
            <a:stCxn id="87" idx="1"/>
            <a:endCxn id="45" idx="3"/>
          </p:cNvCxnSpPr>
          <p:nvPr/>
        </p:nvCxnSpPr>
        <p:spPr>
          <a:xfrm flipH="1">
            <a:off x="10924771" y="5506664"/>
            <a:ext cx="505229" cy="1219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7" name="Rectangle: Rounded Corners 106">
            <a:extLst>
              <a:ext uri="{FF2B5EF4-FFF2-40B4-BE49-F238E27FC236}">
                <a16:creationId xmlns:a16="http://schemas.microsoft.com/office/drawing/2014/main" id="{F88B68D0-5BA6-40DF-A97A-8827FA769BD4}"/>
              </a:ext>
            </a:extLst>
          </p:cNvPr>
          <p:cNvSpPr/>
          <p:nvPr/>
        </p:nvSpPr>
        <p:spPr>
          <a:xfrm>
            <a:off x="15565580" y="4086172"/>
            <a:ext cx="1731820" cy="2886128"/>
          </a:xfrm>
          <a:prstGeom prst="roundRect">
            <a:avLst/>
          </a:prstGeom>
          <a:solidFill>
            <a:schemeClr val="bg1">
              <a:lumMod val="85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Database (MySql)</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08" name="Straight Arrow Connector 107">
            <a:extLst>
              <a:ext uri="{FF2B5EF4-FFF2-40B4-BE49-F238E27FC236}">
                <a16:creationId xmlns:a16="http://schemas.microsoft.com/office/drawing/2014/main" id="{8A7F643E-A1CD-6FA0-EF7D-73734CCFDB1B}"/>
              </a:ext>
            </a:extLst>
          </p:cNvPr>
          <p:cNvCxnSpPr>
            <a:cxnSpLocks/>
            <a:stCxn id="107" idx="1"/>
            <a:endCxn id="90" idx="3"/>
          </p:cNvCxnSpPr>
          <p:nvPr/>
        </p:nvCxnSpPr>
        <p:spPr>
          <a:xfrm flipH="1" flipV="1">
            <a:off x="14047535" y="4363664"/>
            <a:ext cx="1518045" cy="11655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A5A7BA8E-6EDE-C275-DC32-68897E8C2D92}"/>
              </a:ext>
            </a:extLst>
          </p:cNvPr>
          <p:cNvCxnSpPr>
            <a:cxnSpLocks/>
            <a:stCxn id="107" idx="1"/>
            <a:endCxn id="87" idx="3"/>
          </p:cNvCxnSpPr>
          <p:nvPr/>
        </p:nvCxnSpPr>
        <p:spPr>
          <a:xfrm flipH="1" flipV="1">
            <a:off x="14047535" y="5506664"/>
            <a:ext cx="1518045" cy="225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TextBox 117">
            <a:extLst>
              <a:ext uri="{FF2B5EF4-FFF2-40B4-BE49-F238E27FC236}">
                <a16:creationId xmlns:a16="http://schemas.microsoft.com/office/drawing/2014/main" id="{22AC4F7F-EBEA-71CF-8138-24FADE611423}"/>
              </a:ext>
            </a:extLst>
          </p:cNvPr>
          <p:cNvSpPr txBox="1"/>
          <p:nvPr/>
        </p:nvSpPr>
        <p:spPr>
          <a:xfrm>
            <a:off x="10891814" y="7962900"/>
            <a:ext cx="461986" cy="369332"/>
          </a:xfrm>
          <a:prstGeom prst="rect">
            <a:avLst/>
          </a:prstGeom>
          <a:noFill/>
        </p:spPr>
        <p:txBody>
          <a:bodyPr wrap="none" rtlCol="0">
            <a:spAutoFit/>
          </a:bodyPr>
          <a:lstStyle/>
          <a:p>
            <a:r>
              <a:rPr lang="en-ID" b="1" dirty="0">
                <a:latin typeface="Poppins" panose="00000500000000000000" pitchFamily="2" charset="0"/>
                <a:cs typeface="Poppins" panose="00000500000000000000" pitchFamily="2" charset="0"/>
              </a:rPr>
              <a:t>①</a:t>
            </a:r>
          </a:p>
        </p:txBody>
      </p:sp>
      <p:sp>
        <p:nvSpPr>
          <p:cNvPr id="119" name="TextBox 118">
            <a:extLst>
              <a:ext uri="{FF2B5EF4-FFF2-40B4-BE49-F238E27FC236}">
                <a16:creationId xmlns:a16="http://schemas.microsoft.com/office/drawing/2014/main" id="{6C967B0D-345C-10B6-AB16-5BBA940BEDDA}"/>
              </a:ext>
            </a:extLst>
          </p:cNvPr>
          <p:cNvSpPr txBox="1"/>
          <p:nvPr/>
        </p:nvSpPr>
        <p:spPr>
          <a:xfrm>
            <a:off x="9067802" y="5459967"/>
            <a:ext cx="399444" cy="381335"/>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⑥</a:t>
            </a:r>
            <a:endParaRPr lang="en-ID" sz="1600" b="1" dirty="0">
              <a:latin typeface="Poppins" panose="00000500000000000000" pitchFamily="2" charset="0"/>
              <a:cs typeface="Poppins" panose="00000500000000000000" pitchFamily="2" charset="0"/>
            </a:endParaRPr>
          </a:p>
        </p:txBody>
      </p:sp>
      <p:sp>
        <p:nvSpPr>
          <p:cNvPr id="122" name="TextBox 121">
            <a:extLst>
              <a:ext uri="{FF2B5EF4-FFF2-40B4-BE49-F238E27FC236}">
                <a16:creationId xmlns:a16="http://schemas.microsoft.com/office/drawing/2014/main" id="{C1E33945-D1CD-3DC1-2544-C10DB2E7A816}"/>
              </a:ext>
            </a:extLst>
          </p:cNvPr>
          <p:cNvSpPr txBox="1"/>
          <p:nvPr/>
        </p:nvSpPr>
        <p:spPr>
          <a:xfrm>
            <a:off x="10924771" y="6726049"/>
            <a:ext cx="505229"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③</a:t>
            </a:r>
          </a:p>
        </p:txBody>
      </p:sp>
      <p:sp>
        <p:nvSpPr>
          <p:cNvPr id="123" name="TextBox 122">
            <a:extLst>
              <a:ext uri="{FF2B5EF4-FFF2-40B4-BE49-F238E27FC236}">
                <a16:creationId xmlns:a16="http://schemas.microsoft.com/office/drawing/2014/main" id="{6987888F-32AA-C1A4-0451-6B2FB8A50EBA}"/>
              </a:ext>
            </a:extLst>
          </p:cNvPr>
          <p:cNvSpPr txBox="1"/>
          <p:nvPr/>
        </p:nvSpPr>
        <p:spPr>
          <a:xfrm>
            <a:off x="10210800" y="7822168"/>
            <a:ext cx="489353"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④</a:t>
            </a:r>
          </a:p>
        </p:txBody>
      </p:sp>
      <p:sp>
        <p:nvSpPr>
          <p:cNvPr id="124" name="TextBox 123">
            <a:extLst>
              <a:ext uri="{FF2B5EF4-FFF2-40B4-BE49-F238E27FC236}">
                <a16:creationId xmlns:a16="http://schemas.microsoft.com/office/drawing/2014/main" id="{2EAABAC4-A3E0-446D-F9C6-411FDAC89987}"/>
              </a:ext>
            </a:extLst>
          </p:cNvPr>
          <p:cNvSpPr txBox="1"/>
          <p:nvPr/>
        </p:nvSpPr>
        <p:spPr>
          <a:xfrm>
            <a:off x="10725862" y="5295900"/>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⑧</a:t>
            </a:r>
            <a:endParaRPr lang="en-ID" sz="1400" b="1" dirty="0">
              <a:latin typeface="Poppins" panose="00000500000000000000" pitchFamily="2" charset="0"/>
              <a:cs typeface="Poppins" panose="00000500000000000000" pitchFamily="2" charset="0"/>
            </a:endParaRPr>
          </a:p>
        </p:txBody>
      </p:sp>
      <p:sp>
        <p:nvSpPr>
          <p:cNvPr id="125" name="TextBox 124">
            <a:extLst>
              <a:ext uri="{FF2B5EF4-FFF2-40B4-BE49-F238E27FC236}">
                <a16:creationId xmlns:a16="http://schemas.microsoft.com/office/drawing/2014/main" id="{04D6BC10-C5AB-49A2-952F-2FA19D8B6BC0}"/>
              </a:ext>
            </a:extLst>
          </p:cNvPr>
          <p:cNvSpPr txBox="1"/>
          <p:nvPr/>
        </p:nvSpPr>
        <p:spPr>
          <a:xfrm>
            <a:off x="8998264" y="81153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⑤</a:t>
            </a:r>
            <a:endParaRPr lang="en-ID" sz="1400" b="1" dirty="0">
              <a:latin typeface="Poppins" panose="00000500000000000000" pitchFamily="2" charset="0"/>
              <a:cs typeface="Poppins" panose="00000500000000000000" pitchFamily="2" charset="0"/>
            </a:endParaRPr>
          </a:p>
        </p:txBody>
      </p:sp>
      <p:sp>
        <p:nvSpPr>
          <p:cNvPr id="127" name="Rectangle: Rounded Corners 126">
            <a:extLst>
              <a:ext uri="{FF2B5EF4-FFF2-40B4-BE49-F238E27FC236}">
                <a16:creationId xmlns:a16="http://schemas.microsoft.com/office/drawing/2014/main" id="{3245A0F6-038E-3218-52B3-8C9F67AAC6D4}"/>
              </a:ext>
            </a:extLst>
          </p:cNvPr>
          <p:cNvSpPr/>
          <p:nvPr/>
        </p:nvSpPr>
        <p:spPr>
          <a:xfrm>
            <a:off x="11430000" y="6286500"/>
            <a:ext cx="2617535" cy="878728"/>
          </a:xfrm>
          <a:prstGeom prst="roundRect">
            <a:avLst/>
          </a:prstGeom>
          <a:solidFill>
            <a:schemeClr val="tx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Auth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28" name="Straight Arrow Connector 127">
            <a:extLst>
              <a:ext uri="{FF2B5EF4-FFF2-40B4-BE49-F238E27FC236}">
                <a16:creationId xmlns:a16="http://schemas.microsoft.com/office/drawing/2014/main" id="{BEA2F8D6-10ED-83A4-6024-C8521A1F4D73}"/>
              </a:ext>
            </a:extLst>
          </p:cNvPr>
          <p:cNvCxnSpPr>
            <a:cxnSpLocks/>
            <a:stCxn id="127" idx="2"/>
            <a:endCxn id="2" idx="0"/>
          </p:cNvCxnSpPr>
          <p:nvPr/>
        </p:nvCxnSpPr>
        <p:spPr>
          <a:xfrm flipH="1">
            <a:off x="9500985" y="7165228"/>
            <a:ext cx="3237783" cy="14834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C257EF0F-947F-4BB9-13AB-EB0A24B67D6D}"/>
              </a:ext>
            </a:extLst>
          </p:cNvPr>
          <p:cNvCxnSpPr>
            <a:cxnSpLocks/>
            <a:stCxn id="107" idx="1"/>
            <a:endCxn id="127" idx="3"/>
          </p:cNvCxnSpPr>
          <p:nvPr/>
        </p:nvCxnSpPr>
        <p:spPr>
          <a:xfrm flipH="1">
            <a:off x="14047535" y="5529236"/>
            <a:ext cx="1518045" cy="1196628"/>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474473C6-1395-8A6B-4A7E-E71103054127}"/>
              </a:ext>
            </a:extLst>
          </p:cNvPr>
          <p:cNvSpPr txBox="1"/>
          <p:nvPr/>
        </p:nvSpPr>
        <p:spPr>
          <a:xfrm>
            <a:off x="14478000" y="6286500"/>
            <a:ext cx="457200"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②</a:t>
            </a:r>
          </a:p>
        </p:txBody>
      </p:sp>
      <p:cxnSp>
        <p:nvCxnSpPr>
          <p:cNvPr id="136" name="Straight Arrow Connector 135">
            <a:extLst>
              <a:ext uri="{FF2B5EF4-FFF2-40B4-BE49-F238E27FC236}">
                <a16:creationId xmlns:a16="http://schemas.microsoft.com/office/drawing/2014/main" id="{619A3D19-A0CA-9E75-4738-04ED396B6708}"/>
              </a:ext>
            </a:extLst>
          </p:cNvPr>
          <p:cNvCxnSpPr>
            <a:cxnSpLocks/>
            <a:stCxn id="127" idx="1"/>
            <a:endCxn id="45" idx="3"/>
          </p:cNvCxnSpPr>
          <p:nvPr/>
        </p:nvCxnSpPr>
        <p:spPr>
          <a:xfrm flipH="1">
            <a:off x="10924771" y="6725864"/>
            <a:ext cx="505229" cy="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9" name="TextBox 138">
            <a:extLst>
              <a:ext uri="{FF2B5EF4-FFF2-40B4-BE49-F238E27FC236}">
                <a16:creationId xmlns:a16="http://schemas.microsoft.com/office/drawing/2014/main" id="{7C62ABE4-6534-B766-9186-02A2693848AC}"/>
              </a:ext>
            </a:extLst>
          </p:cNvPr>
          <p:cNvSpPr txBox="1"/>
          <p:nvPr/>
        </p:nvSpPr>
        <p:spPr>
          <a:xfrm>
            <a:off x="9448800" y="5459968"/>
            <a:ext cx="399444"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⑦</a:t>
            </a:r>
            <a:endParaRPr lang="en-ID" sz="1600" b="1" dirty="0">
              <a:latin typeface="Poppins" panose="00000500000000000000" pitchFamily="2" charset="0"/>
              <a:cs typeface="Poppins" panose="00000500000000000000" pitchFamily="2" charset="0"/>
            </a:endParaRPr>
          </a:p>
        </p:txBody>
      </p:sp>
      <p:sp>
        <p:nvSpPr>
          <p:cNvPr id="140" name="TextBox 139">
            <a:extLst>
              <a:ext uri="{FF2B5EF4-FFF2-40B4-BE49-F238E27FC236}">
                <a16:creationId xmlns:a16="http://schemas.microsoft.com/office/drawing/2014/main" id="{2BE8D0D4-F864-7907-CABF-4B113C158F08}"/>
              </a:ext>
            </a:extLst>
          </p:cNvPr>
          <p:cNvSpPr txBox="1"/>
          <p:nvPr/>
        </p:nvSpPr>
        <p:spPr>
          <a:xfrm>
            <a:off x="13195234" y="3130034"/>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⑨</a:t>
            </a:r>
            <a:endParaRPr lang="en-ID" sz="1400" b="1" dirty="0">
              <a:latin typeface="Poppins" panose="00000500000000000000" pitchFamily="2" charset="0"/>
              <a:cs typeface="Poppins" panose="00000500000000000000" pitchFamily="2" charset="0"/>
            </a:endParaRPr>
          </a:p>
        </p:txBody>
      </p:sp>
      <p:sp>
        <p:nvSpPr>
          <p:cNvPr id="141" name="TextBox 140">
            <a:extLst>
              <a:ext uri="{FF2B5EF4-FFF2-40B4-BE49-F238E27FC236}">
                <a16:creationId xmlns:a16="http://schemas.microsoft.com/office/drawing/2014/main" id="{4B9AA61F-F54D-8FFD-B529-E50A767FBBD6}"/>
              </a:ext>
            </a:extLst>
          </p:cNvPr>
          <p:cNvSpPr txBox="1"/>
          <p:nvPr/>
        </p:nvSpPr>
        <p:spPr>
          <a:xfrm>
            <a:off x="14677915" y="5082607"/>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⑩</a:t>
            </a:r>
            <a:endParaRPr lang="en-ID" sz="1400" b="1" dirty="0">
              <a:latin typeface="Poppins" panose="00000500000000000000" pitchFamily="2" charset="0"/>
              <a:cs typeface="Poppins" panose="00000500000000000000" pitchFamily="2" charset="0"/>
            </a:endParaRPr>
          </a:p>
        </p:txBody>
      </p:sp>
      <p:sp>
        <p:nvSpPr>
          <p:cNvPr id="143" name="TextBox 142">
            <a:extLst>
              <a:ext uri="{FF2B5EF4-FFF2-40B4-BE49-F238E27FC236}">
                <a16:creationId xmlns:a16="http://schemas.microsoft.com/office/drawing/2014/main" id="{615D3D86-B389-EC14-0C81-71F167862020}"/>
              </a:ext>
            </a:extLst>
          </p:cNvPr>
          <p:cNvSpPr txBox="1"/>
          <p:nvPr/>
        </p:nvSpPr>
        <p:spPr>
          <a:xfrm>
            <a:off x="10637593" y="5598134"/>
            <a:ext cx="450536" cy="646331"/>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⑪ </a:t>
            </a:r>
            <a:endParaRPr lang="en-ID" sz="1400" b="1" dirty="0">
              <a:latin typeface="Poppins" panose="00000500000000000000" pitchFamily="2" charset="0"/>
              <a:cs typeface="Poppins" panose="00000500000000000000" pitchFamily="2" charset="0"/>
            </a:endParaRPr>
          </a:p>
        </p:txBody>
      </p:sp>
      <p:grpSp>
        <p:nvGrpSpPr>
          <p:cNvPr id="144" name="Group 17">
            <a:extLst>
              <a:ext uri="{FF2B5EF4-FFF2-40B4-BE49-F238E27FC236}">
                <a16:creationId xmlns:a16="http://schemas.microsoft.com/office/drawing/2014/main" id="{731FA9D6-F31A-544F-641F-CDDB91E95112}"/>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A3BA33FA-47EA-62D2-AB67-0E57BCFAA8BD}"/>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3DDB8BB5-1FC5-454E-3FB8-73C1D1E72D85}"/>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10</a:t>
              </a:r>
            </a:p>
          </p:txBody>
        </p:sp>
        <p:sp>
          <p:nvSpPr>
            <p:cNvPr id="147" name="AutoShape 20">
              <a:extLst>
                <a:ext uri="{FF2B5EF4-FFF2-40B4-BE49-F238E27FC236}">
                  <a16:creationId xmlns:a16="http://schemas.microsoft.com/office/drawing/2014/main" id="{35D3058F-B7BD-663D-8CA3-C84CA98EB1D2}"/>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cxnSp>
        <p:nvCxnSpPr>
          <p:cNvPr id="148" name="Straight Arrow Connector 147">
            <a:extLst>
              <a:ext uri="{FF2B5EF4-FFF2-40B4-BE49-F238E27FC236}">
                <a16:creationId xmlns:a16="http://schemas.microsoft.com/office/drawing/2014/main" id="{283C66EF-38E5-6021-1B34-0C3B89456332}"/>
              </a:ext>
            </a:extLst>
          </p:cNvPr>
          <p:cNvCxnSpPr>
            <a:cxnSpLocks/>
            <a:endCxn id="90" idx="0"/>
          </p:cNvCxnSpPr>
          <p:nvPr/>
        </p:nvCxnSpPr>
        <p:spPr>
          <a:xfrm flipH="1">
            <a:off x="12738768" y="2705100"/>
            <a:ext cx="2348832" cy="1219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38B6929B-D392-4E3D-67C9-D48AFE592AEA}"/>
              </a:ext>
            </a:extLst>
          </p:cNvPr>
          <p:cNvSpPr txBox="1"/>
          <p:nvPr/>
        </p:nvSpPr>
        <p:spPr>
          <a:xfrm>
            <a:off x="15177167" y="2491275"/>
            <a:ext cx="3048000"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OpenAI</a:t>
            </a:r>
            <a:endParaRPr lang="en-ID" sz="2000" b="1" dirty="0">
              <a:latin typeface="Poppins" panose="00000500000000000000" pitchFamily="2" charset="0"/>
              <a:cs typeface="Poppins" panose="00000500000000000000" pitchFamily="2" charset="0"/>
            </a:endParaRPr>
          </a:p>
        </p:txBody>
      </p:sp>
      <p:sp>
        <p:nvSpPr>
          <p:cNvPr id="155" name="TextBox 154">
            <a:extLst>
              <a:ext uri="{FF2B5EF4-FFF2-40B4-BE49-F238E27FC236}">
                <a16:creationId xmlns:a16="http://schemas.microsoft.com/office/drawing/2014/main" id="{9FD58AAD-CE2E-F1F2-AAEA-473B72D34B92}"/>
              </a:ext>
            </a:extLst>
          </p:cNvPr>
          <p:cNvSpPr txBox="1"/>
          <p:nvPr/>
        </p:nvSpPr>
        <p:spPr>
          <a:xfrm>
            <a:off x="8991600" y="78105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⑫</a:t>
            </a:r>
            <a:endParaRPr lang="en-ID" sz="1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4294610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4D46F-E5A0-294C-BE48-EB0E283BDE2E}"/>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54DD2D41-142F-3F03-3F9E-01D890CF5D4A}"/>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F2CBD532-6557-54FD-DD69-2FB3E5F31829}"/>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4D77F19D-E5EC-570D-E8B8-FC1A028A7C30}"/>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47DBE084-14A4-5F7A-2D3B-720877958FA9}"/>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202603DD-ED31-C41B-3497-FDB652020CD0}"/>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23DD769B-366B-0984-B794-11B37A94C3CD}"/>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8D981E86-2522-D18C-7C43-0084038F67A1}"/>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60C8E71C-AA86-4DF7-3B27-4E86DCD37C2E}"/>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1)</a:t>
            </a:r>
          </a:p>
        </p:txBody>
      </p:sp>
      <p:sp>
        <p:nvSpPr>
          <p:cNvPr id="35" name="TextBox 35">
            <a:extLst>
              <a:ext uri="{FF2B5EF4-FFF2-40B4-BE49-F238E27FC236}">
                <a16:creationId xmlns:a16="http://schemas.microsoft.com/office/drawing/2014/main" id="{987AA58C-9C34-AFB4-9DCA-E0F5B08EFF5B}"/>
              </a:ext>
            </a:extLst>
          </p:cNvPr>
          <p:cNvSpPr txBox="1"/>
          <p:nvPr/>
        </p:nvSpPr>
        <p:spPr>
          <a:xfrm>
            <a:off x="1034654" y="3322236"/>
            <a:ext cx="5618763"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the Classifier Service, Yinni App uses Ultra-Lite-Classifier model built using PyTorch Embedding-Bag model as an embedding layer with embedding dimension of 128 and fully connected linear layer classifying to 3 classes of prompt type (FIND ITEM, SELECT OPTION, MAKE PAYMENT), trained using datasets of 640 samples, spanning 300 vocab size, with only 38,787 parameters making it so incredibly lite for extremely fast process.</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1A9E681B-C99E-3725-810F-72A11D81AB66}"/>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C77AF82-CC2E-70D1-3FD0-7B08300282A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156960C9-3EA8-195C-7168-3F2DB34D50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8378A5D-3798-C8A0-4A87-6552572111F9}"/>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C9323F06-F994-E885-20E3-5629EE5604DC}"/>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44250023-5BBE-5963-A091-7FB377BCF45C}"/>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11</a:t>
              </a:r>
            </a:p>
          </p:txBody>
        </p:sp>
        <p:sp>
          <p:nvSpPr>
            <p:cNvPr id="147" name="AutoShape 20">
              <a:extLst>
                <a:ext uri="{FF2B5EF4-FFF2-40B4-BE49-F238E27FC236}">
                  <a16:creationId xmlns:a16="http://schemas.microsoft.com/office/drawing/2014/main" id="{BADF2F71-BA99-95FC-123B-8E37D680E2E5}"/>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14" name="Picture 13">
            <a:extLst>
              <a:ext uri="{FF2B5EF4-FFF2-40B4-BE49-F238E27FC236}">
                <a16:creationId xmlns:a16="http://schemas.microsoft.com/office/drawing/2014/main" id="{B702E180-24EE-A436-0FFF-9C18C4FD3034}"/>
              </a:ext>
            </a:extLst>
          </p:cNvPr>
          <p:cNvPicPr>
            <a:picLocks noChangeAspect="1"/>
          </p:cNvPicPr>
          <p:nvPr/>
        </p:nvPicPr>
        <p:blipFill>
          <a:blip r:embed="rId3"/>
          <a:stretch>
            <a:fillRect/>
          </a:stretch>
        </p:blipFill>
        <p:spPr>
          <a:xfrm>
            <a:off x="7399934" y="3424187"/>
            <a:ext cx="9994006" cy="5388520"/>
          </a:xfrm>
          <a:prstGeom prst="rect">
            <a:avLst/>
          </a:prstGeom>
        </p:spPr>
      </p:pic>
    </p:spTree>
    <p:extLst>
      <p:ext uri="{BB962C8B-B14F-4D97-AF65-F5344CB8AC3E}">
        <p14:creationId xmlns:p14="http://schemas.microsoft.com/office/powerpoint/2010/main" val="1454139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5DA6D-1505-820E-86F6-086929FDED38}"/>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4CA65C9B-1758-A253-8E7B-9FC9F7834E2B}"/>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E0A0CD04-1DC8-9297-8670-35FAE5DA5843}"/>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B6032654-993C-52F1-4F1E-7F6191AC9F70}"/>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16417BB5-DB86-FBDA-DEEF-F903799F0401}"/>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A3DF4405-6A2D-2001-AD93-461820A09DFE}"/>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EBB53406-9137-AB02-3EB0-7997A4215E9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42315DFE-2FC2-77A6-BF31-D918547B33DE}"/>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9BDCC272-21FB-737B-007C-1DDFDD63698E}"/>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2)</a:t>
            </a:r>
          </a:p>
        </p:txBody>
      </p:sp>
      <p:sp>
        <p:nvSpPr>
          <p:cNvPr id="35" name="TextBox 35">
            <a:extLst>
              <a:ext uri="{FF2B5EF4-FFF2-40B4-BE49-F238E27FC236}">
                <a16:creationId xmlns:a16="http://schemas.microsoft.com/office/drawing/2014/main" id="{B601C5A4-BCC5-E014-CC47-86D2527D4768}"/>
              </a:ext>
            </a:extLst>
          </p:cNvPr>
          <p:cNvSpPr txBox="1"/>
          <p:nvPr/>
        </p:nvSpPr>
        <p:spPr>
          <a:xfrm>
            <a:off x="1034654" y="3322236"/>
            <a:ext cx="5618763" cy="1777410"/>
          </a:xfrm>
          <a:prstGeom prst="rect">
            <a:avLst/>
          </a:prstGeom>
        </p:spPr>
        <p:txBody>
          <a:bodyPr wrap="square" lIns="0" tIns="0" rIns="0" bIns="0" rtlCol="0" anchor="t">
            <a:spAutoFit/>
          </a:bodyPr>
          <a:lstStyle/>
          <a:p>
            <a:pPr>
              <a:lnSpc>
                <a:spcPts val="2800"/>
              </a:lnSpc>
            </a:pPr>
            <a:r>
              <a:rPr lang="en-US" sz="2000" dirty="0">
                <a:solidFill>
                  <a:srgbClr val="343434"/>
                </a:solidFill>
                <a:latin typeface="Poppins"/>
                <a:ea typeface="Poppins"/>
                <a:cs typeface="Poppins"/>
                <a:sym typeface="Poppins"/>
              </a:rPr>
              <a:t>This illustration shows the training process using epoch value 9.</a:t>
            </a:r>
          </a:p>
          <a:p>
            <a:pPr>
              <a:lnSpc>
                <a:spcPts val="2800"/>
              </a:lnSpc>
            </a:pPr>
            <a:endParaRPr lang="en-US" sz="2000" dirty="0">
              <a:solidFill>
                <a:srgbClr val="343434"/>
              </a:solidFill>
              <a:latin typeface="Poppins"/>
              <a:ea typeface="Poppins"/>
              <a:cs typeface="Poppins"/>
              <a:sym typeface="Poppins"/>
            </a:endParaRPr>
          </a:p>
          <a:p>
            <a:pPr>
              <a:lnSpc>
                <a:spcPts val="2800"/>
              </a:lnSpc>
            </a:pPr>
            <a:r>
              <a:rPr lang="en-US" sz="2000" dirty="0">
                <a:solidFill>
                  <a:srgbClr val="343434"/>
                </a:solidFill>
                <a:latin typeface="Poppins"/>
                <a:ea typeface="Poppins"/>
                <a:cs typeface="Poppins"/>
                <a:sym typeface="Poppins"/>
              </a:rPr>
              <a:t>The output is ulc_model_weight.pth as trained model.</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989FD7EF-19A2-F13E-FAED-8F389A880ABC}"/>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98F0E05-8751-B410-5F34-1531BEDB92E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F689FA97-03D5-21F8-A102-6D1964E4DB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EAE08647-FF46-63E1-37EA-F34F309BC87F}"/>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CD2893DE-8D58-6FF2-F106-5C136B2B0B3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EA11276-D679-CBEB-E635-55855021473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12</a:t>
              </a:r>
            </a:p>
          </p:txBody>
        </p:sp>
        <p:sp>
          <p:nvSpPr>
            <p:cNvPr id="147" name="AutoShape 20">
              <a:extLst>
                <a:ext uri="{FF2B5EF4-FFF2-40B4-BE49-F238E27FC236}">
                  <a16:creationId xmlns:a16="http://schemas.microsoft.com/office/drawing/2014/main" id="{607812ED-4A3E-D01F-928D-05E09CD9802D}"/>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4" name="Picture 3">
            <a:extLst>
              <a:ext uri="{FF2B5EF4-FFF2-40B4-BE49-F238E27FC236}">
                <a16:creationId xmlns:a16="http://schemas.microsoft.com/office/drawing/2014/main" id="{F13D167A-0B16-324C-4D71-F3683C304052}"/>
              </a:ext>
            </a:extLst>
          </p:cNvPr>
          <p:cNvPicPr>
            <a:picLocks noChangeAspect="1"/>
          </p:cNvPicPr>
          <p:nvPr/>
        </p:nvPicPr>
        <p:blipFill>
          <a:blip r:embed="rId3"/>
          <a:stretch>
            <a:fillRect/>
          </a:stretch>
        </p:blipFill>
        <p:spPr>
          <a:xfrm>
            <a:off x="7962166" y="3322236"/>
            <a:ext cx="9335234" cy="5631264"/>
          </a:xfrm>
          <a:prstGeom prst="rect">
            <a:avLst/>
          </a:prstGeom>
        </p:spPr>
      </p:pic>
    </p:spTree>
    <p:extLst>
      <p:ext uri="{BB962C8B-B14F-4D97-AF65-F5344CB8AC3E}">
        <p14:creationId xmlns:p14="http://schemas.microsoft.com/office/powerpoint/2010/main" val="31350098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EF47E-CDBC-C140-78D2-1A0F7B6F437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DEEE745D-79B8-D679-82A8-F1B527EDDDFD}"/>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762951B7-145B-15BA-6A0C-7AA45239CB88}"/>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79F6140F-FDFB-A868-30D8-A54C3DC7D75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A330269C-8B09-6DE0-5A24-FC982BC2AD52}"/>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8CB5C2FE-2120-AAEA-7779-8A05CF8AC440}"/>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A41F36F4-F5DF-CF2B-EFF7-7A62397765B9}"/>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C78EF3A4-8945-4046-4EC1-09818BC94738}"/>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F3F0964B-0685-BD7B-93E6-C06FD2682BEB}"/>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3)</a:t>
            </a:r>
          </a:p>
        </p:txBody>
      </p:sp>
      <p:sp>
        <p:nvSpPr>
          <p:cNvPr id="35" name="TextBox 35">
            <a:extLst>
              <a:ext uri="{FF2B5EF4-FFF2-40B4-BE49-F238E27FC236}">
                <a16:creationId xmlns:a16="http://schemas.microsoft.com/office/drawing/2014/main" id="{556213F8-C9C2-64B9-8475-66438785E9D0}"/>
              </a:ext>
            </a:extLst>
          </p:cNvPr>
          <p:cNvSpPr txBox="1"/>
          <p:nvPr/>
        </p:nvSpPr>
        <p:spPr>
          <a:xfrm>
            <a:off x="1034654" y="3811781"/>
            <a:ext cx="16218692" cy="341119"/>
          </a:xfrm>
          <a:prstGeom prst="rect">
            <a:avLst/>
          </a:prstGeom>
        </p:spPr>
        <p:txBody>
          <a:bodyPr wrap="square" lIns="0" tIns="0" rIns="0" bIns="0" rtlCol="0" anchor="t">
            <a:spAutoFit/>
          </a:bodyPr>
          <a:lstStyle/>
          <a:p>
            <a:pPr>
              <a:lnSpc>
                <a:spcPts val="2800"/>
              </a:lnSpc>
            </a:pPr>
            <a:r>
              <a:rPr lang="en-US" sz="2000" dirty="0">
                <a:solidFill>
                  <a:srgbClr val="343434"/>
                </a:solidFill>
                <a:latin typeface="Poppins"/>
                <a:ea typeface="Poppins"/>
                <a:cs typeface="Poppins"/>
                <a:sym typeface="Poppins"/>
              </a:rPr>
              <a:t>This illustration shows the testing of the classifier model using the previously resulted ulc_model_weight.pth as a model weight.</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A3E424CB-E27F-0001-F4F4-0F44A55BC080}"/>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EAEAA34F-882B-C5E9-435B-DACEFA60896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4EDAABA4-D608-F567-EDE5-90C8467929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441449B-E019-BEFE-0D76-D2F031E8E69D}"/>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1B3C2A69-D753-E4F4-7A0A-7E2A7D1A3F92}"/>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B2DC8A3-00C5-B2DC-5197-5C3DBE205EF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13</a:t>
              </a:r>
            </a:p>
          </p:txBody>
        </p:sp>
        <p:sp>
          <p:nvSpPr>
            <p:cNvPr id="147" name="AutoShape 20">
              <a:extLst>
                <a:ext uri="{FF2B5EF4-FFF2-40B4-BE49-F238E27FC236}">
                  <a16:creationId xmlns:a16="http://schemas.microsoft.com/office/drawing/2014/main" id="{6DFF2460-1AD2-E6AB-829D-21F91F43766E}"/>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3" name="Picture 2">
            <a:extLst>
              <a:ext uri="{FF2B5EF4-FFF2-40B4-BE49-F238E27FC236}">
                <a16:creationId xmlns:a16="http://schemas.microsoft.com/office/drawing/2014/main" id="{825A8750-78AD-C065-3DCF-F444B862892A}"/>
              </a:ext>
            </a:extLst>
          </p:cNvPr>
          <p:cNvPicPr>
            <a:picLocks noChangeAspect="1"/>
          </p:cNvPicPr>
          <p:nvPr/>
        </p:nvPicPr>
        <p:blipFill>
          <a:blip r:embed="rId3"/>
          <a:stretch>
            <a:fillRect/>
          </a:stretch>
        </p:blipFill>
        <p:spPr>
          <a:xfrm>
            <a:off x="1019414" y="4762500"/>
            <a:ext cx="16296999" cy="3236979"/>
          </a:xfrm>
          <a:prstGeom prst="rect">
            <a:avLst/>
          </a:prstGeom>
        </p:spPr>
      </p:pic>
    </p:spTree>
    <p:extLst>
      <p:ext uri="{BB962C8B-B14F-4D97-AF65-F5344CB8AC3E}">
        <p14:creationId xmlns:p14="http://schemas.microsoft.com/office/powerpoint/2010/main" val="1553613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9193E-A1B2-9D66-8266-045AACB825C0}"/>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0F094D19-8926-A170-532E-17CDD4D600BC}"/>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83AAE08A-D942-B01F-A19E-D9EDA86E067B}"/>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ADD5471F-2E6C-FADE-E49C-AF778FEA8D5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660C2A03-61B0-2179-880D-9A32C2AC4E3B}"/>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D96019E6-BAC9-D033-3D0C-5D97062BA4C2}"/>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1409B3FA-4FA1-E321-EF85-588FE3DA2A1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A9A0CF61-0B79-68DC-7A08-39346AAAD55A}"/>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2B873500-65DA-04E8-18A9-3BB40DE0ACAD}"/>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1)</a:t>
            </a:r>
          </a:p>
        </p:txBody>
      </p:sp>
      <p:sp>
        <p:nvSpPr>
          <p:cNvPr id="35" name="TextBox 35">
            <a:extLst>
              <a:ext uri="{FF2B5EF4-FFF2-40B4-BE49-F238E27FC236}">
                <a16:creationId xmlns:a16="http://schemas.microsoft.com/office/drawing/2014/main" id="{3C701000-33FB-2C5F-B1F1-E008F3454CC4}"/>
              </a:ext>
            </a:extLst>
          </p:cNvPr>
          <p:cNvSpPr txBox="1"/>
          <p:nvPr/>
        </p:nvSpPr>
        <p:spPr>
          <a:xfrm>
            <a:off x="1034654" y="2933700"/>
            <a:ext cx="5618763" cy="3213700"/>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Yinni App Product Service utilizes standard embedding-based similarity search via the </a:t>
            </a:r>
            <a:r>
              <a:rPr lang="en-US" sz="2000" b="1" dirty="0">
                <a:solidFill>
                  <a:srgbClr val="343434"/>
                </a:solidFill>
                <a:latin typeface="Poppins"/>
                <a:ea typeface="Poppins"/>
                <a:cs typeface="Poppins"/>
                <a:sym typeface="Poppins"/>
              </a:rPr>
              <a:t>OpenAI text-embedding-3-small</a:t>
            </a:r>
            <a:r>
              <a:rPr lang="en-US" sz="2000" dirty="0">
                <a:solidFill>
                  <a:srgbClr val="343434"/>
                </a:solidFill>
                <a:latin typeface="Poppins"/>
                <a:ea typeface="Poppins"/>
                <a:cs typeface="Poppins"/>
                <a:sym typeface="Poppins"/>
              </a:rPr>
              <a:t> model.</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This model maps product descriptions and user prompts into a 1536-dimension float-vector space, employing cosine similarity to determine the semantic relationship between vectors.</a:t>
            </a:r>
          </a:p>
        </p:txBody>
      </p:sp>
      <p:sp>
        <p:nvSpPr>
          <p:cNvPr id="38" name="TextBox 3">
            <a:extLst>
              <a:ext uri="{FF2B5EF4-FFF2-40B4-BE49-F238E27FC236}">
                <a16:creationId xmlns:a16="http://schemas.microsoft.com/office/drawing/2014/main" id="{6B719169-0360-2A43-E799-12CF9F19D1E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E5C747FE-55CC-C9C9-9EAD-6CF8874DC858}"/>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9DB67E02-57C6-D51A-2270-E597726294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98F582C-D7A9-1E64-2CED-E01A0DB0760F}"/>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844D38F6-BD51-BF99-C635-D94432A7A3B2}"/>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E8D32376-EBC6-1740-1225-62700BEE5A5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14</a:t>
              </a:r>
            </a:p>
          </p:txBody>
        </p:sp>
        <p:sp>
          <p:nvSpPr>
            <p:cNvPr id="147" name="AutoShape 20">
              <a:extLst>
                <a:ext uri="{FF2B5EF4-FFF2-40B4-BE49-F238E27FC236}">
                  <a16:creationId xmlns:a16="http://schemas.microsoft.com/office/drawing/2014/main" id="{172B5A3F-323A-424B-9336-A010B8EFCF64}"/>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4" name="Picture 3">
            <a:extLst>
              <a:ext uri="{FF2B5EF4-FFF2-40B4-BE49-F238E27FC236}">
                <a16:creationId xmlns:a16="http://schemas.microsoft.com/office/drawing/2014/main" id="{9486ED01-97B6-8518-507D-FC10524C28CE}"/>
              </a:ext>
            </a:extLst>
          </p:cNvPr>
          <p:cNvPicPr>
            <a:picLocks noChangeAspect="1"/>
          </p:cNvPicPr>
          <p:nvPr/>
        </p:nvPicPr>
        <p:blipFill>
          <a:blip r:embed="rId3"/>
          <a:stretch>
            <a:fillRect/>
          </a:stretch>
        </p:blipFill>
        <p:spPr>
          <a:xfrm>
            <a:off x="8229005" y="2933700"/>
            <a:ext cx="8663809" cy="6129145"/>
          </a:xfrm>
          <a:prstGeom prst="rect">
            <a:avLst/>
          </a:prstGeom>
        </p:spPr>
      </p:pic>
    </p:spTree>
    <p:extLst>
      <p:ext uri="{BB962C8B-B14F-4D97-AF65-F5344CB8AC3E}">
        <p14:creationId xmlns:p14="http://schemas.microsoft.com/office/powerpoint/2010/main" val="9885408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D6529-B5C5-0CFB-9917-FD40F974D9CB}"/>
            </a:ext>
          </a:extLst>
        </p:cNvPr>
        <p:cNvGrpSpPr/>
        <p:nvPr/>
      </p:nvGrpSpPr>
      <p:grpSpPr>
        <a:xfrm>
          <a:off x="0" y="0"/>
          <a:ext cx="0" cy="0"/>
          <a:chOff x="0" y="0"/>
          <a:chExt cx="0" cy="0"/>
        </a:xfrm>
      </p:grpSpPr>
      <p:cxnSp>
        <p:nvCxnSpPr>
          <p:cNvPr id="42" name="Straight Arrow Connector 41">
            <a:extLst>
              <a:ext uri="{FF2B5EF4-FFF2-40B4-BE49-F238E27FC236}">
                <a16:creationId xmlns:a16="http://schemas.microsoft.com/office/drawing/2014/main" id="{BCC402D0-413F-4369-27FF-8BCF10AE9610}"/>
              </a:ext>
            </a:extLst>
          </p:cNvPr>
          <p:cNvCxnSpPr>
            <a:cxnSpLocks/>
            <a:stCxn id="33" idx="1"/>
            <a:endCxn id="16" idx="3"/>
          </p:cNvCxnSpPr>
          <p:nvPr/>
        </p:nvCxnSpPr>
        <p:spPr>
          <a:xfrm flipH="1">
            <a:off x="14730431" y="6649664"/>
            <a:ext cx="430732" cy="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Rounded Corners 32">
            <a:extLst>
              <a:ext uri="{FF2B5EF4-FFF2-40B4-BE49-F238E27FC236}">
                <a16:creationId xmlns:a16="http://schemas.microsoft.com/office/drawing/2014/main" id="{5D571F93-E458-63C3-D2C1-3F0C813E5BE1}"/>
              </a:ext>
            </a:extLst>
          </p:cNvPr>
          <p:cNvSpPr/>
          <p:nvPr/>
        </p:nvSpPr>
        <p:spPr>
          <a:xfrm>
            <a:off x="15161163" y="6210300"/>
            <a:ext cx="2122121" cy="878728"/>
          </a:xfrm>
          <a:prstGeom prst="roundRect">
            <a:avLst/>
          </a:prstGeom>
          <a:solidFill>
            <a:schemeClr val="tx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Auth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36" name="Straight Arrow Connector 35">
            <a:extLst>
              <a:ext uri="{FF2B5EF4-FFF2-40B4-BE49-F238E27FC236}">
                <a16:creationId xmlns:a16="http://schemas.microsoft.com/office/drawing/2014/main" id="{FDAEC6BE-4EF5-25F0-909A-7D3F987B075F}"/>
              </a:ext>
            </a:extLst>
          </p:cNvPr>
          <p:cNvCxnSpPr>
            <a:cxnSpLocks/>
            <a:stCxn id="33" idx="2"/>
            <a:endCxn id="49" idx="0"/>
          </p:cNvCxnSpPr>
          <p:nvPr/>
        </p:nvCxnSpPr>
        <p:spPr>
          <a:xfrm flipH="1">
            <a:off x="10722417" y="7089028"/>
            <a:ext cx="5499807" cy="108090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70E6CBC2-1E7D-16CE-5C7D-74BC07860734}"/>
              </a:ext>
            </a:extLst>
          </p:cNvPr>
          <p:cNvCxnSpPr>
            <a:cxnSpLocks/>
            <a:stCxn id="33" idx="2"/>
            <a:endCxn id="12" idx="0"/>
          </p:cNvCxnSpPr>
          <p:nvPr/>
        </p:nvCxnSpPr>
        <p:spPr>
          <a:xfrm flipH="1">
            <a:off x="13495110" y="7089028"/>
            <a:ext cx="2727114" cy="108307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D5378458-61E0-A6E9-1F35-0AEF5A618ABA}"/>
              </a:ext>
            </a:extLst>
          </p:cNvPr>
          <p:cNvCxnSpPr>
            <a:cxnSpLocks/>
            <a:stCxn id="24" idx="2"/>
            <a:endCxn id="33" idx="0"/>
          </p:cNvCxnSpPr>
          <p:nvPr/>
        </p:nvCxnSpPr>
        <p:spPr>
          <a:xfrm>
            <a:off x="10716490" y="5143500"/>
            <a:ext cx="5505734" cy="10668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59C6615B-A9E8-C451-185E-DA081EEB4B55}"/>
              </a:ext>
            </a:extLst>
          </p:cNvPr>
          <p:cNvCxnSpPr>
            <a:cxnSpLocks/>
            <a:stCxn id="24" idx="2"/>
            <a:endCxn id="20" idx="1"/>
          </p:cNvCxnSpPr>
          <p:nvPr/>
        </p:nvCxnSpPr>
        <p:spPr>
          <a:xfrm>
            <a:off x="10716490" y="5143500"/>
            <a:ext cx="4444673" cy="363164"/>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3C42E6C-F672-F839-1F1E-0B6771EF9EBF}"/>
              </a:ext>
            </a:extLst>
          </p:cNvPr>
          <p:cNvCxnSpPr>
            <a:cxnSpLocks/>
            <a:stCxn id="18" idx="2"/>
            <a:endCxn id="16" idx="0"/>
          </p:cNvCxnSpPr>
          <p:nvPr/>
        </p:nvCxnSpPr>
        <p:spPr>
          <a:xfrm>
            <a:off x="13499316" y="4976596"/>
            <a:ext cx="0" cy="1233704"/>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5F2B16EC-4BDA-3BFD-EF91-39427F46EA69}"/>
              </a:ext>
            </a:extLst>
          </p:cNvPr>
          <p:cNvSpPr/>
          <p:nvPr/>
        </p:nvSpPr>
        <p:spPr>
          <a:xfrm>
            <a:off x="12268200" y="4097868"/>
            <a:ext cx="2462231" cy="878728"/>
          </a:xfrm>
          <a:prstGeom prst="roundRect">
            <a:avLst/>
          </a:prstGeom>
          <a:solidFill>
            <a:schemeClr val="accent4">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Classifier Service (Python)</a:t>
            </a:r>
            <a:endParaRPr lang="en-ID" sz="2000" b="1" dirty="0">
              <a:solidFill>
                <a:schemeClr val="tx1"/>
              </a:solidFill>
              <a:latin typeface="Poppins" panose="00000500000000000000" pitchFamily="2" charset="0"/>
              <a:cs typeface="Poppins" panose="00000500000000000000" pitchFamily="2" charset="0"/>
            </a:endParaRPr>
          </a:p>
        </p:txBody>
      </p:sp>
      <p:cxnSp>
        <p:nvCxnSpPr>
          <p:cNvPr id="23" name="Straight Arrow Connector 22">
            <a:extLst>
              <a:ext uri="{FF2B5EF4-FFF2-40B4-BE49-F238E27FC236}">
                <a16:creationId xmlns:a16="http://schemas.microsoft.com/office/drawing/2014/main" id="{A41BB3C5-AAF0-2270-68E7-1A7D84FEDCC8}"/>
              </a:ext>
            </a:extLst>
          </p:cNvPr>
          <p:cNvCxnSpPr>
            <a:cxnSpLocks/>
            <a:stCxn id="20" idx="1"/>
            <a:endCxn id="16" idx="3"/>
          </p:cNvCxnSpPr>
          <p:nvPr/>
        </p:nvCxnSpPr>
        <p:spPr>
          <a:xfrm flipH="1">
            <a:off x="14730431" y="5506664"/>
            <a:ext cx="430732" cy="11430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719DE37A-BE95-5CB8-7664-31F5E338EBF9}"/>
              </a:ext>
            </a:extLst>
          </p:cNvPr>
          <p:cNvSpPr/>
          <p:nvPr/>
        </p:nvSpPr>
        <p:spPr>
          <a:xfrm>
            <a:off x="15161163" y="5067300"/>
            <a:ext cx="2122121" cy="878728"/>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Payment Service (Go)</a:t>
            </a:r>
            <a:endParaRPr lang="en-ID" sz="2000" b="1" dirty="0">
              <a:solidFill>
                <a:schemeClr val="tx1"/>
              </a:solidFill>
              <a:latin typeface="Poppins" panose="00000500000000000000" pitchFamily="2" charset="0"/>
              <a:cs typeface="Poppins" panose="00000500000000000000" pitchFamily="2" charset="0"/>
            </a:endParaRPr>
          </a:p>
        </p:txBody>
      </p:sp>
      <p:grpSp>
        <p:nvGrpSpPr>
          <p:cNvPr id="5" name="Group 5">
            <a:extLst>
              <a:ext uri="{FF2B5EF4-FFF2-40B4-BE49-F238E27FC236}">
                <a16:creationId xmlns:a16="http://schemas.microsoft.com/office/drawing/2014/main" id="{41F853FE-5DCE-5F3A-ED16-CDDAC05AD10C}"/>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EC97141F-1007-29D9-6F09-5BD702A7703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FAB4D311-4911-0843-68E0-9D75C429A6F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06C387A8-F689-5ED9-F2F9-CC827DD89210}"/>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10B43721-8F62-88D4-85BA-C696ECDAE514}"/>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D1D8BDC4-4D4A-A347-683C-A916DFB31FF5}"/>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F8F3A0CE-5109-33F5-824D-2682D2C7B745}"/>
              </a:ext>
            </a:extLst>
          </p:cNvPr>
          <p:cNvSpPr txBox="1"/>
          <p:nvPr/>
        </p:nvSpPr>
        <p:spPr>
          <a:xfrm>
            <a:off x="9809021"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6F7DA63B-354D-49FA-C7E0-9ECEBF112C49}"/>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2)</a:t>
            </a:r>
          </a:p>
        </p:txBody>
      </p:sp>
      <p:sp>
        <p:nvSpPr>
          <p:cNvPr id="35" name="TextBox 35">
            <a:extLst>
              <a:ext uri="{FF2B5EF4-FFF2-40B4-BE49-F238E27FC236}">
                <a16:creationId xmlns:a16="http://schemas.microsoft.com/office/drawing/2014/main" id="{7DF0A38D-A1E1-7B60-3F36-A984A5F4AC8A}"/>
              </a:ext>
            </a:extLst>
          </p:cNvPr>
          <p:cNvSpPr txBox="1"/>
          <p:nvPr/>
        </p:nvSpPr>
        <p:spPr>
          <a:xfrm>
            <a:off x="1034653" y="2788548"/>
            <a:ext cx="6668497" cy="791755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deployment-implementation step is as following: </a:t>
            </a:r>
          </a:p>
          <a:p>
            <a:pPr algn="just">
              <a:lnSpc>
                <a:spcPts val="2800"/>
              </a:lnSpc>
            </a:pPr>
            <a:endParaRPr lang="en-US" sz="2000" dirty="0">
              <a:solidFill>
                <a:srgbClr val="343434"/>
              </a:solidFill>
              <a:latin typeface="Poppins"/>
              <a:ea typeface="Poppins"/>
              <a:cs typeface="Poppins"/>
              <a:sym typeface="Poppins"/>
            </a:endParaRPr>
          </a:p>
          <a:p>
            <a:pPr marL="457200" indent="-457200" algn="just">
              <a:buAutoNum type="arabicPeriod"/>
            </a:pPr>
            <a:r>
              <a:rPr lang="en-US" sz="1900" dirty="0">
                <a:solidFill>
                  <a:srgbClr val="343434"/>
                </a:solidFill>
                <a:latin typeface="Poppins"/>
                <a:ea typeface="Poppins"/>
                <a:cs typeface="Poppins"/>
                <a:sym typeface="Poppins"/>
              </a:rPr>
              <a:t>At the beginning, Authenticated Admin run GenerateAllEmbedding function through Product Service API</a:t>
            </a:r>
          </a:p>
          <a:p>
            <a:pPr marL="457200" indent="-457200" algn="just">
              <a:buAutoNum type="arabicPeriod"/>
            </a:pPr>
            <a:r>
              <a:rPr lang="en-US" sz="1900" dirty="0">
                <a:solidFill>
                  <a:srgbClr val="343434"/>
                </a:solidFill>
                <a:latin typeface="Poppins"/>
                <a:ea typeface="Poppins"/>
                <a:cs typeface="Poppins"/>
                <a:sym typeface="Poppins"/>
              </a:rPr>
              <a:t>Product Service fetch products one-by-one from database</a:t>
            </a:r>
          </a:p>
          <a:p>
            <a:pPr marL="457200" indent="-457200" algn="just">
              <a:buAutoNum type="arabicPeriod"/>
            </a:pPr>
            <a:r>
              <a:rPr lang="en-US" sz="1900" dirty="0">
                <a:solidFill>
                  <a:srgbClr val="343434"/>
                </a:solidFill>
                <a:latin typeface="Poppins"/>
                <a:ea typeface="Poppins"/>
                <a:cs typeface="Poppins"/>
                <a:sym typeface="Poppins"/>
              </a:rPr>
              <a:t>Each product description is forwarded to OpenAI API to get unique embedding vector</a:t>
            </a:r>
          </a:p>
          <a:p>
            <a:pPr marL="457200" indent="-457200" algn="just">
              <a:buAutoNum type="arabicPeriod"/>
            </a:pPr>
            <a:r>
              <a:rPr lang="en-US" sz="1900" dirty="0">
                <a:solidFill>
                  <a:srgbClr val="343434"/>
                </a:solidFill>
                <a:latin typeface="Poppins"/>
                <a:ea typeface="Poppins"/>
                <a:cs typeface="Poppins"/>
                <a:sym typeface="Poppins"/>
              </a:rPr>
              <a:t>Embedding vector for each products is stored in the product database</a:t>
            </a:r>
          </a:p>
          <a:p>
            <a:pPr marL="457200" indent="-457200" algn="just">
              <a:buAutoNum type="arabicPeriod"/>
            </a:pPr>
            <a:r>
              <a:rPr lang="en-US" sz="1900" dirty="0">
                <a:solidFill>
                  <a:srgbClr val="343434"/>
                </a:solidFill>
                <a:latin typeface="Poppins"/>
                <a:ea typeface="Poppins"/>
                <a:cs typeface="Poppins"/>
                <a:sym typeface="Poppins"/>
              </a:rPr>
              <a:t>Authenticated Client send a prompt</a:t>
            </a:r>
          </a:p>
          <a:p>
            <a:pPr marL="457200" indent="-457200" algn="just">
              <a:buAutoNum type="arabicPeriod"/>
            </a:pPr>
            <a:r>
              <a:rPr lang="en-US" sz="1900" dirty="0">
                <a:solidFill>
                  <a:srgbClr val="343434"/>
                </a:solidFill>
                <a:latin typeface="Poppins"/>
                <a:ea typeface="Poppins"/>
                <a:cs typeface="Poppins"/>
                <a:sym typeface="Poppins"/>
              </a:rPr>
              <a:t>Prompt Service send the prompt text to Product Service</a:t>
            </a:r>
          </a:p>
          <a:p>
            <a:pPr marL="457200" indent="-457200" algn="just">
              <a:buAutoNum type="arabicPeriod"/>
            </a:pPr>
            <a:r>
              <a:rPr lang="en-US" sz="1900" dirty="0">
                <a:solidFill>
                  <a:srgbClr val="343434"/>
                </a:solidFill>
                <a:latin typeface="Poppins"/>
                <a:ea typeface="Poppins"/>
                <a:cs typeface="Poppins"/>
                <a:sym typeface="Poppins"/>
              </a:rPr>
              <a:t>Product Service send prompt text to OpenAI API to get embedding vector</a:t>
            </a:r>
          </a:p>
          <a:p>
            <a:pPr marL="457200" indent="-457200" algn="just">
              <a:buAutoNum type="arabicPeriod"/>
            </a:pPr>
            <a:r>
              <a:rPr lang="en-US" sz="1900" dirty="0">
                <a:solidFill>
                  <a:srgbClr val="343434"/>
                </a:solidFill>
                <a:latin typeface="Poppins"/>
                <a:ea typeface="Poppins"/>
                <a:cs typeface="Poppins"/>
                <a:sym typeface="Poppins"/>
              </a:rPr>
              <a:t>Product Service fetch products from database along with its embedding vectors and calculate the cosine-similarity to determine N closest product vectors to the prompt’s embedding vector</a:t>
            </a:r>
          </a:p>
          <a:p>
            <a:pPr marL="457200" indent="-457200" algn="just">
              <a:buAutoNum type="arabicPeriod"/>
            </a:pPr>
            <a:r>
              <a:rPr lang="en-US" sz="1900" dirty="0">
                <a:solidFill>
                  <a:srgbClr val="343434"/>
                </a:solidFill>
                <a:latin typeface="Poppins"/>
                <a:ea typeface="Poppins"/>
                <a:cs typeface="Poppins"/>
                <a:sym typeface="Poppins"/>
              </a:rPr>
              <a:t>Product Service returning N products closest to prompt description</a:t>
            </a:r>
          </a:p>
          <a:p>
            <a:pPr marL="457200" indent="-457200" algn="just">
              <a:buAutoNum type="arabicPeriod"/>
            </a:pPr>
            <a:r>
              <a:rPr lang="en-US" sz="1900" dirty="0">
                <a:solidFill>
                  <a:srgbClr val="343434"/>
                </a:solidFill>
                <a:latin typeface="Poppins"/>
                <a:ea typeface="Poppins"/>
                <a:cs typeface="Poppins"/>
                <a:sym typeface="Poppins"/>
              </a:rPr>
              <a:t>List of N products is sent back to client</a:t>
            </a: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9B421182-6BB0-9A18-0838-3EECD279D1B0}"/>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A95FF09-B7BF-503D-127C-9727C22810E6}"/>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C5FC98FA-2636-42EF-7448-CC7642188C1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0E26C894-E45C-DE87-D1A0-BEEEF24AE08E}"/>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5CD4F828-4EA1-F7EE-4B96-6198A57DC2CF}"/>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32AC7AF7-499B-13AF-F6ED-BF21637AF1A2}"/>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15</a:t>
              </a:r>
            </a:p>
          </p:txBody>
        </p:sp>
        <p:sp>
          <p:nvSpPr>
            <p:cNvPr id="147" name="AutoShape 20">
              <a:extLst>
                <a:ext uri="{FF2B5EF4-FFF2-40B4-BE49-F238E27FC236}">
                  <a16:creationId xmlns:a16="http://schemas.microsoft.com/office/drawing/2014/main" id="{04D56051-8990-52F3-4476-60045ABCCBE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3" name="TextBox 21">
            <a:extLst>
              <a:ext uri="{FF2B5EF4-FFF2-40B4-BE49-F238E27FC236}">
                <a16:creationId xmlns:a16="http://schemas.microsoft.com/office/drawing/2014/main" id="{B4DD066E-F835-D139-8CE7-59584277754C}"/>
              </a:ext>
            </a:extLst>
          </p:cNvPr>
          <p:cNvSpPr txBox="1"/>
          <p:nvPr/>
        </p:nvSpPr>
        <p:spPr>
          <a:xfrm>
            <a:off x="1528009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12" name="Rectangle: Rounded Corners 11">
            <a:extLst>
              <a:ext uri="{FF2B5EF4-FFF2-40B4-BE49-F238E27FC236}">
                <a16:creationId xmlns:a16="http://schemas.microsoft.com/office/drawing/2014/main" id="{B27337B1-3A43-063D-CB32-669EF3CF9173}"/>
              </a:ext>
            </a:extLst>
          </p:cNvPr>
          <p:cNvSpPr/>
          <p:nvPr/>
        </p:nvSpPr>
        <p:spPr>
          <a:xfrm>
            <a:off x="12423630" y="8172104"/>
            <a:ext cx="2142959" cy="746219"/>
          </a:xfrm>
          <a:prstGeom prst="roundRect">
            <a:avLst/>
          </a:prstGeom>
          <a:solidFill>
            <a:schemeClr val="accent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Client</a:t>
            </a:r>
            <a:endParaRPr lang="en-ID" sz="2000" b="1" dirty="0">
              <a:solidFill>
                <a:schemeClr val="tx1"/>
              </a:solidFill>
              <a:latin typeface="Poppins" panose="00000500000000000000" pitchFamily="2" charset="0"/>
              <a:cs typeface="Poppins" panose="00000500000000000000" pitchFamily="2" charset="0"/>
            </a:endParaRPr>
          </a:p>
        </p:txBody>
      </p:sp>
      <p:sp>
        <p:nvSpPr>
          <p:cNvPr id="14" name="Rectangle: Rounded Corners 13">
            <a:extLst>
              <a:ext uri="{FF2B5EF4-FFF2-40B4-BE49-F238E27FC236}">
                <a16:creationId xmlns:a16="http://schemas.microsoft.com/office/drawing/2014/main" id="{20BD3BD5-FB43-6542-933F-39AED5A7E277}"/>
              </a:ext>
            </a:extLst>
          </p:cNvPr>
          <p:cNvSpPr/>
          <p:nvPr/>
        </p:nvSpPr>
        <p:spPr>
          <a:xfrm>
            <a:off x="9242556" y="2826652"/>
            <a:ext cx="8337288" cy="4737952"/>
          </a:xfrm>
          <a:prstGeom prst="roundRect">
            <a:avLst/>
          </a:prstGeom>
          <a:solidFill>
            <a:srgbClr val="C6D9F1">
              <a:alpha val="69804"/>
            </a:srgbClr>
          </a:solidFill>
          <a:ln>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sz="2000" dirty="0">
              <a:solidFill>
                <a:schemeClr val="tx1"/>
              </a:solidFill>
              <a:latin typeface="Poppins" panose="00000500000000000000" pitchFamily="2" charset="0"/>
              <a:cs typeface="Poppins" panose="00000500000000000000" pitchFamily="2" charset="0"/>
            </a:endParaRPr>
          </a:p>
        </p:txBody>
      </p:sp>
      <p:sp>
        <p:nvSpPr>
          <p:cNvPr id="15" name="TextBox 14">
            <a:extLst>
              <a:ext uri="{FF2B5EF4-FFF2-40B4-BE49-F238E27FC236}">
                <a16:creationId xmlns:a16="http://schemas.microsoft.com/office/drawing/2014/main" id="{887AF42B-28B7-E66C-4E16-942310DBFC42}"/>
              </a:ext>
            </a:extLst>
          </p:cNvPr>
          <p:cNvSpPr txBox="1"/>
          <p:nvPr/>
        </p:nvSpPr>
        <p:spPr>
          <a:xfrm>
            <a:off x="9544401" y="3066990"/>
            <a:ext cx="6000399"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Yinni Backend (Kratos-Go Microservices)</a:t>
            </a:r>
            <a:endParaRPr lang="en-ID" sz="2000" b="1" dirty="0">
              <a:latin typeface="Poppins" panose="00000500000000000000" pitchFamily="2" charset="0"/>
              <a:cs typeface="Poppins" panose="00000500000000000000" pitchFamily="2" charset="0"/>
            </a:endParaRPr>
          </a:p>
        </p:txBody>
      </p:sp>
      <p:sp>
        <p:nvSpPr>
          <p:cNvPr id="16" name="Rectangle: Rounded Corners 15">
            <a:extLst>
              <a:ext uri="{FF2B5EF4-FFF2-40B4-BE49-F238E27FC236}">
                <a16:creationId xmlns:a16="http://schemas.microsoft.com/office/drawing/2014/main" id="{B54B31F5-394F-7B33-99AC-237F5C3BF09D}"/>
              </a:ext>
            </a:extLst>
          </p:cNvPr>
          <p:cNvSpPr/>
          <p:nvPr/>
        </p:nvSpPr>
        <p:spPr>
          <a:xfrm>
            <a:off x="12268200" y="6210300"/>
            <a:ext cx="2462231" cy="878728"/>
          </a:xfrm>
          <a:prstGeom prst="roundRect">
            <a:avLst/>
          </a:prstGeom>
          <a:solidFill>
            <a:schemeClr val="accent6">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Prompt Service (Go)</a:t>
            </a:r>
            <a:endParaRPr lang="en-ID" sz="2000" b="1" dirty="0">
              <a:solidFill>
                <a:schemeClr val="tx1"/>
              </a:solidFill>
              <a:latin typeface="Poppins" panose="00000500000000000000" pitchFamily="2" charset="0"/>
              <a:cs typeface="Poppins" panose="00000500000000000000" pitchFamily="2" charset="0"/>
            </a:endParaRPr>
          </a:p>
        </p:txBody>
      </p:sp>
      <p:sp>
        <p:nvSpPr>
          <p:cNvPr id="21" name="Rectangle: Rounded Corners 20">
            <a:extLst>
              <a:ext uri="{FF2B5EF4-FFF2-40B4-BE49-F238E27FC236}">
                <a16:creationId xmlns:a16="http://schemas.microsoft.com/office/drawing/2014/main" id="{F1690DBF-8A5A-40FD-9C49-A1CE626F3B36}"/>
              </a:ext>
            </a:extLst>
          </p:cNvPr>
          <p:cNvSpPr/>
          <p:nvPr/>
        </p:nvSpPr>
        <p:spPr>
          <a:xfrm>
            <a:off x="9538184" y="6224337"/>
            <a:ext cx="2349016" cy="878728"/>
          </a:xfrm>
          <a:prstGeom prst="roundRect">
            <a:avLst/>
          </a:prstGeom>
          <a:solidFill>
            <a:schemeClr val="accent5">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Product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22" name="Straight Arrow Connector 21">
            <a:extLst>
              <a:ext uri="{FF2B5EF4-FFF2-40B4-BE49-F238E27FC236}">
                <a16:creationId xmlns:a16="http://schemas.microsoft.com/office/drawing/2014/main" id="{B81010E0-8A03-EB8B-42EB-0303E5F39D35}"/>
              </a:ext>
            </a:extLst>
          </p:cNvPr>
          <p:cNvCxnSpPr>
            <a:cxnSpLocks/>
            <a:stCxn id="21" idx="3"/>
            <a:endCxn id="16" idx="1"/>
          </p:cNvCxnSpPr>
          <p:nvPr/>
        </p:nvCxnSpPr>
        <p:spPr>
          <a:xfrm flipV="1">
            <a:off x="11887200" y="6649664"/>
            <a:ext cx="381000" cy="14037"/>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Rectangle: Rounded Corners 23">
            <a:extLst>
              <a:ext uri="{FF2B5EF4-FFF2-40B4-BE49-F238E27FC236}">
                <a16:creationId xmlns:a16="http://schemas.microsoft.com/office/drawing/2014/main" id="{B1ADABD8-7FFD-E0A3-DB90-A6531133E1F2}"/>
              </a:ext>
            </a:extLst>
          </p:cNvPr>
          <p:cNvSpPr/>
          <p:nvPr/>
        </p:nvSpPr>
        <p:spPr>
          <a:xfrm>
            <a:off x="9850580" y="3884719"/>
            <a:ext cx="1731820" cy="1258781"/>
          </a:xfrm>
          <a:prstGeom prst="roundRect">
            <a:avLst/>
          </a:prstGeom>
          <a:solidFill>
            <a:schemeClr val="bg1">
              <a:lumMod val="85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Database (MySql)</a:t>
            </a:r>
            <a:endParaRPr lang="en-ID" sz="2000" b="1" dirty="0">
              <a:solidFill>
                <a:schemeClr val="tx1"/>
              </a:solidFill>
              <a:latin typeface="Poppins" panose="00000500000000000000" pitchFamily="2" charset="0"/>
              <a:cs typeface="Poppins" panose="00000500000000000000" pitchFamily="2" charset="0"/>
            </a:endParaRPr>
          </a:p>
        </p:txBody>
      </p:sp>
      <p:sp>
        <p:nvSpPr>
          <p:cNvPr id="27" name="TextBox 26">
            <a:extLst>
              <a:ext uri="{FF2B5EF4-FFF2-40B4-BE49-F238E27FC236}">
                <a16:creationId xmlns:a16="http://schemas.microsoft.com/office/drawing/2014/main" id="{BD53E0BB-F00A-0AD3-8FB2-F8A6B93002EB}"/>
              </a:ext>
            </a:extLst>
          </p:cNvPr>
          <p:cNvSpPr txBox="1"/>
          <p:nvPr/>
        </p:nvSpPr>
        <p:spPr>
          <a:xfrm>
            <a:off x="10282214" y="7566774"/>
            <a:ext cx="461986" cy="369332"/>
          </a:xfrm>
          <a:prstGeom prst="rect">
            <a:avLst/>
          </a:prstGeom>
          <a:noFill/>
        </p:spPr>
        <p:txBody>
          <a:bodyPr wrap="none" rtlCol="0">
            <a:spAutoFit/>
          </a:bodyPr>
          <a:lstStyle/>
          <a:p>
            <a:r>
              <a:rPr lang="en-ID" b="1" dirty="0">
                <a:latin typeface="Poppins" panose="00000500000000000000" pitchFamily="2" charset="0"/>
                <a:cs typeface="Poppins" panose="00000500000000000000" pitchFamily="2" charset="0"/>
              </a:rPr>
              <a:t>①</a:t>
            </a:r>
          </a:p>
        </p:txBody>
      </p:sp>
      <p:sp>
        <p:nvSpPr>
          <p:cNvPr id="28" name="TextBox 27">
            <a:extLst>
              <a:ext uri="{FF2B5EF4-FFF2-40B4-BE49-F238E27FC236}">
                <a16:creationId xmlns:a16="http://schemas.microsoft.com/office/drawing/2014/main" id="{6D956422-1618-F26D-F2D6-674927815A33}"/>
              </a:ext>
            </a:extLst>
          </p:cNvPr>
          <p:cNvSpPr txBox="1"/>
          <p:nvPr/>
        </p:nvSpPr>
        <p:spPr>
          <a:xfrm>
            <a:off x="11868756" y="6286165"/>
            <a:ext cx="399444" cy="381335"/>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⑥</a:t>
            </a:r>
            <a:endParaRPr lang="en-ID" sz="1600" b="1" dirty="0">
              <a:latin typeface="Poppins" panose="00000500000000000000" pitchFamily="2" charset="0"/>
              <a:cs typeface="Poppins" panose="00000500000000000000" pitchFamily="2" charset="0"/>
            </a:endParaRPr>
          </a:p>
        </p:txBody>
      </p:sp>
      <p:sp>
        <p:nvSpPr>
          <p:cNvPr id="29" name="TextBox 28">
            <a:extLst>
              <a:ext uri="{FF2B5EF4-FFF2-40B4-BE49-F238E27FC236}">
                <a16:creationId xmlns:a16="http://schemas.microsoft.com/office/drawing/2014/main" id="{F7C850D5-9117-D855-C07E-650DE7186B52}"/>
              </a:ext>
            </a:extLst>
          </p:cNvPr>
          <p:cNvSpPr txBox="1"/>
          <p:nvPr/>
        </p:nvSpPr>
        <p:spPr>
          <a:xfrm>
            <a:off x="8991600" y="6667500"/>
            <a:ext cx="505229"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③</a:t>
            </a:r>
          </a:p>
        </p:txBody>
      </p:sp>
      <p:sp>
        <p:nvSpPr>
          <p:cNvPr id="30" name="TextBox 29">
            <a:extLst>
              <a:ext uri="{FF2B5EF4-FFF2-40B4-BE49-F238E27FC236}">
                <a16:creationId xmlns:a16="http://schemas.microsoft.com/office/drawing/2014/main" id="{43E3524A-EF27-2B73-B8DB-901E196BD0EA}"/>
              </a:ext>
            </a:extLst>
          </p:cNvPr>
          <p:cNvSpPr txBox="1"/>
          <p:nvPr/>
        </p:nvSpPr>
        <p:spPr>
          <a:xfrm>
            <a:off x="10287000" y="5536168"/>
            <a:ext cx="489353"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④</a:t>
            </a:r>
          </a:p>
        </p:txBody>
      </p:sp>
      <p:sp>
        <p:nvSpPr>
          <p:cNvPr id="31" name="TextBox 30">
            <a:extLst>
              <a:ext uri="{FF2B5EF4-FFF2-40B4-BE49-F238E27FC236}">
                <a16:creationId xmlns:a16="http://schemas.microsoft.com/office/drawing/2014/main" id="{2D405950-B433-6C36-F675-1AC2DD5D43E0}"/>
              </a:ext>
            </a:extLst>
          </p:cNvPr>
          <p:cNvSpPr txBox="1"/>
          <p:nvPr/>
        </p:nvSpPr>
        <p:spPr>
          <a:xfrm>
            <a:off x="10668000" y="5840968"/>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⑧</a:t>
            </a:r>
            <a:endParaRPr lang="en-ID" sz="1400" b="1" dirty="0">
              <a:latin typeface="Poppins" panose="00000500000000000000" pitchFamily="2" charset="0"/>
              <a:cs typeface="Poppins" panose="00000500000000000000" pitchFamily="2" charset="0"/>
            </a:endParaRPr>
          </a:p>
        </p:txBody>
      </p:sp>
      <p:sp>
        <p:nvSpPr>
          <p:cNvPr id="32" name="TextBox 31">
            <a:extLst>
              <a:ext uri="{FF2B5EF4-FFF2-40B4-BE49-F238E27FC236}">
                <a16:creationId xmlns:a16="http://schemas.microsoft.com/office/drawing/2014/main" id="{49093F27-BB69-893F-1ABB-081D95435AC1}"/>
              </a:ext>
            </a:extLst>
          </p:cNvPr>
          <p:cNvSpPr txBox="1"/>
          <p:nvPr/>
        </p:nvSpPr>
        <p:spPr>
          <a:xfrm>
            <a:off x="13030200" y="76581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⑤</a:t>
            </a:r>
            <a:endParaRPr lang="en-ID" sz="1400" b="1" dirty="0">
              <a:latin typeface="Poppins" panose="00000500000000000000" pitchFamily="2" charset="0"/>
              <a:cs typeface="Poppins" panose="00000500000000000000" pitchFamily="2" charset="0"/>
            </a:endParaRPr>
          </a:p>
        </p:txBody>
      </p:sp>
      <p:sp>
        <p:nvSpPr>
          <p:cNvPr id="41" name="TextBox 40">
            <a:extLst>
              <a:ext uri="{FF2B5EF4-FFF2-40B4-BE49-F238E27FC236}">
                <a16:creationId xmlns:a16="http://schemas.microsoft.com/office/drawing/2014/main" id="{FA51D769-D163-274E-0690-9C724C744519}"/>
              </a:ext>
            </a:extLst>
          </p:cNvPr>
          <p:cNvSpPr txBox="1"/>
          <p:nvPr/>
        </p:nvSpPr>
        <p:spPr>
          <a:xfrm>
            <a:off x="10668000" y="5524500"/>
            <a:ext cx="457200"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②</a:t>
            </a:r>
          </a:p>
        </p:txBody>
      </p:sp>
      <p:sp>
        <p:nvSpPr>
          <p:cNvPr id="43" name="TextBox 42">
            <a:extLst>
              <a:ext uri="{FF2B5EF4-FFF2-40B4-BE49-F238E27FC236}">
                <a16:creationId xmlns:a16="http://schemas.microsoft.com/office/drawing/2014/main" id="{76C9ABD4-BA83-6E1A-477D-F0EB2069E5D6}"/>
              </a:ext>
            </a:extLst>
          </p:cNvPr>
          <p:cNvSpPr txBox="1"/>
          <p:nvPr/>
        </p:nvSpPr>
        <p:spPr>
          <a:xfrm>
            <a:off x="8973156" y="6286500"/>
            <a:ext cx="399444"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⑦</a:t>
            </a:r>
            <a:endParaRPr lang="en-ID" sz="1600" b="1" dirty="0">
              <a:latin typeface="Poppins" panose="00000500000000000000" pitchFamily="2" charset="0"/>
              <a:cs typeface="Poppins" panose="00000500000000000000" pitchFamily="2" charset="0"/>
            </a:endParaRPr>
          </a:p>
        </p:txBody>
      </p:sp>
      <p:sp>
        <p:nvSpPr>
          <p:cNvPr id="44" name="TextBox 43">
            <a:extLst>
              <a:ext uri="{FF2B5EF4-FFF2-40B4-BE49-F238E27FC236}">
                <a16:creationId xmlns:a16="http://schemas.microsoft.com/office/drawing/2014/main" id="{79576131-1C61-A2AD-93C2-91ABA89CC1DC}"/>
              </a:ext>
            </a:extLst>
          </p:cNvPr>
          <p:cNvSpPr txBox="1"/>
          <p:nvPr/>
        </p:nvSpPr>
        <p:spPr>
          <a:xfrm>
            <a:off x="11868862" y="6679168"/>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⑨</a:t>
            </a:r>
            <a:endParaRPr lang="en-ID" sz="1400" b="1" dirty="0">
              <a:latin typeface="Poppins" panose="00000500000000000000" pitchFamily="2" charset="0"/>
              <a:cs typeface="Poppins" panose="00000500000000000000" pitchFamily="2" charset="0"/>
            </a:endParaRPr>
          </a:p>
        </p:txBody>
      </p:sp>
      <p:cxnSp>
        <p:nvCxnSpPr>
          <p:cNvPr id="47" name="Straight Arrow Connector 46">
            <a:extLst>
              <a:ext uri="{FF2B5EF4-FFF2-40B4-BE49-F238E27FC236}">
                <a16:creationId xmlns:a16="http://schemas.microsoft.com/office/drawing/2014/main" id="{270C804A-0BC9-0302-5DDC-3723E549A7A0}"/>
              </a:ext>
            </a:extLst>
          </p:cNvPr>
          <p:cNvCxnSpPr>
            <a:cxnSpLocks/>
            <a:stCxn id="24" idx="2"/>
            <a:endCxn id="21" idx="0"/>
          </p:cNvCxnSpPr>
          <p:nvPr/>
        </p:nvCxnSpPr>
        <p:spPr>
          <a:xfrm flipH="1">
            <a:off x="10712692" y="5143500"/>
            <a:ext cx="3798" cy="1080837"/>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41A25A1A-853B-87E4-D437-2EAAB0223ECC}"/>
              </a:ext>
            </a:extLst>
          </p:cNvPr>
          <p:cNvSpPr/>
          <p:nvPr/>
        </p:nvSpPr>
        <p:spPr>
          <a:xfrm>
            <a:off x="9601200" y="8169934"/>
            <a:ext cx="2242434" cy="746219"/>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Admin</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55" name="Straight Arrow Connector 154">
            <a:extLst>
              <a:ext uri="{FF2B5EF4-FFF2-40B4-BE49-F238E27FC236}">
                <a16:creationId xmlns:a16="http://schemas.microsoft.com/office/drawing/2014/main" id="{E99F04CF-7619-70D7-E4BD-7A2B7F83D57B}"/>
              </a:ext>
            </a:extLst>
          </p:cNvPr>
          <p:cNvCxnSpPr>
            <a:cxnSpLocks/>
            <a:stCxn id="21" idx="2"/>
            <a:endCxn id="49" idx="0"/>
          </p:cNvCxnSpPr>
          <p:nvPr/>
        </p:nvCxnSpPr>
        <p:spPr>
          <a:xfrm>
            <a:off x="10712692" y="7103065"/>
            <a:ext cx="9725" cy="1066869"/>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D6A7A6C-6DA2-347B-64CE-45998F6CC656}"/>
              </a:ext>
            </a:extLst>
          </p:cNvPr>
          <p:cNvCxnSpPr>
            <a:cxnSpLocks/>
            <a:stCxn id="16" idx="2"/>
            <a:endCxn id="12" idx="0"/>
          </p:cNvCxnSpPr>
          <p:nvPr/>
        </p:nvCxnSpPr>
        <p:spPr>
          <a:xfrm flipH="1">
            <a:off x="13495110" y="7089028"/>
            <a:ext cx="4206" cy="108307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C9EB766-F220-3F30-8E2A-ECE884E2B55D}"/>
              </a:ext>
            </a:extLst>
          </p:cNvPr>
          <p:cNvCxnSpPr>
            <a:cxnSpLocks/>
            <a:stCxn id="186" idx="3"/>
            <a:endCxn id="21" idx="1"/>
          </p:cNvCxnSpPr>
          <p:nvPr/>
        </p:nvCxnSpPr>
        <p:spPr>
          <a:xfrm flipV="1">
            <a:off x="8963934" y="6663701"/>
            <a:ext cx="574250" cy="78"/>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6" name="TextBox 185">
            <a:extLst>
              <a:ext uri="{FF2B5EF4-FFF2-40B4-BE49-F238E27FC236}">
                <a16:creationId xmlns:a16="http://schemas.microsoft.com/office/drawing/2014/main" id="{5C65732C-99AE-F2F1-AFCD-C8CD8A71D64C}"/>
              </a:ext>
            </a:extLst>
          </p:cNvPr>
          <p:cNvSpPr txBox="1"/>
          <p:nvPr/>
        </p:nvSpPr>
        <p:spPr>
          <a:xfrm>
            <a:off x="7806245" y="6463724"/>
            <a:ext cx="1157689" cy="400110"/>
          </a:xfrm>
          <a:prstGeom prst="rect">
            <a:avLst/>
          </a:prstGeom>
          <a:noFill/>
        </p:spPr>
        <p:txBody>
          <a:bodyPr wrap="none" rtlCol="0">
            <a:spAutoFit/>
          </a:bodyPr>
          <a:lstStyle/>
          <a:p>
            <a:r>
              <a:rPr lang="en-US" sz="2000" b="1" dirty="0">
                <a:latin typeface="Poppins" panose="00000500000000000000" pitchFamily="2" charset="0"/>
                <a:cs typeface="Poppins" panose="00000500000000000000" pitchFamily="2" charset="0"/>
              </a:rPr>
              <a:t>OpenAI</a:t>
            </a:r>
            <a:endParaRPr lang="en-ID" sz="2000" b="1" dirty="0">
              <a:latin typeface="Poppins" panose="00000500000000000000" pitchFamily="2" charset="0"/>
              <a:cs typeface="Poppins" panose="00000500000000000000" pitchFamily="2" charset="0"/>
            </a:endParaRPr>
          </a:p>
        </p:txBody>
      </p:sp>
      <p:sp>
        <p:nvSpPr>
          <p:cNvPr id="239" name="TextBox 238">
            <a:extLst>
              <a:ext uri="{FF2B5EF4-FFF2-40B4-BE49-F238E27FC236}">
                <a16:creationId xmlns:a16="http://schemas.microsoft.com/office/drawing/2014/main" id="{17533443-99A5-1764-5425-CBB1A7C438EF}"/>
              </a:ext>
            </a:extLst>
          </p:cNvPr>
          <p:cNvSpPr txBox="1"/>
          <p:nvPr/>
        </p:nvSpPr>
        <p:spPr>
          <a:xfrm>
            <a:off x="13494064" y="7669768"/>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⑩</a:t>
            </a:r>
            <a:endParaRPr lang="en-ID" sz="1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48898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39488-B2DE-5B17-FF69-22B444C19329}"/>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31D27A22-1446-9B5D-ADC1-FAB8919A23C4}"/>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8935EB5F-9A12-EAEA-1A00-05253CA8EFB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7E8B94D-BC08-7323-3F34-0799585F0BB4}"/>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34E6F627-C84B-BB08-6686-F689D05F23BF}"/>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F3C07B44-E79D-9FDF-F4E3-2BFA67B37B28}"/>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A0D8FF27-CB8D-9664-6FAD-2248BA10EEB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E16CF75B-62FB-314F-551E-C08C6EC6C4B7}"/>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402782A3-B7E6-8A07-DA60-E8C7CE1AAEF9}"/>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3)</a:t>
            </a:r>
          </a:p>
        </p:txBody>
      </p:sp>
      <p:sp>
        <p:nvSpPr>
          <p:cNvPr id="35" name="TextBox 35">
            <a:extLst>
              <a:ext uri="{FF2B5EF4-FFF2-40B4-BE49-F238E27FC236}">
                <a16:creationId xmlns:a16="http://schemas.microsoft.com/office/drawing/2014/main" id="{57BDE3A0-500F-DA6B-46A6-8CBAC5DC1DF8}"/>
              </a:ext>
            </a:extLst>
          </p:cNvPr>
          <p:cNvSpPr txBox="1"/>
          <p:nvPr/>
        </p:nvSpPr>
        <p:spPr>
          <a:xfrm>
            <a:off x="1034654" y="2705100"/>
            <a:ext cx="16218692" cy="34111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following picture shows first 20 products along with first 5 elements of their embedding vector.</a:t>
            </a:r>
          </a:p>
        </p:txBody>
      </p:sp>
      <p:sp>
        <p:nvSpPr>
          <p:cNvPr id="38" name="TextBox 3">
            <a:extLst>
              <a:ext uri="{FF2B5EF4-FFF2-40B4-BE49-F238E27FC236}">
                <a16:creationId xmlns:a16="http://schemas.microsoft.com/office/drawing/2014/main" id="{01F49C8F-F790-3905-692A-27C501EC4F9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EE559CE-B690-8B24-502B-3098C1419154}"/>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99E08E44-DA23-F043-56CA-83C77199358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E7E3A327-B5C6-FADA-4ABB-7C2ED68CECC8}"/>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9BEE60FB-C109-A215-9B07-F776C596A04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96FEE8D-9182-842E-7EFC-E0D25798E150}"/>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16</a:t>
              </a:r>
            </a:p>
          </p:txBody>
        </p:sp>
        <p:sp>
          <p:nvSpPr>
            <p:cNvPr id="147" name="AutoShape 20">
              <a:extLst>
                <a:ext uri="{FF2B5EF4-FFF2-40B4-BE49-F238E27FC236}">
                  <a16:creationId xmlns:a16="http://schemas.microsoft.com/office/drawing/2014/main" id="{C5DEB1BD-577D-B0FD-D9C2-8BDF66E2EB63}"/>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3" name="Picture 2">
            <a:extLst>
              <a:ext uri="{FF2B5EF4-FFF2-40B4-BE49-F238E27FC236}">
                <a16:creationId xmlns:a16="http://schemas.microsoft.com/office/drawing/2014/main" id="{E724A9D1-1BE7-13F0-ABA4-EEFFC00931A9}"/>
              </a:ext>
            </a:extLst>
          </p:cNvPr>
          <p:cNvPicPr>
            <a:picLocks noChangeAspect="1"/>
          </p:cNvPicPr>
          <p:nvPr/>
        </p:nvPicPr>
        <p:blipFill>
          <a:blip r:embed="rId3"/>
          <a:stretch>
            <a:fillRect/>
          </a:stretch>
        </p:blipFill>
        <p:spPr>
          <a:xfrm>
            <a:off x="990600" y="3238500"/>
            <a:ext cx="16770323" cy="5915851"/>
          </a:xfrm>
          <a:prstGeom prst="rect">
            <a:avLst/>
          </a:prstGeom>
        </p:spPr>
      </p:pic>
    </p:spTree>
    <p:extLst>
      <p:ext uri="{BB962C8B-B14F-4D97-AF65-F5344CB8AC3E}">
        <p14:creationId xmlns:p14="http://schemas.microsoft.com/office/powerpoint/2010/main" val="40787024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90462-7BDC-6338-658C-D4CC92F62011}"/>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4578C0AD-0D40-D7B7-F94D-53E34AAF4953}"/>
              </a:ext>
            </a:extLst>
          </p:cNvPr>
          <p:cNvPicPr>
            <a:picLocks noChangeAspect="1"/>
          </p:cNvPicPr>
          <p:nvPr/>
        </p:nvPicPr>
        <p:blipFill>
          <a:blip r:embed="rId2"/>
          <a:stretch>
            <a:fillRect/>
          </a:stretch>
        </p:blipFill>
        <p:spPr>
          <a:xfrm>
            <a:off x="990600" y="3554505"/>
            <a:ext cx="12062992" cy="5912854"/>
          </a:xfrm>
          <a:prstGeom prst="rect">
            <a:avLst/>
          </a:prstGeom>
        </p:spPr>
      </p:pic>
      <p:grpSp>
        <p:nvGrpSpPr>
          <p:cNvPr id="5" name="Group 5">
            <a:extLst>
              <a:ext uri="{FF2B5EF4-FFF2-40B4-BE49-F238E27FC236}">
                <a16:creationId xmlns:a16="http://schemas.microsoft.com/office/drawing/2014/main" id="{0CB88DE2-22CC-260F-8AC1-4CB1C5C3D446}"/>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3567DF1C-4C2F-C021-A8CA-0D55885A5DF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F2717C66-BB0F-6316-7279-BA58AA762019}"/>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719603F1-3F33-6A96-EDDF-6BD814FE72A8}"/>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0D2DF070-5E1F-8A40-E1A9-51DF808BEB62}"/>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542D7324-7594-4746-E55E-6CD6E2FCEB6E}"/>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34" name="TextBox 34">
            <a:extLst>
              <a:ext uri="{FF2B5EF4-FFF2-40B4-BE49-F238E27FC236}">
                <a16:creationId xmlns:a16="http://schemas.microsoft.com/office/drawing/2014/main" id="{794C9843-AB3E-0A27-7B04-5853CBF6DB33}"/>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4)</a:t>
            </a:r>
          </a:p>
        </p:txBody>
      </p:sp>
      <p:sp>
        <p:nvSpPr>
          <p:cNvPr id="35" name="TextBox 35">
            <a:extLst>
              <a:ext uri="{FF2B5EF4-FFF2-40B4-BE49-F238E27FC236}">
                <a16:creationId xmlns:a16="http://schemas.microsoft.com/office/drawing/2014/main" id="{56B677C3-4109-4877-62C3-D2D5F37719F3}"/>
              </a:ext>
            </a:extLst>
          </p:cNvPr>
          <p:cNvSpPr txBox="1"/>
          <p:nvPr/>
        </p:nvSpPr>
        <p:spPr>
          <a:xfrm>
            <a:off x="1034654" y="2705100"/>
            <a:ext cx="16218692" cy="70019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following picture shows the OpenAI quota allocation for embedding activities for 7382 successfully embedded products out of 9700 total products.</a:t>
            </a:r>
          </a:p>
        </p:txBody>
      </p:sp>
      <p:sp>
        <p:nvSpPr>
          <p:cNvPr id="38" name="TextBox 3">
            <a:extLst>
              <a:ext uri="{FF2B5EF4-FFF2-40B4-BE49-F238E27FC236}">
                <a16:creationId xmlns:a16="http://schemas.microsoft.com/office/drawing/2014/main" id="{84DBC18D-D88C-6123-7787-D4F9521773C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99F6327C-D7C0-A27D-6675-BF7D3B14017E}"/>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19AF4748-05E5-052A-38CF-D09989536B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840D061D-E4A3-BCE6-78FF-ACA9C03CA991}"/>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655CB7FA-3EC6-2C67-BDF0-073CD1BD5958}"/>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4A5A66B1-11EA-4EAA-11EF-527A6190F7F6}"/>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17</a:t>
              </a:r>
            </a:p>
          </p:txBody>
        </p:sp>
        <p:sp>
          <p:nvSpPr>
            <p:cNvPr id="147" name="AutoShape 20">
              <a:extLst>
                <a:ext uri="{FF2B5EF4-FFF2-40B4-BE49-F238E27FC236}">
                  <a16:creationId xmlns:a16="http://schemas.microsoft.com/office/drawing/2014/main" id="{23A79D8E-78A0-8BA6-0C6F-A0F0E7A9EFD9}"/>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11" name="Freeform: Shape 10">
            <a:extLst>
              <a:ext uri="{FF2B5EF4-FFF2-40B4-BE49-F238E27FC236}">
                <a16:creationId xmlns:a16="http://schemas.microsoft.com/office/drawing/2014/main" id="{9DD300BC-2D12-DCB2-30FF-931E3660C462}"/>
              </a:ext>
            </a:extLst>
          </p:cNvPr>
          <p:cNvSpPr/>
          <p:nvPr/>
        </p:nvSpPr>
        <p:spPr>
          <a:xfrm>
            <a:off x="3855209" y="5250180"/>
            <a:ext cx="2240791" cy="2941320"/>
          </a:xfrm>
          <a:custGeom>
            <a:avLst/>
            <a:gdLst>
              <a:gd name="csX0" fmla="*/ 1249680 w 2240791"/>
              <a:gd name="csY0" fmla="*/ 0 h 2941320"/>
              <a:gd name="csX1" fmla="*/ 868680 w 2240791"/>
              <a:gd name="csY1" fmla="*/ 15240 h 2941320"/>
              <a:gd name="csX2" fmla="*/ 396240 w 2240791"/>
              <a:gd name="csY2" fmla="*/ 213360 h 2941320"/>
              <a:gd name="csX3" fmla="*/ 167640 w 2240791"/>
              <a:gd name="csY3" fmla="*/ 487680 h 2941320"/>
              <a:gd name="csX4" fmla="*/ 60960 w 2240791"/>
              <a:gd name="csY4" fmla="*/ 762000 h 2941320"/>
              <a:gd name="csX5" fmla="*/ 45720 w 2240791"/>
              <a:gd name="csY5" fmla="*/ 944880 h 2941320"/>
              <a:gd name="csX6" fmla="*/ 15240 w 2240791"/>
              <a:gd name="csY6" fmla="*/ 1082040 h 2941320"/>
              <a:gd name="csX7" fmla="*/ 0 w 2240791"/>
              <a:gd name="csY7" fmla="*/ 1371600 h 2941320"/>
              <a:gd name="csX8" fmla="*/ 30480 w 2240791"/>
              <a:gd name="csY8" fmla="*/ 1554480 h 2941320"/>
              <a:gd name="csX9" fmla="*/ 640080 w 2240791"/>
              <a:gd name="csY9" fmla="*/ 2621280 h 2941320"/>
              <a:gd name="csX10" fmla="*/ 777240 w 2240791"/>
              <a:gd name="csY10" fmla="*/ 2743200 h 2941320"/>
              <a:gd name="csX11" fmla="*/ 1082040 w 2240791"/>
              <a:gd name="csY11" fmla="*/ 2910840 h 2941320"/>
              <a:gd name="csX12" fmla="*/ 1280160 w 2240791"/>
              <a:gd name="csY12" fmla="*/ 2941320 h 2941320"/>
              <a:gd name="csX13" fmla="*/ 1508760 w 2240791"/>
              <a:gd name="csY13" fmla="*/ 2926080 h 2941320"/>
              <a:gd name="csX14" fmla="*/ 1905000 w 2240791"/>
              <a:gd name="csY14" fmla="*/ 2621280 h 2941320"/>
              <a:gd name="csX15" fmla="*/ 2225040 w 2240791"/>
              <a:gd name="csY15" fmla="*/ 1996440 h 2941320"/>
              <a:gd name="csX16" fmla="*/ 2194560 w 2240791"/>
              <a:gd name="csY16" fmla="*/ 1325880 h 2941320"/>
              <a:gd name="csX17" fmla="*/ 2057400 w 2240791"/>
              <a:gd name="csY17" fmla="*/ 975360 h 2941320"/>
              <a:gd name="csX18" fmla="*/ 1737360 w 2240791"/>
              <a:gd name="csY18" fmla="*/ 381000 h 2941320"/>
              <a:gd name="csX19" fmla="*/ 1508760 w 2240791"/>
              <a:gd name="csY19" fmla="*/ 121920 h 2941320"/>
              <a:gd name="csX20" fmla="*/ 1417320 w 2240791"/>
              <a:gd name="csY20" fmla="*/ 91440 h 2941320"/>
              <a:gd name="csX21" fmla="*/ 1371600 w 2240791"/>
              <a:gd name="csY21" fmla="*/ 45720 h 2941320"/>
              <a:gd name="csX22" fmla="*/ 1310640 w 2240791"/>
              <a:gd name="csY22" fmla="*/ 30480 h 2941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240791" h="2941320">
                <a:moveTo>
                  <a:pt x="1249680" y="0"/>
                </a:moveTo>
                <a:cubicBezTo>
                  <a:pt x="1122680" y="5080"/>
                  <a:pt x="993969" y="-6151"/>
                  <a:pt x="868680" y="15240"/>
                </a:cubicBezTo>
                <a:cubicBezTo>
                  <a:pt x="768762" y="32299"/>
                  <a:pt x="487818" y="170623"/>
                  <a:pt x="396240" y="213360"/>
                </a:cubicBezTo>
                <a:cubicBezTo>
                  <a:pt x="320040" y="304800"/>
                  <a:pt x="229707" y="386115"/>
                  <a:pt x="167640" y="487680"/>
                </a:cubicBezTo>
                <a:cubicBezTo>
                  <a:pt x="116480" y="571396"/>
                  <a:pt x="60960" y="762000"/>
                  <a:pt x="60960" y="762000"/>
                </a:cubicBezTo>
                <a:cubicBezTo>
                  <a:pt x="55880" y="822960"/>
                  <a:pt x="54371" y="884324"/>
                  <a:pt x="45720" y="944880"/>
                </a:cubicBezTo>
                <a:cubicBezTo>
                  <a:pt x="39096" y="991245"/>
                  <a:pt x="20230" y="1035471"/>
                  <a:pt x="15240" y="1082040"/>
                </a:cubicBezTo>
                <a:cubicBezTo>
                  <a:pt x="4943" y="1178144"/>
                  <a:pt x="5080" y="1275080"/>
                  <a:pt x="0" y="1371600"/>
                </a:cubicBezTo>
                <a:cubicBezTo>
                  <a:pt x="10160" y="1432560"/>
                  <a:pt x="11320" y="1495724"/>
                  <a:pt x="30480" y="1554480"/>
                </a:cubicBezTo>
                <a:cubicBezTo>
                  <a:pt x="166026" y="1970153"/>
                  <a:pt x="295938" y="2315376"/>
                  <a:pt x="640080" y="2621280"/>
                </a:cubicBezTo>
                <a:cubicBezTo>
                  <a:pt x="685800" y="2661920"/>
                  <a:pt x="728954" y="2705644"/>
                  <a:pt x="777240" y="2743200"/>
                </a:cubicBezTo>
                <a:cubicBezTo>
                  <a:pt x="857161" y="2805360"/>
                  <a:pt x="985370" y="2882645"/>
                  <a:pt x="1082040" y="2910840"/>
                </a:cubicBezTo>
                <a:cubicBezTo>
                  <a:pt x="1146184" y="2929549"/>
                  <a:pt x="1214120" y="2931160"/>
                  <a:pt x="1280160" y="2941320"/>
                </a:cubicBezTo>
                <a:cubicBezTo>
                  <a:pt x="1356360" y="2936240"/>
                  <a:pt x="1435141" y="2946389"/>
                  <a:pt x="1508760" y="2926080"/>
                </a:cubicBezTo>
                <a:cubicBezTo>
                  <a:pt x="1686193" y="2877133"/>
                  <a:pt x="1799655" y="2767143"/>
                  <a:pt x="1905000" y="2621280"/>
                </a:cubicBezTo>
                <a:cubicBezTo>
                  <a:pt x="2111847" y="2334876"/>
                  <a:pt x="2110045" y="2292141"/>
                  <a:pt x="2225040" y="1996440"/>
                </a:cubicBezTo>
                <a:cubicBezTo>
                  <a:pt x="2239618" y="1734031"/>
                  <a:pt x="2262445" y="1603078"/>
                  <a:pt x="2194560" y="1325880"/>
                </a:cubicBezTo>
                <a:cubicBezTo>
                  <a:pt x="2164715" y="1204014"/>
                  <a:pt x="2112048" y="1088300"/>
                  <a:pt x="2057400" y="975360"/>
                </a:cubicBezTo>
                <a:cubicBezTo>
                  <a:pt x="1959392" y="772810"/>
                  <a:pt x="1879849" y="555153"/>
                  <a:pt x="1737360" y="381000"/>
                </a:cubicBezTo>
                <a:cubicBezTo>
                  <a:pt x="1716108" y="355026"/>
                  <a:pt x="1565757" y="159918"/>
                  <a:pt x="1508760" y="121920"/>
                </a:cubicBezTo>
                <a:cubicBezTo>
                  <a:pt x="1482027" y="104098"/>
                  <a:pt x="1447800" y="101600"/>
                  <a:pt x="1417320" y="91440"/>
                </a:cubicBezTo>
                <a:cubicBezTo>
                  <a:pt x="1402080" y="76200"/>
                  <a:pt x="1390313" y="56413"/>
                  <a:pt x="1371600" y="45720"/>
                </a:cubicBezTo>
                <a:cubicBezTo>
                  <a:pt x="1353414" y="35328"/>
                  <a:pt x="1310640" y="30480"/>
                  <a:pt x="1310640" y="30480"/>
                </a:cubicBezTo>
              </a:path>
            </a:pathLst>
          </a:custGeom>
          <a:noFill/>
          <a:ln w="508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dirty="0"/>
          </a:p>
        </p:txBody>
      </p:sp>
      <p:pic>
        <p:nvPicPr>
          <p:cNvPr id="13" name="Picture 12">
            <a:extLst>
              <a:ext uri="{FF2B5EF4-FFF2-40B4-BE49-F238E27FC236}">
                <a16:creationId xmlns:a16="http://schemas.microsoft.com/office/drawing/2014/main" id="{221E130C-6F92-3453-988E-1E3DAE938B0E}"/>
              </a:ext>
            </a:extLst>
          </p:cNvPr>
          <p:cNvPicPr>
            <a:picLocks noChangeAspect="1"/>
          </p:cNvPicPr>
          <p:nvPr/>
        </p:nvPicPr>
        <p:blipFill>
          <a:blip r:embed="rId4"/>
          <a:stretch>
            <a:fillRect/>
          </a:stretch>
        </p:blipFill>
        <p:spPr>
          <a:xfrm>
            <a:off x="10287000" y="7267229"/>
            <a:ext cx="7411484" cy="1790950"/>
          </a:xfrm>
          <a:prstGeom prst="rect">
            <a:avLst/>
          </a:prstGeom>
          <a:ln w="38100">
            <a:solidFill>
              <a:schemeClr val="bg1"/>
            </a:solidFill>
          </a:ln>
        </p:spPr>
      </p:pic>
    </p:spTree>
    <p:extLst>
      <p:ext uri="{BB962C8B-B14F-4D97-AF65-F5344CB8AC3E}">
        <p14:creationId xmlns:p14="http://schemas.microsoft.com/office/powerpoint/2010/main" val="3147798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A0DCF-DFEE-08CE-0FC4-5D8350066F75}"/>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2415F2EE-902F-ABA1-28CA-B88AA4F0ACAE}"/>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224BC0B4-72BC-F54B-20F2-8DDD43DAA0AB}"/>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18510BE-A120-E105-DD0B-E6823574EAB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A97C8F44-82CB-C14E-5E2B-D1194C0F9E33}"/>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1CCEEA59-ED41-7E2B-C776-AF78D5F37B6A}"/>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BFCF5718-620C-545E-CDE4-93203580E32A}"/>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34" name="TextBox 34">
            <a:extLst>
              <a:ext uri="{FF2B5EF4-FFF2-40B4-BE49-F238E27FC236}">
                <a16:creationId xmlns:a16="http://schemas.microsoft.com/office/drawing/2014/main" id="{6C7962DD-60DC-3648-175D-EC9A12DF7CE4}"/>
              </a:ext>
            </a:extLst>
          </p:cNvPr>
          <p:cNvSpPr txBox="1"/>
          <p:nvPr/>
        </p:nvSpPr>
        <p:spPr>
          <a:xfrm>
            <a:off x="2961830" y="1638300"/>
            <a:ext cx="12735370"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Deployment in VPS</a:t>
            </a:r>
          </a:p>
        </p:txBody>
      </p:sp>
      <p:sp>
        <p:nvSpPr>
          <p:cNvPr id="35" name="TextBox 35">
            <a:extLst>
              <a:ext uri="{FF2B5EF4-FFF2-40B4-BE49-F238E27FC236}">
                <a16:creationId xmlns:a16="http://schemas.microsoft.com/office/drawing/2014/main" id="{2AA6D9AB-D30B-C326-F1A0-E60C25861300}"/>
              </a:ext>
            </a:extLst>
          </p:cNvPr>
          <p:cNvSpPr txBox="1"/>
          <p:nvPr/>
        </p:nvSpPr>
        <p:spPr>
          <a:xfrm>
            <a:off x="1034654" y="2705100"/>
            <a:ext cx="16218692" cy="70019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All my application stacks are deployed Docker-container-wise to VPS. Since I have a trouble processing my payment in AWS, I cannot proceed the deployment to AWS Elastic Kubernetes Service or AWS Elastic Container Service as I desired. </a:t>
            </a:r>
          </a:p>
        </p:txBody>
      </p:sp>
      <p:sp>
        <p:nvSpPr>
          <p:cNvPr id="38" name="TextBox 3">
            <a:extLst>
              <a:ext uri="{FF2B5EF4-FFF2-40B4-BE49-F238E27FC236}">
                <a16:creationId xmlns:a16="http://schemas.microsoft.com/office/drawing/2014/main" id="{B279909E-ABA9-D7FF-C2F6-D9BF36C158C6}"/>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55C6E551-94B0-D9F2-AE74-7D1DE795A082}"/>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77912DEF-B9AF-9142-9CD3-EE00B2DA969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0EB98B69-A134-5E31-5026-3C583386B7B3}"/>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91902813-FC5B-3874-FB8F-C3596B1FC2A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E9C25732-FCD0-8FB8-E8A5-19113D131CA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18</a:t>
              </a:r>
            </a:p>
          </p:txBody>
        </p:sp>
        <p:sp>
          <p:nvSpPr>
            <p:cNvPr id="147" name="AutoShape 20">
              <a:extLst>
                <a:ext uri="{FF2B5EF4-FFF2-40B4-BE49-F238E27FC236}">
                  <a16:creationId xmlns:a16="http://schemas.microsoft.com/office/drawing/2014/main" id="{0CBD98FE-E0B4-8745-A884-23553607BF3A}"/>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12" name="Picture 11">
            <a:extLst>
              <a:ext uri="{FF2B5EF4-FFF2-40B4-BE49-F238E27FC236}">
                <a16:creationId xmlns:a16="http://schemas.microsoft.com/office/drawing/2014/main" id="{10C7C3EA-6FCD-FE13-F014-11BB8C5565BC}"/>
              </a:ext>
            </a:extLst>
          </p:cNvPr>
          <p:cNvPicPr>
            <a:picLocks noChangeAspect="1"/>
          </p:cNvPicPr>
          <p:nvPr/>
        </p:nvPicPr>
        <p:blipFill>
          <a:blip r:embed="rId3"/>
          <a:stretch>
            <a:fillRect/>
          </a:stretch>
        </p:blipFill>
        <p:spPr>
          <a:xfrm>
            <a:off x="1074246" y="3953274"/>
            <a:ext cx="16179097" cy="4695425"/>
          </a:xfrm>
          <a:prstGeom prst="rect">
            <a:avLst/>
          </a:prstGeom>
        </p:spPr>
      </p:pic>
    </p:spTree>
    <p:extLst>
      <p:ext uri="{BB962C8B-B14F-4D97-AF65-F5344CB8AC3E}">
        <p14:creationId xmlns:p14="http://schemas.microsoft.com/office/powerpoint/2010/main" val="3745826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B8C33CC-EE5B-89C8-85D0-DFD7E1A4E00C}"/>
            </a:ext>
          </a:extLst>
        </p:cNvPr>
        <p:cNvGrpSpPr/>
        <p:nvPr/>
      </p:nvGrpSpPr>
      <p:grpSpPr>
        <a:xfrm>
          <a:off x="0" y="0"/>
          <a:ext cx="0" cy="0"/>
          <a:chOff x="0" y="0"/>
          <a:chExt cx="0" cy="0"/>
        </a:xfrm>
      </p:grpSpPr>
      <p:sp>
        <p:nvSpPr>
          <p:cNvPr id="17" name="Freeform 17">
            <a:extLst>
              <a:ext uri="{FF2B5EF4-FFF2-40B4-BE49-F238E27FC236}">
                <a16:creationId xmlns:a16="http://schemas.microsoft.com/office/drawing/2014/main" id="{18F9C1D0-9E6B-4251-CB90-41D65973C197}"/>
              </a:ext>
            </a:extLst>
          </p:cNvPr>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2">
              <a:duotone>
                <a:schemeClr val="accent1">
                  <a:shade val="45000"/>
                  <a:satMod val="135000"/>
                </a:schemeClr>
                <a:prstClr val="white"/>
              </a:duotone>
              <a:extLst>
                <a:ext uri="{96DAC541-7B7A-43D3-8B79-37D633B846F1}">
                  <asvg:svgBlip xmlns:asvg="http://schemas.microsoft.com/office/drawing/2016/SVG/main" r:embed="rId3"/>
                </a:ext>
              </a:extLst>
            </a:blip>
            <a:stretch>
              <a:fillRect/>
            </a:stretch>
          </a:blipFill>
        </p:spPr>
        <p:txBody>
          <a:bodyPr/>
          <a:lstStyle/>
          <a:p>
            <a:endParaRPr lang="en-ID" dirty="0"/>
          </a:p>
        </p:txBody>
      </p:sp>
      <p:grpSp>
        <p:nvGrpSpPr>
          <p:cNvPr id="9" name="Group 9">
            <a:extLst>
              <a:ext uri="{FF2B5EF4-FFF2-40B4-BE49-F238E27FC236}">
                <a16:creationId xmlns:a16="http://schemas.microsoft.com/office/drawing/2014/main" id="{9B932885-1122-78A5-C64B-D94FA7DFDEA7}"/>
              </a:ext>
            </a:extLst>
          </p:cNvPr>
          <p:cNvGrpSpPr/>
          <p:nvPr/>
        </p:nvGrpSpPr>
        <p:grpSpPr>
          <a:xfrm>
            <a:off x="7470309" y="3432372"/>
            <a:ext cx="63671" cy="3422255"/>
            <a:chOff x="0" y="0"/>
            <a:chExt cx="16769" cy="901335"/>
          </a:xfrm>
        </p:grpSpPr>
        <p:sp>
          <p:nvSpPr>
            <p:cNvPr id="10" name="Freeform 10">
              <a:extLst>
                <a:ext uri="{FF2B5EF4-FFF2-40B4-BE49-F238E27FC236}">
                  <a16:creationId xmlns:a16="http://schemas.microsoft.com/office/drawing/2014/main" id="{0CD656AC-5F8F-CB5A-2B8B-1E73774B2DFF}"/>
                </a:ext>
              </a:extLst>
            </p:cNvPr>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a:extLst>
                <a:ext uri="{FF2B5EF4-FFF2-40B4-BE49-F238E27FC236}">
                  <a16:creationId xmlns:a16="http://schemas.microsoft.com/office/drawing/2014/main" id="{9A00830E-2655-07D8-695B-0424A071D92E}"/>
                </a:ext>
              </a:extLst>
            </p:cNvPr>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a:extLst>
              <a:ext uri="{FF2B5EF4-FFF2-40B4-BE49-F238E27FC236}">
                <a16:creationId xmlns:a16="http://schemas.microsoft.com/office/drawing/2014/main" id="{DF4FCD18-5844-F521-42E4-8F924421CC06}"/>
              </a:ext>
            </a:extLst>
          </p:cNvPr>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3" name="Freeform 13">
            <a:extLst>
              <a:ext uri="{FF2B5EF4-FFF2-40B4-BE49-F238E27FC236}">
                <a16:creationId xmlns:a16="http://schemas.microsoft.com/office/drawing/2014/main" id="{E120C1BF-6E2C-BEE9-EE2F-E15ABFADA972}"/>
              </a:ext>
            </a:extLst>
          </p:cNvPr>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4" name="Freeform 14">
            <a:extLst>
              <a:ext uri="{FF2B5EF4-FFF2-40B4-BE49-F238E27FC236}">
                <a16:creationId xmlns:a16="http://schemas.microsoft.com/office/drawing/2014/main" id="{FF7A9485-2C28-1EC2-3733-0836C0C08111}"/>
              </a:ext>
            </a:extLst>
          </p:cNvPr>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2">
              <a:duotone>
                <a:prstClr val="black"/>
                <a:schemeClr val="accent1">
                  <a:tint val="45000"/>
                  <a:satMod val="400000"/>
                </a:schemeClr>
              </a:duotone>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5" name="TextBox 15">
            <a:extLst>
              <a:ext uri="{FF2B5EF4-FFF2-40B4-BE49-F238E27FC236}">
                <a16:creationId xmlns:a16="http://schemas.microsoft.com/office/drawing/2014/main" id="{60666EDA-A160-6C28-75BC-2D94277ACCDD}"/>
              </a:ext>
            </a:extLst>
          </p:cNvPr>
          <p:cNvSpPr txBox="1"/>
          <p:nvPr/>
        </p:nvSpPr>
        <p:spPr>
          <a:xfrm>
            <a:off x="1828447" y="4699635"/>
            <a:ext cx="5485491" cy="1733488"/>
          </a:xfrm>
          <a:prstGeom prst="rect">
            <a:avLst/>
          </a:prstGeom>
        </p:spPr>
        <p:txBody>
          <a:bodyPr lIns="0" tIns="0" rIns="0" bIns="0" rtlCol="0" anchor="t">
            <a:spAutoFit/>
          </a:bodyPr>
          <a:lstStyle/>
          <a:p>
            <a:pPr algn="ctr">
              <a:lnSpc>
                <a:spcPts val="6660"/>
              </a:lnSpc>
            </a:pPr>
            <a:r>
              <a:rPr lang="en-US" sz="6000" b="1" dirty="0">
                <a:latin typeface="Coco Gothic Heavy"/>
                <a:ea typeface="Coco Gothic Heavy"/>
                <a:cs typeface="Coco Gothic Heavy"/>
                <a:sym typeface="Coco Gothic Heavy"/>
              </a:rPr>
              <a:t>Security Concern</a:t>
            </a:r>
          </a:p>
        </p:txBody>
      </p:sp>
      <p:sp>
        <p:nvSpPr>
          <p:cNvPr id="16" name="TextBox 16">
            <a:extLst>
              <a:ext uri="{FF2B5EF4-FFF2-40B4-BE49-F238E27FC236}">
                <a16:creationId xmlns:a16="http://schemas.microsoft.com/office/drawing/2014/main" id="{ABC3215E-07AA-BF55-83E3-BDBCFDDF4AE9}"/>
              </a:ext>
            </a:extLst>
          </p:cNvPr>
          <p:cNvSpPr txBox="1"/>
          <p:nvPr/>
        </p:nvSpPr>
        <p:spPr>
          <a:xfrm>
            <a:off x="8164249" y="571500"/>
            <a:ext cx="7894928" cy="9028113"/>
          </a:xfrm>
          <a:prstGeom prst="rect">
            <a:avLst/>
          </a:prstGeom>
        </p:spPr>
        <p:txBody>
          <a:bodyPr lIns="0" tIns="0" rIns="0" bIns="0" rtlCol="0" anchor="t">
            <a:spAutoFit/>
          </a:bodyPr>
          <a:lstStyle/>
          <a:p>
            <a:pPr algn="just">
              <a:lnSpc>
                <a:spcPts val="2800"/>
              </a:lnSpc>
            </a:pPr>
            <a:r>
              <a:rPr lang="en-US" sz="2000" dirty="0">
                <a:latin typeface="Poppins"/>
                <a:ea typeface="Poppins"/>
                <a:cs typeface="Poppins"/>
                <a:sym typeface="Poppins"/>
              </a:rPr>
              <a:t>Here I will explain the reasons of why my Application is safe.</a:t>
            </a:r>
          </a:p>
          <a:p>
            <a:pPr algn="just">
              <a:lnSpc>
                <a:spcPts val="2800"/>
              </a:lnSpc>
            </a:pPr>
            <a:endParaRPr lang="en-US" sz="2000" dirty="0">
              <a:latin typeface="Poppins"/>
              <a:ea typeface="Poppins"/>
              <a:cs typeface="Poppins"/>
              <a:sym typeface="Poppins"/>
            </a:endParaRPr>
          </a:p>
          <a:p>
            <a:r>
              <a:rPr lang="en-US" sz="2000" b="1" dirty="0">
                <a:latin typeface="Poppins" panose="00000500000000000000" pitchFamily="2" charset="0"/>
                <a:cs typeface="Poppins" panose="00000500000000000000" pitchFamily="2" charset="0"/>
              </a:rPr>
              <a:t>1. Reduced Attack Surface via Compiled Binaries</a:t>
            </a:r>
          </a:p>
          <a:p>
            <a:r>
              <a:rPr lang="en-US" sz="2000" dirty="0">
                <a:latin typeface="Poppins" panose="00000500000000000000" pitchFamily="2" charset="0"/>
                <a:cs typeface="Poppins" panose="00000500000000000000" pitchFamily="2" charset="0"/>
              </a:rPr>
              <a:t>By using </a:t>
            </a:r>
            <a:r>
              <a:rPr lang="en-US" sz="2000" b="1" dirty="0">
                <a:latin typeface="Poppins" panose="00000500000000000000" pitchFamily="2" charset="0"/>
                <a:cs typeface="Poppins" panose="00000500000000000000" pitchFamily="2" charset="0"/>
              </a:rPr>
              <a:t>Go</a:t>
            </a:r>
            <a:r>
              <a:rPr lang="en-US" sz="2000" dirty="0">
                <a:latin typeface="Poppins" panose="00000500000000000000" pitchFamily="2" charset="0"/>
                <a:cs typeface="Poppins" panose="00000500000000000000" pitchFamily="2" charset="0"/>
              </a:rPr>
              <a:t>, a statically compiled language, the production environment does not require a language interpreter (like Python or Node.js) or source code to be present on the server. This significantly limits the tools available to an attacker, effectively mitigating common scripting engine exploits and making the environment inherently more resilient against unauthorized code execution.</a:t>
            </a:r>
          </a:p>
          <a:p>
            <a:endParaRPr lang="en-US" sz="2000" dirty="0">
              <a:latin typeface="Poppins" panose="00000500000000000000" pitchFamily="2" charset="0"/>
              <a:cs typeface="Poppins" panose="00000500000000000000" pitchFamily="2" charset="0"/>
            </a:endParaRPr>
          </a:p>
          <a:p>
            <a:r>
              <a:rPr lang="en-US" sz="2000" b="1" dirty="0">
                <a:latin typeface="Poppins" panose="00000500000000000000" pitchFamily="2" charset="0"/>
                <a:cs typeface="Poppins" panose="00000500000000000000" pitchFamily="2" charset="0"/>
              </a:rPr>
              <a:t>2. Type-Safe Data Persistence with Ent ORM</a:t>
            </a:r>
          </a:p>
          <a:p>
            <a:r>
              <a:rPr lang="en-US" sz="2000" b="1" dirty="0">
                <a:latin typeface="Poppins" panose="00000500000000000000" pitchFamily="2" charset="0"/>
                <a:cs typeface="Poppins" panose="00000500000000000000" pitchFamily="2" charset="0"/>
              </a:rPr>
              <a:t>Kratos-Go Microservices</a:t>
            </a:r>
            <a:r>
              <a:rPr lang="en-US" sz="2000" dirty="0">
                <a:latin typeface="Poppins" panose="00000500000000000000" pitchFamily="2" charset="0"/>
                <a:cs typeface="Poppins" panose="00000500000000000000" pitchFamily="2" charset="0"/>
              </a:rPr>
              <a:t> utilize </a:t>
            </a:r>
            <a:r>
              <a:rPr lang="en-US" sz="2000" b="1" dirty="0">
                <a:latin typeface="Poppins" panose="00000500000000000000" pitchFamily="2" charset="0"/>
                <a:cs typeface="Poppins" panose="00000500000000000000" pitchFamily="2" charset="0"/>
              </a:rPr>
              <a:t>Ent ORM</a:t>
            </a:r>
            <a:r>
              <a:rPr lang="en-US" sz="2000" dirty="0">
                <a:latin typeface="Poppins" panose="00000500000000000000" pitchFamily="2" charset="0"/>
                <a:cs typeface="Poppins" panose="00000500000000000000" pitchFamily="2" charset="0"/>
              </a:rPr>
              <a:t>, which enforces strict type-safety and uses </a:t>
            </a:r>
            <a:r>
              <a:rPr lang="en-US" sz="2000" b="1" dirty="0">
                <a:latin typeface="Poppins" panose="00000500000000000000" pitchFamily="2" charset="0"/>
                <a:cs typeface="Poppins" panose="00000500000000000000" pitchFamily="2" charset="0"/>
              </a:rPr>
              <a:t>parameterized queries</a:t>
            </a:r>
            <a:r>
              <a:rPr lang="en-US" sz="2000" dirty="0">
                <a:latin typeface="Poppins" panose="00000500000000000000" pitchFamily="2" charset="0"/>
                <a:cs typeface="Poppins" panose="00000500000000000000" pitchFamily="2" charset="0"/>
              </a:rPr>
              <a:t> for all database interactions. By abstracting the data layer through Meta’s high-performance framework, we programmatically prevent SQL Injection vulnerabilities. This ensures that user input is never executed as command logic at the database level.</a:t>
            </a:r>
          </a:p>
          <a:p>
            <a:endParaRPr lang="en-US" sz="2000" dirty="0">
              <a:latin typeface="Poppins" panose="00000500000000000000" pitchFamily="2" charset="0"/>
              <a:cs typeface="Poppins" panose="00000500000000000000" pitchFamily="2" charset="0"/>
            </a:endParaRPr>
          </a:p>
          <a:p>
            <a:r>
              <a:rPr lang="en-US" sz="2000" b="1" dirty="0">
                <a:latin typeface="Poppins" panose="00000500000000000000" pitchFamily="2" charset="0"/>
                <a:cs typeface="Poppins" panose="00000500000000000000" pitchFamily="2" charset="0"/>
              </a:rPr>
              <a:t>3. Containerized Microservice Isolation</a:t>
            </a:r>
          </a:p>
          <a:p>
            <a:r>
              <a:rPr lang="en-US" sz="2000" dirty="0">
                <a:latin typeface="Poppins" panose="00000500000000000000" pitchFamily="2" charset="0"/>
                <a:cs typeface="Poppins" panose="00000500000000000000" pitchFamily="2" charset="0"/>
              </a:rPr>
              <a:t>The application is deployed using a </a:t>
            </a:r>
            <a:r>
              <a:rPr lang="en-US" sz="2000" b="1" dirty="0">
                <a:latin typeface="Poppins" panose="00000500000000000000" pitchFamily="2" charset="0"/>
                <a:cs typeface="Poppins" panose="00000500000000000000" pitchFamily="2" charset="0"/>
              </a:rPr>
              <a:t>Microservices Architecture</a:t>
            </a:r>
            <a:r>
              <a:rPr lang="en-US" sz="2000" dirty="0">
                <a:latin typeface="Poppins" panose="00000500000000000000" pitchFamily="2" charset="0"/>
                <a:cs typeface="Poppins" panose="00000500000000000000" pitchFamily="2" charset="0"/>
              </a:rPr>
              <a:t> where each component is isolated within its own </a:t>
            </a:r>
            <a:r>
              <a:rPr lang="en-US" sz="2000" b="1" dirty="0">
                <a:latin typeface="Poppins" panose="00000500000000000000" pitchFamily="2" charset="0"/>
                <a:cs typeface="Poppins" panose="00000500000000000000" pitchFamily="2" charset="0"/>
              </a:rPr>
              <a:t>Docker container</a:t>
            </a:r>
            <a:r>
              <a:rPr lang="en-US" sz="2000" dirty="0">
                <a:latin typeface="Poppins" panose="00000500000000000000" pitchFamily="2" charset="0"/>
                <a:cs typeface="Poppins" panose="00000500000000000000" pitchFamily="2" charset="0"/>
              </a:rPr>
              <a:t>. This provides logical sandboxing and namespace isolation. By restricting inter-container communication to specific, encrypted pathways, this containerization strategy minimizes the risk of lateral movement, ensuring that a compromise in one service does not grant immediate access to the entire infrastructure.</a:t>
            </a:r>
          </a:p>
        </p:txBody>
      </p:sp>
      <p:sp>
        <p:nvSpPr>
          <p:cNvPr id="18" name="TextBox 3">
            <a:extLst>
              <a:ext uri="{FF2B5EF4-FFF2-40B4-BE49-F238E27FC236}">
                <a16:creationId xmlns:a16="http://schemas.microsoft.com/office/drawing/2014/main" id="{F60AFD48-1280-B9F9-F83F-AA445F222D90}"/>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9" name="TextBox 4">
            <a:extLst>
              <a:ext uri="{FF2B5EF4-FFF2-40B4-BE49-F238E27FC236}">
                <a16:creationId xmlns:a16="http://schemas.microsoft.com/office/drawing/2014/main" id="{842B1933-CD97-3166-4DC7-444EDC3C3383}"/>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20" name="Picture 19">
            <a:extLst>
              <a:ext uri="{FF2B5EF4-FFF2-40B4-BE49-F238E27FC236}">
                <a16:creationId xmlns:a16="http://schemas.microsoft.com/office/drawing/2014/main" id="{AFA5AA20-54A0-C10C-2A3B-9A5A1379DEF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5" name="Group 17">
            <a:extLst>
              <a:ext uri="{FF2B5EF4-FFF2-40B4-BE49-F238E27FC236}">
                <a16:creationId xmlns:a16="http://schemas.microsoft.com/office/drawing/2014/main" id="{68A73516-E573-6077-FDDD-D407B6C89BB4}"/>
              </a:ext>
            </a:extLst>
          </p:cNvPr>
          <p:cNvGrpSpPr/>
          <p:nvPr/>
        </p:nvGrpSpPr>
        <p:grpSpPr>
          <a:xfrm>
            <a:off x="13335000" y="9253126"/>
            <a:ext cx="3918346" cy="670011"/>
            <a:chOff x="0" y="-66675"/>
            <a:chExt cx="4327267" cy="893347"/>
          </a:xfrm>
        </p:grpSpPr>
        <p:sp>
          <p:nvSpPr>
            <p:cNvPr id="26" name="TextBox 18">
              <a:extLst>
                <a:ext uri="{FF2B5EF4-FFF2-40B4-BE49-F238E27FC236}">
                  <a16:creationId xmlns:a16="http://schemas.microsoft.com/office/drawing/2014/main" id="{5E129F41-8B10-7C7B-C366-2251BD569C91}"/>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27" name="TextBox 19">
              <a:extLst>
                <a:ext uri="{FF2B5EF4-FFF2-40B4-BE49-F238E27FC236}">
                  <a16:creationId xmlns:a16="http://schemas.microsoft.com/office/drawing/2014/main" id="{E3A27D3D-9715-FC4E-CE76-C86CB70D8EED}"/>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19</a:t>
              </a:r>
            </a:p>
          </p:txBody>
        </p:sp>
        <p:sp>
          <p:nvSpPr>
            <p:cNvPr id="28" name="AutoShape 20">
              <a:extLst>
                <a:ext uri="{FF2B5EF4-FFF2-40B4-BE49-F238E27FC236}">
                  <a16:creationId xmlns:a16="http://schemas.microsoft.com/office/drawing/2014/main" id="{88DBA01C-9C36-286F-25C0-0E992A445719}"/>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extLst>
      <p:ext uri="{BB962C8B-B14F-4D97-AF65-F5344CB8AC3E}">
        <p14:creationId xmlns:p14="http://schemas.microsoft.com/office/powerpoint/2010/main" val="33936823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grpSp>
        <p:nvGrpSpPr>
          <p:cNvPr id="9" name="Group 9"/>
          <p:cNvGrpSpPr/>
          <p:nvPr/>
        </p:nvGrpSpPr>
        <p:grpSpPr>
          <a:xfrm>
            <a:off x="7470309" y="3432372"/>
            <a:ext cx="63671" cy="3422255"/>
            <a:chOff x="0" y="0"/>
            <a:chExt cx="16769" cy="901335"/>
          </a:xfrm>
        </p:grpSpPr>
        <p:sp>
          <p:nvSpPr>
            <p:cNvPr id="10" name="Freeform 10"/>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3" name="Freeform 13"/>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4" name="Freeform 14"/>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4">
              <a:duotone>
                <a:prstClr val="black"/>
                <a:schemeClr val="accent1">
                  <a:tint val="45000"/>
                  <a:satMod val="400000"/>
                </a:schemeClr>
              </a:duotone>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5" name="TextBox 15"/>
          <p:cNvSpPr txBox="1"/>
          <p:nvPr/>
        </p:nvSpPr>
        <p:spPr>
          <a:xfrm>
            <a:off x="1828447" y="4699635"/>
            <a:ext cx="5485491" cy="1733488"/>
          </a:xfrm>
          <a:prstGeom prst="rect">
            <a:avLst/>
          </a:prstGeom>
        </p:spPr>
        <p:txBody>
          <a:bodyPr lIns="0" tIns="0" rIns="0" bIns="0" rtlCol="0" anchor="t">
            <a:spAutoFit/>
          </a:bodyPr>
          <a:lstStyle/>
          <a:p>
            <a:pPr algn="ctr">
              <a:lnSpc>
                <a:spcPts val="6660"/>
              </a:lnSpc>
            </a:pPr>
            <a:r>
              <a:rPr lang="en-US" sz="6000" b="1" dirty="0">
                <a:latin typeface="Coco Gothic Heavy"/>
                <a:ea typeface="Coco Gothic Heavy"/>
                <a:cs typeface="Coco Gothic Heavy"/>
                <a:sym typeface="Coco Gothic Heavy"/>
              </a:rPr>
              <a:t>Further Progress</a:t>
            </a:r>
          </a:p>
        </p:txBody>
      </p:sp>
      <p:sp>
        <p:nvSpPr>
          <p:cNvPr id="16" name="TextBox 16"/>
          <p:cNvSpPr txBox="1"/>
          <p:nvPr/>
        </p:nvSpPr>
        <p:spPr>
          <a:xfrm>
            <a:off x="8164249" y="3516313"/>
            <a:ext cx="7894928" cy="3931846"/>
          </a:xfrm>
          <a:prstGeom prst="rect">
            <a:avLst/>
          </a:prstGeom>
        </p:spPr>
        <p:txBody>
          <a:bodyPr lIns="0" tIns="0" rIns="0" bIns="0" rtlCol="0" anchor="t">
            <a:spAutoFit/>
          </a:bodyPr>
          <a:lstStyle/>
          <a:p>
            <a:pPr algn="just">
              <a:lnSpc>
                <a:spcPts val="2800"/>
              </a:lnSpc>
            </a:pPr>
            <a:r>
              <a:rPr lang="en-US" sz="2000" dirty="0">
                <a:latin typeface="Poppins"/>
                <a:ea typeface="Poppins"/>
                <a:cs typeface="Poppins"/>
                <a:sym typeface="Poppins"/>
              </a:rPr>
              <a:t>For the further progress, I realize that Classifier Service is still context-agnostic and just blindly hard-strict-categorize prompt without any semantic understanding, so, in the next version, I am aiming to deploy </a:t>
            </a:r>
            <a:r>
              <a:rPr lang="en-US" sz="2000" b="1" dirty="0">
                <a:latin typeface="Poppins"/>
                <a:ea typeface="Poppins"/>
                <a:cs typeface="Poppins"/>
                <a:sym typeface="Poppins"/>
              </a:rPr>
              <a:t>Context Service</a:t>
            </a:r>
            <a:r>
              <a:rPr lang="en-US" sz="2000" dirty="0">
                <a:latin typeface="Poppins"/>
                <a:ea typeface="Poppins"/>
                <a:cs typeface="Poppins"/>
                <a:sym typeface="Poppins"/>
              </a:rPr>
              <a:t> which is context-aware to the prompt. This new service</a:t>
            </a:r>
            <a:r>
              <a:rPr lang="en-US" sz="2000" b="1" dirty="0">
                <a:latin typeface="Poppins"/>
                <a:ea typeface="Poppins"/>
                <a:cs typeface="Poppins"/>
                <a:sym typeface="Poppins"/>
              </a:rPr>
              <a:t> </a:t>
            </a:r>
            <a:r>
              <a:rPr lang="en-US" sz="2000" dirty="0">
                <a:latin typeface="Poppins"/>
                <a:ea typeface="Poppins"/>
                <a:cs typeface="Poppins"/>
                <a:sym typeface="Poppins"/>
              </a:rPr>
              <a:t>will implement </a:t>
            </a:r>
            <a:r>
              <a:rPr lang="en-US" sz="2000" i="1" dirty="0">
                <a:latin typeface="Poppins"/>
                <a:ea typeface="Poppins"/>
                <a:cs typeface="Poppins"/>
                <a:sym typeface="Poppins"/>
              </a:rPr>
              <a:t>Transformers-Embedding-Transformers</a:t>
            </a:r>
            <a:r>
              <a:rPr lang="en-US" sz="2000" dirty="0">
                <a:latin typeface="Poppins"/>
                <a:ea typeface="Poppins"/>
                <a:cs typeface="Poppins"/>
                <a:sym typeface="Poppins"/>
              </a:rPr>
              <a:t> architecture to properly map user prompt to the exact desired meaning. This approach of-course requires a super big dataset and high quality of computational resources as a trade-of. Currently I don’t have any of that requirements, so it might be takes time to get everything ready.</a:t>
            </a:r>
          </a:p>
        </p:txBody>
      </p:sp>
      <p:sp>
        <p:nvSpPr>
          <p:cNvPr id="17" name="Freeform 17"/>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4">
              <a:duotone>
                <a:schemeClr val="accent1">
                  <a:shade val="45000"/>
                  <a:satMod val="135000"/>
                </a:schemeClr>
                <a:prstClr val="white"/>
              </a:duotone>
              <a:extLst>
                <a:ext uri="{96DAC541-7B7A-43D3-8B79-37D633B846F1}">
                  <asvg:svgBlip xmlns:asvg="http://schemas.microsoft.com/office/drawing/2016/SVG/main" r:embed="rId5"/>
                </a:ext>
              </a:extLst>
            </a:blip>
            <a:stretch>
              <a:fillRect/>
            </a:stretch>
          </a:blipFill>
        </p:spPr>
        <p:txBody>
          <a:bodyPr/>
          <a:lstStyle/>
          <a:p>
            <a:endParaRPr lang="en-ID" dirty="0"/>
          </a:p>
        </p:txBody>
      </p:sp>
      <p:sp>
        <p:nvSpPr>
          <p:cNvPr id="18" name="TextBox 3">
            <a:extLst>
              <a:ext uri="{FF2B5EF4-FFF2-40B4-BE49-F238E27FC236}">
                <a16:creationId xmlns:a16="http://schemas.microsoft.com/office/drawing/2014/main" id="{2B0270F3-5296-BD09-A3D2-BFB32D1A4C68}"/>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9" name="TextBox 4">
            <a:extLst>
              <a:ext uri="{FF2B5EF4-FFF2-40B4-BE49-F238E27FC236}">
                <a16:creationId xmlns:a16="http://schemas.microsoft.com/office/drawing/2014/main" id="{F3B30931-8D0A-BCFC-E7D3-40DA62D9F87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20" name="Picture 19">
            <a:extLst>
              <a:ext uri="{FF2B5EF4-FFF2-40B4-BE49-F238E27FC236}">
                <a16:creationId xmlns:a16="http://schemas.microsoft.com/office/drawing/2014/main" id="{CA6A5C74-D7EE-009B-E7BC-7C7AE2339A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5" name="Group 17">
            <a:extLst>
              <a:ext uri="{FF2B5EF4-FFF2-40B4-BE49-F238E27FC236}">
                <a16:creationId xmlns:a16="http://schemas.microsoft.com/office/drawing/2014/main" id="{0AE9E9F3-060E-C665-D34F-20B0CD1E31D6}"/>
              </a:ext>
            </a:extLst>
          </p:cNvPr>
          <p:cNvGrpSpPr/>
          <p:nvPr/>
        </p:nvGrpSpPr>
        <p:grpSpPr>
          <a:xfrm>
            <a:off x="13335000" y="9253126"/>
            <a:ext cx="3918346" cy="670011"/>
            <a:chOff x="0" y="-66675"/>
            <a:chExt cx="4327267" cy="893347"/>
          </a:xfrm>
        </p:grpSpPr>
        <p:sp>
          <p:nvSpPr>
            <p:cNvPr id="26" name="TextBox 18">
              <a:extLst>
                <a:ext uri="{FF2B5EF4-FFF2-40B4-BE49-F238E27FC236}">
                  <a16:creationId xmlns:a16="http://schemas.microsoft.com/office/drawing/2014/main" id="{5080063C-1D14-298E-669B-618E2509075A}"/>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27" name="TextBox 19">
              <a:extLst>
                <a:ext uri="{FF2B5EF4-FFF2-40B4-BE49-F238E27FC236}">
                  <a16:creationId xmlns:a16="http://schemas.microsoft.com/office/drawing/2014/main" id="{10223FE2-C455-D7E0-1169-9614548AE5D6}"/>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20</a:t>
              </a:r>
            </a:p>
          </p:txBody>
        </p:sp>
        <p:sp>
          <p:nvSpPr>
            <p:cNvPr id="28" name="AutoShape 20">
              <a:extLst>
                <a:ext uri="{FF2B5EF4-FFF2-40B4-BE49-F238E27FC236}">
                  <a16:creationId xmlns:a16="http://schemas.microsoft.com/office/drawing/2014/main" id="{74C86D43-316E-2920-6F79-0093FB373B11}"/>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04F8597-B8D5-F587-CF63-9BBA02E1FEE4}"/>
            </a:ext>
          </a:extLst>
        </p:cNvPr>
        <p:cNvGrpSpPr/>
        <p:nvPr/>
      </p:nvGrpSpPr>
      <p:grpSpPr>
        <a:xfrm>
          <a:off x="0" y="0"/>
          <a:ext cx="0" cy="0"/>
          <a:chOff x="0" y="0"/>
          <a:chExt cx="0" cy="0"/>
        </a:xfrm>
      </p:grpSpPr>
      <p:grpSp>
        <p:nvGrpSpPr>
          <p:cNvPr id="9" name="Group 9">
            <a:extLst>
              <a:ext uri="{FF2B5EF4-FFF2-40B4-BE49-F238E27FC236}">
                <a16:creationId xmlns:a16="http://schemas.microsoft.com/office/drawing/2014/main" id="{D67BD128-A5B3-8806-9C53-010092F73098}"/>
              </a:ext>
            </a:extLst>
          </p:cNvPr>
          <p:cNvGrpSpPr/>
          <p:nvPr/>
        </p:nvGrpSpPr>
        <p:grpSpPr>
          <a:xfrm>
            <a:off x="7470309" y="3432372"/>
            <a:ext cx="63671" cy="3422255"/>
            <a:chOff x="0" y="0"/>
            <a:chExt cx="16769" cy="901335"/>
          </a:xfrm>
        </p:grpSpPr>
        <p:sp>
          <p:nvSpPr>
            <p:cNvPr id="10" name="Freeform 10">
              <a:extLst>
                <a:ext uri="{FF2B5EF4-FFF2-40B4-BE49-F238E27FC236}">
                  <a16:creationId xmlns:a16="http://schemas.microsoft.com/office/drawing/2014/main" id="{37EBC445-B775-8E07-F6C9-4BDE96CDCAE9}"/>
                </a:ext>
              </a:extLst>
            </p:cNvPr>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a:extLst>
                <a:ext uri="{FF2B5EF4-FFF2-40B4-BE49-F238E27FC236}">
                  <a16:creationId xmlns:a16="http://schemas.microsoft.com/office/drawing/2014/main" id="{C07C6DDB-7616-46F6-1151-26DF5F422FB8}"/>
                </a:ext>
              </a:extLst>
            </p:cNvPr>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a:extLst>
              <a:ext uri="{FF2B5EF4-FFF2-40B4-BE49-F238E27FC236}">
                <a16:creationId xmlns:a16="http://schemas.microsoft.com/office/drawing/2014/main" id="{9DA113F2-8BF7-971B-217D-86FAE75195CF}"/>
              </a:ext>
            </a:extLst>
          </p:cNvPr>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3" name="Freeform 13">
            <a:extLst>
              <a:ext uri="{FF2B5EF4-FFF2-40B4-BE49-F238E27FC236}">
                <a16:creationId xmlns:a16="http://schemas.microsoft.com/office/drawing/2014/main" id="{1DB0EB03-5DE5-E4D1-16DD-CCBEA7900F35}"/>
              </a:ext>
            </a:extLst>
          </p:cNvPr>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4" name="Freeform 14">
            <a:extLst>
              <a:ext uri="{FF2B5EF4-FFF2-40B4-BE49-F238E27FC236}">
                <a16:creationId xmlns:a16="http://schemas.microsoft.com/office/drawing/2014/main" id="{D98D5AED-F503-A4B7-A23E-3B950B07A373}"/>
              </a:ext>
            </a:extLst>
          </p:cNvPr>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4">
              <a:duotone>
                <a:prstClr val="black"/>
                <a:schemeClr val="accent1">
                  <a:tint val="45000"/>
                  <a:satMod val="400000"/>
                </a:schemeClr>
              </a:duotone>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5" name="TextBox 15">
            <a:extLst>
              <a:ext uri="{FF2B5EF4-FFF2-40B4-BE49-F238E27FC236}">
                <a16:creationId xmlns:a16="http://schemas.microsoft.com/office/drawing/2014/main" id="{3979171B-F05E-429F-EF52-BEDB38A738A5}"/>
              </a:ext>
            </a:extLst>
          </p:cNvPr>
          <p:cNvSpPr txBox="1"/>
          <p:nvPr/>
        </p:nvSpPr>
        <p:spPr>
          <a:xfrm>
            <a:off x="1828447" y="4699635"/>
            <a:ext cx="5485491" cy="2592697"/>
          </a:xfrm>
          <a:prstGeom prst="rect">
            <a:avLst/>
          </a:prstGeom>
        </p:spPr>
        <p:txBody>
          <a:bodyPr lIns="0" tIns="0" rIns="0" bIns="0" rtlCol="0" anchor="t">
            <a:spAutoFit/>
          </a:bodyPr>
          <a:lstStyle/>
          <a:p>
            <a:pPr algn="ctr">
              <a:lnSpc>
                <a:spcPts val="6660"/>
              </a:lnSpc>
            </a:pPr>
            <a:r>
              <a:rPr lang="en-US" sz="6000" b="1" dirty="0">
                <a:latin typeface="Coco Gothic Heavy"/>
                <a:ea typeface="Coco Gothic Heavy"/>
                <a:cs typeface="Coco Gothic Heavy"/>
                <a:sym typeface="Coco Gothic Heavy"/>
              </a:rPr>
              <a:t>Why you should hire me</a:t>
            </a:r>
          </a:p>
        </p:txBody>
      </p:sp>
      <p:sp>
        <p:nvSpPr>
          <p:cNvPr id="16" name="TextBox 16">
            <a:extLst>
              <a:ext uri="{FF2B5EF4-FFF2-40B4-BE49-F238E27FC236}">
                <a16:creationId xmlns:a16="http://schemas.microsoft.com/office/drawing/2014/main" id="{03A70665-10D9-FE2D-734E-6703381E5366}"/>
              </a:ext>
            </a:extLst>
          </p:cNvPr>
          <p:cNvSpPr txBox="1"/>
          <p:nvPr/>
        </p:nvSpPr>
        <p:spPr>
          <a:xfrm>
            <a:off x="8164249" y="3516313"/>
            <a:ext cx="7894928" cy="3572773"/>
          </a:xfrm>
          <a:prstGeom prst="rect">
            <a:avLst/>
          </a:prstGeom>
        </p:spPr>
        <p:txBody>
          <a:bodyPr lIns="0" tIns="0" rIns="0" bIns="0" rtlCol="0" anchor="t">
            <a:spAutoFit/>
          </a:bodyPr>
          <a:lstStyle/>
          <a:p>
            <a:pPr algn="just">
              <a:lnSpc>
                <a:spcPts val="2800"/>
              </a:lnSpc>
            </a:pPr>
            <a:r>
              <a:rPr lang="en-US" sz="2000" dirty="0">
                <a:latin typeface="Poppins"/>
                <a:ea typeface="Poppins"/>
                <a:cs typeface="Poppins"/>
                <a:sym typeface="Poppins"/>
              </a:rPr>
              <a:t>There are a lot of Fullstack Engineers in Indonesia and maybe a lot of them are in a better skills, but I guarantee that I am the one with the fastest skill development progress among all of them. And also, as you know, most of Fullstack Engineers do not fluent in the AI implementation, they maybe barely know how to make machine learning service and incorporate it into Microservices App. You can give me the opportunity to be the Cofounding Fullstack Engineer Intern for your company, I will show you how eligible I am for Cofounding Fullstack Engineer position.</a:t>
            </a:r>
          </a:p>
        </p:txBody>
      </p:sp>
      <p:sp>
        <p:nvSpPr>
          <p:cNvPr id="17" name="Freeform 17">
            <a:extLst>
              <a:ext uri="{FF2B5EF4-FFF2-40B4-BE49-F238E27FC236}">
                <a16:creationId xmlns:a16="http://schemas.microsoft.com/office/drawing/2014/main" id="{A9CE591B-0A59-7290-F9DE-7547A745F4C8}"/>
              </a:ext>
            </a:extLst>
          </p:cNvPr>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4">
              <a:duotone>
                <a:schemeClr val="accent1">
                  <a:shade val="45000"/>
                  <a:satMod val="135000"/>
                </a:schemeClr>
                <a:prstClr val="white"/>
              </a:duotone>
              <a:extLst>
                <a:ext uri="{96DAC541-7B7A-43D3-8B79-37D633B846F1}">
                  <asvg:svgBlip xmlns:asvg="http://schemas.microsoft.com/office/drawing/2016/SVG/main" r:embed="rId5"/>
                </a:ext>
              </a:extLst>
            </a:blip>
            <a:stretch>
              <a:fillRect/>
            </a:stretch>
          </a:blipFill>
        </p:spPr>
        <p:txBody>
          <a:bodyPr/>
          <a:lstStyle/>
          <a:p>
            <a:endParaRPr lang="en-ID" dirty="0"/>
          </a:p>
        </p:txBody>
      </p:sp>
      <p:sp>
        <p:nvSpPr>
          <p:cNvPr id="18" name="TextBox 3">
            <a:extLst>
              <a:ext uri="{FF2B5EF4-FFF2-40B4-BE49-F238E27FC236}">
                <a16:creationId xmlns:a16="http://schemas.microsoft.com/office/drawing/2014/main" id="{BBF7C67D-F9A3-D258-4B94-935E91A01C7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9" name="TextBox 4">
            <a:extLst>
              <a:ext uri="{FF2B5EF4-FFF2-40B4-BE49-F238E27FC236}">
                <a16:creationId xmlns:a16="http://schemas.microsoft.com/office/drawing/2014/main" id="{CEB59037-E571-4614-C14D-F62CCDBE13F7}"/>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20" name="Picture 19">
            <a:extLst>
              <a:ext uri="{FF2B5EF4-FFF2-40B4-BE49-F238E27FC236}">
                <a16:creationId xmlns:a16="http://schemas.microsoft.com/office/drawing/2014/main" id="{3A7ABEBC-7A51-1472-63F8-6D37C9DCF74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5" name="Group 17">
            <a:extLst>
              <a:ext uri="{FF2B5EF4-FFF2-40B4-BE49-F238E27FC236}">
                <a16:creationId xmlns:a16="http://schemas.microsoft.com/office/drawing/2014/main" id="{16E5BFF1-322D-4FBF-F2B9-DB6354E09CC9}"/>
              </a:ext>
            </a:extLst>
          </p:cNvPr>
          <p:cNvGrpSpPr/>
          <p:nvPr/>
        </p:nvGrpSpPr>
        <p:grpSpPr>
          <a:xfrm>
            <a:off x="13335000" y="9253126"/>
            <a:ext cx="3918346" cy="670011"/>
            <a:chOff x="0" y="-66675"/>
            <a:chExt cx="4327267" cy="893347"/>
          </a:xfrm>
        </p:grpSpPr>
        <p:sp>
          <p:nvSpPr>
            <p:cNvPr id="26" name="TextBox 18">
              <a:extLst>
                <a:ext uri="{FF2B5EF4-FFF2-40B4-BE49-F238E27FC236}">
                  <a16:creationId xmlns:a16="http://schemas.microsoft.com/office/drawing/2014/main" id="{8090FE41-F24A-9FF9-6678-0181299A1A43}"/>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27" name="TextBox 19">
              <a:extLst>
                <a:ext uri="{FF2B5EF4-FFF2-40B4-BE49-F238E27FC236}">
                  <a16:creationId xmlns:a16="http://schemas.microsoft.com/office/drawing/2014/main" id="{8438B72C-EE94-CBBB-3BA6-CEE68AD0E037}"/>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21</a:t>
              </a:r>
            </a:p>
          </p:txBody>
        </p:sp>
        <p:sp>
          <p:nvSpPr>
            <p:cNvPr id="28" name="AutoShape 20">
              <a:extLst>
                <a:ext uri="{FF2B5EF4-FFF2-40B4-BE49-F238E27FC236}">
                  <a16:creationId xmlns:a16="http://schemas.microsoft.com/office/drawing/2014/main" id="{831CCD2C-C106-55F1-A52F-CADDEA4DA5D8}"/>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extLst>
      <p:ext uri="{BB962C8B-B14F-4D97-AF65-F5344CB8AC3E}">
        <p14:creationId xmlns:p14="http://schemas.microsoft.com/office/powerpoint/2010/main" val="20098430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8908" y="-529800"/>
            <a:ext cx="19685815" cy="891492"/>
            <a:chOff x="0" y="0"/>
            <a:chExt cx="5184741" cy="234796"/>
          </a:xfrm>
        </p:grpSpPr>
        <p:sp>
          <p:nvSpPr>
            <p:cNvPr id="4" name="Freeform 4"/>
            <p:cNvSpPr/>
            <p:nvPr/>
          </p:nvSpPr>
          <p:spPr>
            <a:xfrm>
              <a:off x="0" y="0"/>
              <a:ext cx="5184742" cy="234796"/>
            </a:xfrm>
            <a:custGeom>
              <a:avLst/>
              <a:gdLst/>
              <a:ahLst/>
              <a:cxnLst/>
              <a:rect l="l" t="t" r="r" b="b"/>
              <a:pathLst>
                <a:path w="5184742" h="234796">
                  <a:moveTo>
                    <a:pt x="0" y="0"/>
                  </a:moveTo>
                  <a:lnTo>
                    <a:pt x="5184742" y="0"/>
                  </a:lnTo>
                  <a:lnTo>
                    <a:pt x="5184742" y="234796"/>
                  </a:lnTo>
                  <a:lnTo>
                    <a:pt x="0" y="234796"/>
                  </a:lnTo>
                  <a:close/>
                </a:path>
              </a:pathLst>
            </a:custGeom>
            <a:solidFill>
              <a:schemeClr val="tx2">
                <a:lumMod val="20000"/>
                <a:lumOff val="80000"/>
              </a:schemeClr>
            </a:solidFill>
          </p:spPr>
          <p:txBody>
            <a:bodyPr/>
            <a:lstStyle/>
            <a:p>
              <a:endParaRPr lang="en-ID" dirty="0"/>
            </a:p>
          </p:txBody>
        </p:sp>
        <p:sp>
          <p:nvSpPr>
            <p:cNvPr id="5" name="TextBox 5"/>
            <p:cNvSpPr txBox="1"/>
            <p:nvPr/>
          </p:nvSpPr>
          <p:spPr>
            <a:xfrm>
              <a:off x="0" y="-57150"/>
              <a:ext cx="5184741" cy="291946"/>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580740" y="2059406"/>
            <a:ext cx="2495412" cy="2495412"/>
          </a:xfrm>
          <a:custGeom>
            <a:avLst/>
            <a:gdLst/>
            <a:ahLst/>
            <a:cxnLst/>
            <a:rect l="l" t="t" r="r" b="b"/>
            <a:pathLst>
              <a:path w="2495412" h="2495412">
                <a:moveTo>
                  <a:pt x="0" y="0"/>
                </a:moveTo>
                <a:lnTo>
                  <a:pt x="2495413" y="0"/>
                </a:lnTo>
                <a:lnTo>
                  <a:pt x="2495413" y="2495413"/>
                </a:lnTo>
                <a:lnTo>
                  <a:pt x="0" y="2495413"/>
                </a:lnTo>
                <a:lnTo>
                  <a:pt x="0" y="0"/>
                </a:lnTo>
                <a:close/>
              </a:path>
            </a:pathLst>
          </a:custGeom>
          <a:blipFill>
            <a:blip r:embed="rId2">
              <a:duotone>
                <a:prstClr val="black"/>
                <a:schemeClr val="accent1">
                  <a:tint val="45000"/>
                  <a:satMod val="400000"/>
                </a:schemeClr>
              </a:duotone>
              <a:extLst>
                <a:ext uri="{96DAC541-7B7A-43D3-8B79-37D633B846F1}">
                  <asvg:svgBlip xmlns:asvg="http://schemas.microsoft.com/office/drawing/2016/SVG/main" r:embed="rId3"/>
                </a:ext>
              </a:extLst>
            </a:blip>
            <a:stretch>
              <a:fillRect/>
            </a:stretch>
          </a:blipFill>
          <a:effectLst>
            <a:outerShdw blurRad="50800" dist="50800" dir="5400000" algn="ctr" rotWithShape="0">
              <a:schemeClr val="tx2">
                <a:lumMod val="20000"/>
                <a:lumOff val="80000"/>
              </a:schemeClr>
            </a:outerShdw>
          </a:effectLst>
        </p:spPr>
        <p:txBody>
          <a:bodyPr/>
          <a:lstStyle/>
          <a:p>
            <a:endParaRPr lang="en-ID" dirty="0"/>
          </a:p>
        </p:txBody>
      </p:sp>
      <p:sp>
        <p:nvSpPr>
          <p:cNvPr id="13" name="TextBox 13"/>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METODE SATU</a:t>
            </a:r>
          </a:p>
        </p:txBody>
      </p:sp>
      <p:grpSp>
        <p:nvGrpSpPr>
          <p:cNvPr id="24" name="Group 24"/>
          <p:cNvGrpSpPr/>
          <p:nvPr/>
        </p:nvGrpSpPr>
        <p:grpSpPr>
          <a:xfrm>
            <a:off x="-772763" y="9900504"/>
            <a:ext cx="19685815" cy="805596"/>
            <a:chOff x="0" y="0"/>
            <a:chExt cx="5184741" cy="212174"/>
          </a:xfrm>
        </p:grpSpPr>
        <p:sp>
          <p:nvSpPr>
            <p:cNvPr id="25" name="Freeform 25"/>
            <p:cNvSpPr/>
            <p:nvPr/>
          </p:nvSpPr>
          <p:spPr>
            <a:xfrm>
              <a:off x="0" y="0"/>
              <a:ext cx="5184742" cy="212174"/>
            </a:xfrm>
            <a:custGeom>
              <a:avLst/>
              <a:gdLst/>
              <a:ahLst/>
              <a:cxnLst/>
              <a:rect l="l" t="t" r="r" b="b"/>
              <a:pathLst>
                <a:path w="5184742" h="212174">
                  <a:moveTo>
                    <a:pt x="0" y="0"/>
                  </a:moveTo>
                  <a:lnTo>
                    <a:pt x="5184742" y="0"/>
                  </a:lnTo>
                  <a:lnTo>
                    <a:pt x="5184742" y="212174"/>
                  </a:lnTo>
                  <a:lnTo>
                    <a:pt x="0" y="212174"/>
                  </a:lnTo>
                  <a:close/>
                </a:path>
              </a:pathLst>
            </a:custGeom>
            <a:solidFill>
              <a:schemeClr val="tx2">
                <a:lumMod val="40000"/>
                <a:lumOff val="60000"/>
              </a:schemeClr>
            </a:solidFill>
          </p:spPr>
          <p:txBody>
            <a:bodyPr/>
            <a:lstStyle/>
            <a:p>
              <a:endParaRPr lang="en-ID" dirty="0"/>
            </a:p>
          </p:txBody>
        </p:sp>
        <p:sp>
          <p:nvSpPr>
            <p:cNvPr id="26" name="TextBox 26"/>
            <p:cNvSpPr txBox="1"/>
            <p:nvPr/>
          </p:nvSpPr>
          <p:spPr>
            <a:xfrm>
              <a:off x="0" y="-57150"/>
              <a:ext cx="5184741" cy="269324"/>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29"/>
          <p:cNvSpPr txBox="1"/>
          <p:nvPr/>
        </p:nvSpPr>
        <p:spPr>
          <a:xfrm>
            <a:off x="2531067" y="1350645"/>
            <a:ext cx="13078155" cy="897255"/>
          </a:xfrm>
          <a:prstGeom prst="rect">
            <a:avLst/>
          </a:prstGeom>
        </p:spPr>
        <p:txBody>
          <a:bodyPr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Links</a:t>
            </a:r>
          </a:p>
        </p:txBody>
      </p:sp>
      <p:grpSp>
        <p:nvGrpSpPr>
          <p:cNvPr id="30" name="Group 17">
            <a:extLst>
              <a:ext uri="{FF2B5EF4-FFF2-40B4-BE49-F238E27FC236}">
                <a16:creationId xmlns:a16="http://schemas.microsoft.com/office/drawing/2014/main" id="{E09277FD-CDD5-FAC9-2EF7-2791CFC01474}"/>
              </a:ext>
            </a:extLst>
          </p:cNvPr>
          <p:cNvGrpSpPr/>
          <p:nvPr/>
        </p:nvGrpSpPr>
        <p:grpSpPr>
          <a:xfrm>
            <a:off x="13335000" y="9253126"/>
            <a:ext cx="3918346" cy="670011"/>
            <a:chOff x="0" y="-66675"/>
            <a:chExt cx="4327268" cy="893347"/>
          </a:xfrm>
        </p:grpSpPr>
        <p:sp>
          <p:nvSpPr>
            <p:cNvPr id="31" name="TextBox 18">
              <a:extLst>
                <a:ext uri="{FF2B5EF4-FFF2-40B4-BE49-F238E27FC236}">
                  <a16:creationId xmlns:a16="http://schemas.microsoft.com/office/drawing/2014/main" id="{EBD59F66-6F09-4634-E7C0-3C38AAD297E8}"/>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32" name="TextBox 19">
              <a:extLst>
                <a:ext uri="{FF2B5EF4-FFF2-40B4-BE49-F238E27FC236}">
                  <a16:creationId xmlns:a16="http://schemas.microsoft.com/office/drawing/2014/main" id="{CB4D775E-0A5B-6B03-40D4-8EA6AFBDD3AA}"/>
                </a:ext>
              </a:extLst>
            </p:cNvPr>
            <p:cNvSpPr txBox="1"/>
            <p:nvPr/>
          </p:nvSpPr>
          <p:spPr>
            <a:xfrm>
              <a:off x="3530954" y="-66675"/>
              <a:ext cx="796314" cy="571287"/>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22</a:t>
              </a:r>
            </a:p>
          </p:txBody>
        </p:sp>
        <p:sp>
          <p:nvSpPr>
            <p:cNvPr id="33" name="AutoShape 20">
              <a:extLst>
                <a:ext uri="{FF2B5EF4-FFF2-40B4-BE49-F238E27FC236}">
                  <a16:creationId xmlns:a16="http://schemas.microsoft.com/office/drawing/2014/main" id="{5B942F85-416E-0E98-BCD5-D49F118E2E54}"/>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34" name="TextBox 3">
            <a:extLst>
              <a:ext uri="{FF2B5EF4-FFF2-40B4-BE49-F238E27FC236}">
                <a16:creationId xmlns:a16="http://schemas.microsoft.com/office/drawing/2014/main" id="{01E7FE15-EF96-0858-0F0A-F5B286B1A82C}"/>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5" name="TextBox 4">
            <a:extLst>
              <a:ext uri="{FF2B5EF4-FFF2-40B4-BE49-F238E27FC236}">
                <a16:creationId xmlns:a16="http://schemas.microsoft.com/office/drawing/2014/main" id="{A754E860-4AD2-7940-6882-235009DB837B}"/>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6" name="Picture 35">
            <a:extLst>
              <a:ext uri="{FF2B5EF4-FFF2-40B4-BE49-F238E27FC236}">
                <a16:creationId xmlns:a16="http://schemas.microsoft.com/office/drawing/2014/main" id="{312AB3B0-A30E-BCBC-9C37-3BF34C322AB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7" name="Freeform 10">
            <a:extLst>
              <a:ext uri="{FF2B5EF4-FFF2-40B4-BE49-F238E27FC236}">
                <a16:creationId xmlns:a16="http://schemas.microsoft.com/office/drawing/2014/main" id="{5746D214-430B-39C3-0580-8C9C7584FC7B}"/>
              </a:ext>
            </a:extLst>
          </p:cNvPr>
          <p:cNvSpPr/>
          <p:nvPr/>
        </p:nvSpPr>
        <p:spPr>
          <a:xfrm>
            <a:off x="2381388" y="4593277"/>
            <a:ext cx="1276212" cy="1312223"/>
          </a:xfrm>
          <a:custGeom>
            <a:avLst/>
            <a:gdLst/>
            <a:ahLst/>
            <a:cxnLst/>
            <a:rect l="l" t="t" r="r" b="b"/>
            <a:pathLst>
              <a:path w="2495412" h="2495412">
                <a:moveTo>
                  <a:pt x="0" y="0"/>
                </a:moveTo>
                <a:lnTo>
                  <a:pt x="2495413" y="0"/>
                </a:lnTo>
                <a:lnTo>
                  <a:pt x="2495413" y="2495413"/>
                </a:lnTo>
                <a:lnTo>
                  <a:pt x="0" y="2495413"/>
                </a:lnTo>
                <a:lnTo>
                  <a:pt x="0" y="0"/>
                </a:lnTo>
                <a:close/>
              </a:path>
            </a:pathLst>
          </a:custGeom>
          <a:blipFill>
            <a:blip r:embed="rId2">
              <a:duotone>
                <a:prstClr val="black"/>
                <a:schemeClr val="accent1">
                  <a:tint val="45000"/>
                  <a:satMod val="400000"/>
                </a:schemeClr>
              </a:duotone>
              <a:extLst>
                <a:ext uri="{96DAC541-7B7A-43D3-8B79-37D633B846F1}">
                  <asvg:svgBlip xmlns:asvg="http://schemas.microsoft.com/office/drawing/2016/SVG/main" r:embed="rId3"/>
                </a:ext>
              </a:extLst>
            </a:blip>
            <a:stretch>
              <a:fillRect/>
            </a:stretch>
          </a:blipFill>
          <a:effectLst>
            <a:outerShdw blurRad="50800" dist="50800" dir="5400000" algn="ctr" rotWithShape="0">
              <a:schemeClr val="tx2">
                <a:lumMod val="20000"/>
                <a:lumOff val="80000"/>
              </a:schemeClr>
            </a:outerShdw>
          </a:effectLst>
        </p:spPr>
        <p:txBody>
          <a:bodyPr/>
          <a:lstStyle/>
          <a:p>
            <a:endParaRPr lang="en-ID" dirty="0"/>
          </a:p>
        </p:txBody>
      </p:sp>
      <p:sp>
        <p:nvSpPr>
          <p:cNvPr id="38" name="TextBox 18">
            <a:extLst>
              <a:ext uri="{FF2B5EF4-FFF2-40B4-BE49-F238E27FC236}">
                <a16:creationId xmlns:a16="http://schemas.microsoft.com/office/drawing/2014/main" id="{92528FB8-1130-8DEF-820E-D4870BFB2514}"/>
              </a:ext>
            </a:extLst>
          </p:cNvPr>
          <p:cNvSpPr txBox="1"/>
          <p:nvPr/>
        </p:nvSpPr>
        <p:spPr>
          <a:xfrm>
            <a:off x="4343400" y="2867218"/>
            <a:ext cx="10622280" cy="6086282"/>
          </a:xfrm>
          <a:prstGeom prst="rect">
            <a:avLst/>
          </a:prstGeom>
        </p:spPr>
        <p:txBody>
          <a:bodyPr wrap="square" lIns="0" tIns="0" rIns="0" bIns="0" rtlCol="0" anchor="t">
            <a:spAutoFit/>
          </a:bodyPr>
          <a:lstStyle/>
          <a:p>
            <a:pPr algn="just">
              <a:lnSpc>
                <a:spcPts val="2800"/>
              </a:lnSpc>
            </a:pPr>
            <a:r>
              <a:rPr lang="en-US" sz="2000" b="1" dirty="0">
                <a:solidFill>
                  <a:srgbClr val="343434"/>
                </a:solidFill>
                <a:latin typeface="Poppins"/>
                <a:ea typeface="Poppins"/>
                <a:cs typeface="Poppins"/>
                <a:sym typeface="Poppins"/>
              </a:rPr>
              <a:t>1. Yinni Backend</a:t>
            </a: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Auth Service Live API: </a:t>
            </a:r>
            <a:r>
              <a:rPr lang="en-US" sz="2000" b="1" dirty="0">
                <a:solidFill>
                  <a:srgbClr val="343434"/>
                </a:solidFill>
                <a:latin typeface="Poppins"/>
                <a:ea typeface="Poppins"/>
                <a:cs typeface="Poppins"/>
                <a:sym typeface="Poppins"/>
                <a:hlinkClick r:id="rId5"/>
              </a:rPr>
              <a:t>http://76.13.17.200:8000/v1/auth/sign-in</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Prompt Service Live API: </a:t>
            </a:r>
            <a:r>
              <a:rPr lang="en-US" sz="2000" b="1" dirty="0">
                <a:solidFill>
                  <a:srgbClr val="343434"/>
                </a:solidFill>
                <a:latin typeface="Poppins"/>
                <a:ea typeface="Poppins"/>
                <a:cs typeface="Poppins"/>
                <a:sym typeface="Poppins"/>
                <a:hlinkClick r:id="rId6"/>
              </a:rPr>
              <a:t>http://76.13.17.200:8003/v1/prompt</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Product Service Live API: </a:t>
            </a:r>
            <a:r>
              <a:rPr lang="en-US" sz="2000" b="1" dirty="0">
                <a:solidFill>
                  <a:srgbClr val="343434"/>
                </a:solidFill>
                <a:latin typeface="Poppins"/>
                <a:ea typeface="Poppins"/>
                <a:cs typeface="Poppins"/>
                <a:sym typeface="Poppins"/>
                <a:hlinkClick r:id="rId7"/>
              </a:rPr>
              <a:t>http://76.13.17.200:8002/v1/products</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8"/>
              </a:rPr>
              <a:t>https://github.com/azzamt11/yinni_backend</a:t>
            </a:r>
            <a:endParaRPr lang="en-US" sz="2000" b="1" dirty="0">
              <a:solidFill>
                <a:srgbClr val="343434"/>
              </a:solidFill>
              <a:latin typeface="Poppins"/>
              <a:ea typeface="Poppins"/>
              <a:cs typeface="Poppins"/>
              <a:sym typeface="Poppins"/>
            </a:endParaRPr>
          </a:p>
          <a:p>
            <a:pPr marL="342900" algn="just">
              <a:lnSpc>
                <a:spcPts val="2800"/>
              </a:lnSpc>
            </a:pPr>
            <a:endParaRPr lang="en-US" sz="2000" b="1" dirty="0">
              <a:solidFill>
                <a:srgbClr val="343434"/>
              </a:solidFill>
              <a:latin typeface="Poppins"/>
              <a:ea typeface="Poppins"/>
              <a:cs typeface="Poppins"/>
              <a:sym typeface="Poppins"/>
            </a:endParaRPr>
          </a:p>
          <a:p>
            <a:pPr algn="just">
              <a:lnSpc>
                <a:spcPts val="2800"/>
              </a:lnSpc>
            </a:pPr>
            <a:r>
              <a:rPr lang="en-US" sz="2000" b="1" dirty="0">
                <a:solidFill>
                  <a:srgbClr val="343434"/>
                </a:solidFill>
                <a:latin typeface="Poppins"/>
                <a:ea typeface="Poppins"/>
                <a:cs typeface="Poppins"/>
                <a:sym typeface="Poppins"/>
              </a:rPr>
              <a:t>2. Yinni Web</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Live Demonstration: </a:t>
            </a:r>
            <a:r>
              <a:rPr lang="en-US" sz="2000" b="1" dirty="0">
                <a:solidFill>
                  <a:srgbClr val="343434"/>
                </a:solidFill>
                <a:latin typeface="Poppins"/>
                <a:ea typeface="Poppins"/>
                <a:cs typeface="Poppins"/>
                <a:sym typeface="Poppins"/>
                <a:hlinkClick r:id="rId9"/>
              </a:rPr>
              <a:t>http://76.13.17.200:3000</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10"/>
              </a:rPr>
              <a:t>https://github.com/azzamt11/yinni_web</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endParaRPr lang="en-US" sz="2000" b="1" dirty="0">
              <a:solidFill>
                <a:srgbClr val="343434"/>
              </a:solidFill>
              <a:latin typeface="Poppins"/>
              <a:ea typeface="Poppins"/>
              <a:cs typeface="Poppins"/>
              <a:sym typeface="Poppins"/>
            </a:endParaRPr>
          </a:p>
          <a:p>
            <a:pPr algn="just">
              <a:lnSpc>
                <a:spcPts val="2800"/>
              </a:lnSpc>
            </a:pPr>
            <a:r>
              <a:rPr lang="en-US" sz="2000" b="1" dirty="0">
                <a:solidFill>
                  <a:srgbClr val="343434"/>
                </a:solidFill>
                <a:latin typeface="Poppins"/>
                <a:ea typeface="Poppins"/>
                <a:cs typeface="Poppins"/>
                <a:sym typeface="Poppins"/>
              </a:rPr>
              <a:t>3. Yinni AI – Ultra Lite Classifier</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Live Testing: </a:t>
            </a:r>
            <a:r>
              <a:rPr lang="en-US" sz="2000" b="1" dirty="0">
                <a:solidFill>
                  <a:srgbClr val="343434"/>
                </a:solidFill>
                <a:latin typeface="Poppins"/>
                <a:ea typeface="Poppins"/>
                <a:cs typeface="Poppins"/>
                <a:sym typeface="Poppins"/>
                <a:hlinkClick r:id="rId11"/>
              </a:rPr>
              <a:t>http://76.13.17.200:8501</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12"/>
              </a:rPr>
              <a:t>https://github.com/azzamt11/yinni_ai</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endParaRPr lang="en-US" sz="2000" b="1" dirty="0">
              <a:solidFill>
                <a:srgbClr val="343434"/>
              </a:solidFill>
              <a:latin typeface="Poppins"/>
              <a:ea typeface="Poppins"/>
              <a:cs typeface="Poppins"/>
              <a:sym typeface="Poppins"/>
            </a:endParaRPr>
          </a:p>
          <a:p>
            <a:pPr marL="263525" algn="just">
              <a:lnSpc>
                <a:spcPts val="2800"/>
              </a:lnSpc>
            </a:pPr>
            <a:endParaRPr lang="en-US" sz="2000" b="1"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Note: For Live API use, refer to:</a:t>
            </a:r>
          </a:p>
          <a:p>
            <a:pPr algn="just">
              <a:lnSpc>
                <a:spcPts val="2800"/>
              </a:lnSpc>
            </a:pPr>
            <a:r>
              <a:rPr lang="en-US" sz="2000" dirty="0">
                <a:solidFill>
                  <a:srgbClr val="343434"/>
                </a:solidFill>
                <a:latin typeface="Poppins"/>
                <a:ea typeface="Poppins"/>
                <a:cs typeface="Poppins"/>
                <a:sym typeface="Poppins"/>
                <a:hlinkClick r:id="rId13"/>
              </a:rPr>
              <a:t>https://github.com/azzamt11/yinni_backend/blob/main/yinni_api_collection.json</a:t>
            </a:r>
            <a:endParaRPr lang="en-US" sz="2000" dirty="0">
              <a:solidFill>
                <a:srgbClr val="343434"/>
              </a:solidFill>
              <a:latin typeface="Poppins"/>
              <a:ea typeface="Poppins"/>
              <a:cs typeface="Poppins"/>
              <a:sym typeface="Poppin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Freeform 2"/>
          <p:cNvSpPr/>
          <p:nvPr/>
        </p:nvSpPr>
        <p:spPr>
          <a:xfrm>
            <a:off x="11404904" y="7388809"/>
            <a:ext cx="5796383" cy="5796383"/>
          </a:xfrm>
          <a:custGeom>
            <a:avLst/>
            <a:gdLst/>
            <a:ahLst/>
            <a:cxnLst/>
            <a:rect l="l" t="t" r="r" b="b"/>
            <a:pathLst>
              <a:path w="5796383" h="5796383">
                <a:moveTo>
                  <a:pt x="0" y="0"/>
                </a:moveTo>
                <a:lnTo>
                  <a:pt x="5796382" y="0"/>
                </a:lnTo>
                <a:lnTo>
                  <a:pt x="5796382" y="5796382"/>
                </a:lnTo>
                <a:lnTo>
                  <a:pt x="0" y="57963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dirty="0"/>
          </a:p>
        </p:txBody>
      </p:sp>
      <p:grpSp>
        <p:nvGrpSpPr>
          <p:cNvPr id="4" name="Group 4"/>
          <p:cNvGrpSpPr/>
          <p:nvPr/>
        </p:nvGrpSpPr>
        <p:grpSpPr>
          <a:xfrm>
            <a:off x="-260268" y="4390999"/>
            <a:ext cx="1288968" cy="5694409"/>
            <a:chOff x="0" y="0"/>
            <a:chExt cx="85832" cy="379187"/>
          </a:xfrm>
        </p:grpSpPr>
        <p:sp>
          <p:nvSpPr>
            <p:cNvPr id="5" name="Freeform 5"/>
            <p:cNvSpPr/>
            <p:nvPr/>
          </p:nvSpPr>
          <p:spPr>
            <a:xfrm>
              <a:off x="0" y="0"/>
              <a:ext cx="85832" cy="379187"/>
            </a:xfrm>
            <a:custGeom>
              <a:avLst/>
              <a:gdLst/>
              <a:ahLst/>
              <a:cxnLst/>
              <a:rect l="l" t="t" r="r" b="b"/>
              <a:pathLst>
                <a:path w="85832" h="379187">
                  <a:moveTo>
                    <a:pt x="0" y="0"/>
                  </a:moveTo>
                  <a:lnTo>
                    <a:pt x="85832" y="0"/>
                  </a:lnTo>
                  <a:lnTo>
                    <a:pt x="85832" y="379187"/>
                  </a:lnTo>
                  <a:lnTo>
                    <a:pt x="0" y="379187"/>
                  </a:lnTo>
                  <a:close/>
                </a:path>
              </a:pathLst>
            </a:custGeom>
            <a:solidFill>
              <a:schemeClr val="tx2">
                <a:lumMod val="40000"/>
                <a:lumOff val="60000"/>
              </a:schemeClr>
            </a:solidFill>
          </p:spPr>
          <p:txBody>
            <a:bodyPr/>
            <a:lstStyle/>
            <a:p>
              <a:endParaRPr lang="en-ID" dirty="0"/>
            </a:p>
          </p:txBody>
        </p:sp>
        <p:sp>
          <p:nvSpPr>
            <p:cNvPr id="6" name="TextBox 6"/>
            <p:cNvSpPr txBox="1"/>
            <p:nvPr/>
          </p:nvSpPr>
          <p:spPr>
            <a:xfrm>
              <a:off x="0" y="-57150"/>
              <a:ext cx="85832" cy="436337"/>
            </a:xfrm>
            <a:prstGeom prst="rect">
              <a:avLst/>
            </a:prstGeom>
          </p:spPr>
          <p:txBody>
            <a:bodyPr lIns="50800" tIns="50800" rIns="50800" bIns="50800" rtlCol="0" anchor="ctr"/>
            <a:lstStyle/>
            <a:p>
              <a:pPr algn="ctr">
                <a:lnSpc>
                  <a:spcPts val="2659"/>
                </a:lnSpc>
                <a:spcBef>
                  <a:spcPct val="0"/>
                </a:spcBef>
              </a:pPr>
              <a:endParaRPr/>
            </a:p>
          </p:txBody>
        </p:sp>
      </p:grpSp>
      <p:sp>
        <p:nvSpPr>
          <p:cNvPr id="7" name="Freeform 7"/>
          <p:cNvSpPr/>
          <p:nvPr/>
        </p:nvSpPr>
        <p:spPr>
          <a:xfrm flipV="1">
            <a:off x="15513249" y="329663"/>
            <a:ext cx="2471376" cy="2336573"/>
          </a:xfrm>
          <a:custGeom>
            <a:avLst/>
            <a:gdLst/>
            <a:ahLst/>
            <a:cxnLst/>
            <a:rect l="l" t="t" r="r" b="b"/>
            <a:pathLst>
              <a:path w="2471376" h="2336573">
                <a:moveTo>
                  <a:pt x="0" y="2336573"/>
                </a:moveTo>
                <a:lnTo>
                  <a:pt x="2471375" y="2336573"/>
                </a:lnTo>
                <a:lnTo>
                  <a:pt x="2471375" y="0"/>
                </a:lnTo>
                <a:lnTo>
                  <a:pt x="0" y="0"/>
                </a:lnTo>
                <a:lnTo>
                  <a:pt x="0" y="2336573"/>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9" name="Freeform 9"/>
          <p:cNvSpPr/>
          <p:nvPr/>
        </p:nvSpPr>
        <p:spPr>
          <a:xfrm>
            <a:off x="384216" y="8041691"/>
            <a:ext cx="1774524" cy="1774524"/>
          </a:xfrm>
          <a:custGeom>
            <a:avLst/>
            <a:gdLst/>
            <a:ahLst/>
            <a:cxnLst/>
            <a:rect l="l" t="t" r="r" b="b"/>
            <a:pathLst>
              <a:path w="1774524" h="1774524">
                <a:moveTo>
                  <a:pt x="0" y="0"/>
                </a:moveTo>
                <a:lnTo>
                  <a:pt x="1774524" y="0"/>
                </a:lnTo>
                <a:lnTo>
                  <a:pt x="1774524" y="1774524"/>
                </a:lnTo>
                <a:lnTo>
                  <a:pt x="0" y="177452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
        <p:nvSpPr>
          <p:cNvPr id="12" name="TextBox 12"/>
          <p:cNvSpPr txBox="1"/>
          <p:nvPr/>
        </p:nvSpPr>
        <p:spPr>
          <a:xfrm>
            <a:off x="4591809" y="4410049"/>
            <a:ext cx="9104383" cy="1485951"/>
          </a:xfrm>
          <a:prstGeom prst="rect">
            <a:avLst/>
          </a:prstGeom>
        </p:spPr>
        <p:txBody>
          <a:bodyPr lIns="0" tIns="0" rIns="0" bIns="0" rtlCol="0" anchor="t">
            <a:spAutoFit/>
          </a:bodyPr>
          <a:lstStyle/>
          <a:p>
            <a:pPr algn="ctr">
              <a:lnSpc>
                <a:spcPts val="11053"/>
              </a:lnSpc>
            </a:pPr>
            <a:r>
              <a:rPr lang="en-US" sz="9958" b="1" dirty="0">
                <a:latin typeface="Coco Gothic Heavy"/>
                <a:ea typeface="Coco Gothic Heavy"/>
                <a:cs typeface="Coco Gothic Heavy"/>
                <a:sym typeface="Coco Gothic Heavy"/>
              </a:rPr>
              <a:t>Thank You</a:t>
            </a:r>
          </a:p>
        </p:txBody>
      </p:sp>
      <p:sp>
        <p:nvSpPr>
          <p:cNvPr id="13" name="TextBox 3">
            <a:extLst>
              <a:ext uri="{FF2B5EF4-FFF2-40B4-BE49-F238E27FC236}">
                <a16:creationId xmlns:a16="http://schemas.microsoft.com/office/drawing/2014/main" id="{1E0E3C91-FCC6-379E-C6ED-4890E01F22A6}"/>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4" name="TextBox 4">
            <a:extLst>
              <a:ext uri="{FF2B5EF4-FFF2-40B4-BE49-F238E27FC236}">
                <a16:creationId xmlns:a16="http://schemas.microsoft.com/office/drawing/2014/main" id="{C73CAD0A-B6B9-2FBE-12F5-47D7E0E9EB2C}"/>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15" name="Picture 14">
            <a:extLst>
              <a:ext uri="{FF2B5EF4-FFF2-40B4-BE49-F238E27FC236}">
                <a16:creationId xmlns:a16="http://schemas.microsoft.com/office/drawing/2014/main" id="{C4C4AD73-78A6-F11D-997E-56DF7CDFCBB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952</TotalTime>
  <Words>2174</Words>
  <Application>Microsoft Office PowerPoint</Application>
  <PresentationFormat>Custom</PresentationFormat>
  <Paragraphs>278</Paragraphs>
  <Slides>23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Coco Gothic</vt:lpstr>
      <vt:lpstr>Coco Gothic Heavy</vt:lpstr>
      <vt:lpstr>Poppins</vt:lpstr>
      <vt:lpstr>Coco Gothic Bold</vt:lpstr>
      <vt:lpstr>Poppins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Coklat Putih Geometris Sederhana Seminar Proposal Presentasi</dc:title>
  <dc:creator>Abdullah Azzam</dc:creator>
  <cp:lastModifiedBy>Abdullah Azzam</cp:lastModifiedBy>
  <cp:revision>89</cp:revision>
  <dcterms:created xsi:type="dcterms:W3CDTF">2006-08-16T00:00:00Z</dcterms:created>
  <dcterms:modified xsi:type="dcterms:W3CDTF">2026-01-22T03:05:34Z</dcterms:modified>
  <dc:identifier>DAG-8a3Y9qc</dc:identifier>
</cp:coreProperties>
</file>